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(pcs)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1151</c:v>
                </c:pt>
                <c:pt idx="1">
                  <c:v>1653</c:v>
                </c:pt>
                <c:pt idx="2">
                  <c:v>1775</c:v>
                </c:pt>
                <c:pt idx="3">
                  <c:v>1838</c:v>
                </c:pt>
                <c:pt idx="4">
                  <c:v>1883</c:v>
                </c:pt>
                <c:pt idx="5">
                  <c:v>1992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pcs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Loss Duration (min)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  <c:pt idx="18">
                    <c:v>08.07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140</c:v>
                </c:pt>
                <c:pt idx="1">
                  <c:v>784</c:v>
                </c:pt>
                <c:pt idx="2">
                  <c:v>1099</c:v>
                </c:pt>
                <c:pt idx="3">
                  <c:v>1456</c:v>
                </c:pt>
                <c:pt idx="4">
                  <c:v>1600</c:v>
                </c:pt>
                <c:pt idx="5">
                  <c:v>826</c:v>
                </c:pt>
                <c:pt idx="6">
                  <c:v>1056</c:v>
                </c:pt>
                <c:pt idx="7">
                  <c:v>937</c:v>
                </c:pt>
                <c:pt idx="8">
                  <c:v>1061</c:v>
                </c:pt>
                <c:pt idx="9">
                  <c:v>903</c:v>
                </c:pt>
                <c:pt idx="10">
                  <c:v>490</c:v>
                </c:pt>
                <c:pt idx="11">
                  <c:v>1322</c:v>
                </c:pt>
                <c:pt idx="12">
                  <c:v>1056</c:v>
                </c:pt>
                <c:pt idx="13">
                  <c:v>986</c:v>
                </c:pt>
                <c:pt idx="14">
                  <c:v>569</c:v>
                </c:pt>
                <c:pt idx="15">
                  <c:v>382</c:v>
                </c:pt>
                <c:pt idx="16">
                  <c:v>475</c:v>
                </c:pt>
                <c:pt idx="17">
                  <c:v>721</c:v>
                </c:pt>
                <c:pt idx="18">
                  <c:v>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  <c:pt idx="18">
                    <c:v>08.07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1093.4</c:v>
                </c:pt>
                <c:pt idx="1">
                  <c:v>1065.2</c:v>
                </c:pt>
                <c:pt idx="2">
                  <c:v>1037</c:v>
                </c:pt>
                <c:pt idx="3">
                  <c:v>1008.8</c:v>
                </c:pt>
                <c:pt idx="4">
                  <c:v>980.6</c:v>
                </c:pt>
                <c:pt idx="5">
                  <c:v>952.5</c:v>
                </c:pt>
                <c:pt idx="6">
                  <c:v>924.3</c:v>
                </c:pt>
                <c:pt idx="7">
                  <c:v>896.1</c:v>
                </c:pt>
                <c:pt idx="8">
                  <c:v>867.9</c:v>
                </c:pt>
                <c:pt idx="9">
                  <c:v>839.7</c:v>
                </c:pt>
                <c:pt idx="10">
                  <c:v>811.6</c:v>
                </c:pt>
                <c:pt idx="11">
                  <c:v>783.4</c:v>
                </c:pt>
                <c:pt idx="12">
                  <c:v>755.2</c:v>
                </c:pt>
                <c:pt idx="13">
                  <c:v>727</c:v>
                </c:pt>
                <c:pt idx="14">
                  <c:v>698.8</c:v>
                </c:pt>
                <c:pt idx="15">
                  <c:v>670.6</c:v>
                </c:pt>
                <c:pt idx="16">
                  <c:v>642.5</c:v>
                </c:pt>
                <c:pt idx="17">
                  <c:v>614.3</c:v>
                </c:pt>
                <c:pt idx="18">
                  <c:v>586.1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min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Production (pcs/day)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  <c:pt idx="20">
                    <c:v>08.07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  <c:pt idx="19">
                  <c:v>123.1</c:v>
                </c:pt>
                <c:pt idx="20">
                  <c:v>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  <c:pt idx="20">
                    <c:v>08.07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97.6</c:v>
                </c:pt>
                <c:pt idx="1">
                  <c:v>98.4</c:v>
                </c:pt>
                <c:pt idx="2">
                  <c:v>99.2</c:v>
                </c:pt>
                <c:pt idx="3">
                  <c:v>99.9</c:v>
                </c:pt>
                <c:pt idx="4">
                  <c:v>100.7</c:v>
                </c:pt>
                <c:pt idx="5">
                  <c:v>101.5</c:v>
                </c:pt>
                <c:pt idx="6">
                  <c:v>102.3</c:v>
                </c:pt>
                <c:pt idx="7">
                  <c:v>103.1</c:v>
                </c:pt>
                <c:pt idx="8">
                  <c:v>103.9</c:v>
                </c:pt>
                <c:pt idx="9">
                  <c:v>104.6</c:v>
                </c:pt>
                <c:pt idx="10">
                  <c:v>105.4</c:v>
                </c:pt>
                <c:pt idx="11">
                  <c:v>106.2</c:v>
                </c:pt>
                <c:pt idx="12">
                  <c:v>107</c:v>
                </c:pt>
                <c:pt idx="13">
                  <c:v>107.8</c:v>
                </c:pt>
                <c:pt idx="14">
                  <c:v>108.5</c:v>
                </c:pt>
                <c:pt idx="15">
                  <c:v>109.3</c:v>
                </c:pt>
                <c:pt idx="16">
                  <c:v>110.1</c:v>
                </c:pt>
                <c:pt idx="17">
                  <c:v>110.9</c:v>
                </c:pt>
                <c:pt idx="18">
                  <c:v>111.7</c:v>
                </c:pt>
                <c:pt idx="19">
                  <c:v>112.5</c:v>
                </c:pt>
                <c:pt idx="20">
                  <c:v>113.2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pcs/day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Quality 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B91C1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Approved</c:v>
                </c:pt>
                <c:pt idx="1">
                  <c:v>Rework</c:v>
                </c:pt>
                <c:pt idx="2">
                  <c:v>Reject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783</c:v>
                </c:pt>
                <c:pt idx="1">
                  <c:v>212</c:v>
                </c:pt>
                <c:pt idx="2">
                  <c:v>120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Compliance (OK + Rework) Ratio %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71.4</c:v>
                </c:pt>
                <c:pt idx="1">
                  <c:v>81.8</c:v>
                </c:pt>
                <c:pt idx="2">
                  <c:v>91.2</c:v>
                </c:pt>
                <c:pt idx="3">
                  <c:v>92</c:v>
                </c:pt>
                <c:pt idx="4">
                  <c:v>76</c:v>
                </c:pt>
                <c:pt idx="5">
                  <c:v>50.5</c:v>
                </c:pt>
                <c:pt idx="6">
                  <c:v>93.5</c:v>
                </c:pt>
                <c:pt idx="7">
                  <c:v>93.3</c:v>
                </c:pt>
                <c:pt idx="8">
                  <c:v>87.7</c:v>
                </c:pt>
                <c:pt idx="9">
                  <c:v>94.7</c:v>
                </c:pt>
                <c:pt idx="10">
                  <c:v>95</c:v>
                </c:pt>
                <c:pt idx="11">
                  <c:v>95.3</c:v>
                </c:pt>
                <c:pt idx="12">
                  <c:v>97.1</c:v>
                </c:pt>
                <c:pt idx="13">
                  <c:v>98.1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Overall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75.9</c:v>
                </c:pt>
                <c:pt idx="1">
                  <c:v>77.6</c:v>
                </c:pt>
                <c:pt idx="2">
                  <c:v>79.3</c:v>
                </c:pt>
                <c:pt idx="3">
                  <c:v>81</c:v>
                </c:pt>
                <c:pt idx="4">
                  <c:v>82.7</c:v>
                </c:pt>
                <c:pt idx="5">
                  <c:v>84.4</c:v>
                </c:pt>
                <c:pt idx="6">
                  <c:v>86.1</c:v>
                </c:pt>
                <c:pt idx="7">
                  <c:v>87.8</c:v>
                </c:pt>
                <c:pt idx="8">
                  <c:v>89.5</c:v>
                </c:pt>
                <c:pt idx="9">
                  <c:v>91.2</c:v>
                </c:pt>
                <c:pt idx="10">
                  <c:v>93</c:v>
                </c:pt>
                <c:pt idx="11">
                  <c:v>94.7</c:v>
                </c:pt>
                <c:pt idx="12">
                  <c:v>96.4</c:v>
                </c:pt>
                <c:pt idx="13">
                  <c:v>98.1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590A6"/>
                    </a:solidFill>
                    <a:latin typeface="Arial"/>
                  </a:rPr>
                  <a:t>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Downtime Duration (min)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2829</c:v>
                </c:pt>
                <c:pt idx="1">
                  <c:v>2337</c:v>
                </c:pt>
                <c:pt idx="2">
                  <c:v>2273</c:v>
                </c:pt>
                <c:pt idx="3">
                  <c:v>2094</c:v>
                </c:pt>
                <c:pt idx="4">
                  <c:v>2021</c:v>
                </c:pt>
                <c:pt idx="5">
                  <c:v>1826</c:v>
                </c:pt>
                <c:pt idx="6">
                  <c:v>1680</c:v>
                </c:pt>
                <c:pt idx="7">
                  <c:v>1494</c:v>
                </c:pt>
                <c:pt idx="8">
                  <c:v>672</c:v>
                </c:pt>
                <c:pt idx="9">
                  <c:v>544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Event Count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86</c:v>
                </c:pt>
                <c:pt idx="1">
                  <c:v>96</c:v>
                </c:pt>
                <c:pt idx="2">
                  <c:v>81</c:v>
                </c:pt>
                <c:pt idx="3">
                  <c:v>80</c:v>
                </c:pt>
                <c:pt idx="4">
                  <c:v>84</c:v>
                </c:pt>
                <c:pt idx="5">
                  <c:v>73</c:v>
                </c:pt>
                <c:pt idx="6">
                  <c:v>6</c:v>
                </c:pt>
                <c:pt idx="7">
                  <c:v>123</c:v>
                </c:pt>
                <c:pt idx="8">
                  <c:v>42</c:v>
                </c:pt>
                <c:pt idx="9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Downtime Duration (min)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Event Count (Qty)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SERIAL PRODUCTION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Report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 Production Volumes (June–July)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Average Production Volume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April–May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June–July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(200 pcs/day)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pcs/day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9743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3106" y="2523744"/>
            <a:ext cx="3038094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99098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10590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111.4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57191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24953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+%80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22542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35674" y="2871216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1666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78474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6576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611237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3283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81369" y="3218688"/>
            <a:ext cx="321983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7361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24169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106.1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7750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4084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N602-N603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184823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045327" y="3566160"/>
            <a:ext cx="355587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5981319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58812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96.3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664012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+127%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366063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+%108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06082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137910" y="3913632"/>
            <a:ext cx="346329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073902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68071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99.0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650296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+154%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412355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+%102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1903095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089904" y="4261104"/>
            <a:ext cx="351129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02589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632704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97.6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681157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+132%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38835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+%105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34200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336792" y="4608576"/>
            <a:ext cx="326440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27278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87959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104.8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708589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511796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+%91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Relationship Between Loss Reduction &amp; Production Increase (June–July)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TOTAL LOSS TREND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Peak: 1600 min  ·  Daily Avg: 840 min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AVERAGE PRODUCTION TREND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Avg: 130.8  ·  Period Avg: 105.4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Cell-Based Cycle Times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34640" y="1463040"/>
          <a:ext cx="6492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0175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Cycle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58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30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00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10 sec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Equipment Effectiveness (June–July)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(Overall Equipment Effectiveness) measures the net efficiency of the line by combining Availability, Performance, and Quality components.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1645920"/>
                <a:gridCol w="1645920"/>
                <a:gridCol w="164592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Potential Avg. (OEE 100%)*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AVERAGE (Rolled)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Shows the theoretical daily average production that could be achieved if OEE were 100%, based on the actual daily average production and calculated OEE efficiency for the June–July period.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&amp; MTTR — Breakdown-Based Reliability (June–July)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(Mean Time Between Failures) is a reliability metric showing how long on average the equipment runs continuously between two breakdowns. MTTR (Mean Time To Repair) represents the average time taken to resolve a breakdown.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(min)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Breakdown 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Status after Final Measurement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1,115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PARTS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463040"/>
                <a:gridCol w="91440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Definition / Details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Outer Passed Side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Shot Peening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Shot Peening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 at rear of rotating band relief groove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Bourrelet Diameter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Wall Thickness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Bottom Unmachined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 Thickness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Breakage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Lathe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Ogive Unmachined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Spinning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 Wall Thickness +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Causes (5 categories)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Timeline Compliance (OK + Rework) Ratio Trend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(Pareto)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Chart: Pareto downtime duration (bar, left axis) and downtime frequency (orange line, right axis), top 3 causes highlighted. The top 3 causes account for 42% of total downtime duration. Data represents categorized downtime records for selected cells after 13.06.2026.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Analysis — Action Plan Details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/ Reason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Mold Assembly/Disassembly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Hydraulic Oil Temperature Alarm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Proportional Valve Downtimes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Collet Change / Runout Control / Offset Adjustment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Lubrication Problems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Faulty sensor replaced / bracket added and distributor block replaced. Issues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Hydraulic Oil Temperature Alarm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Shot Peening Machine Downtime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loading and peening failure issues resolved after adjustments.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Welding Machine Downtime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 ordered to resolve welding failure. Replacement and testing will proceed upon arrival at site.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Communication Problem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Crushed cable detected and replaced. Issue permanently resolved.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 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Conveyor Motor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replaced with new one, shuttle deceleration automation updated to prevent recurrence.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Analysis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/ DECISION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Demands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Content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of items for this section has not been finalized yet. It will be clarified with relevant stakeholders during presentation preparation.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TO FILL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[Request Topic]  —  Reasoning  —  Expected Contribution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candidate (not finalized this session): to be determined with relevant stakeholders during presentation preparation.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/ Decision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Serial Production — Performance Report</dc:title>
  <dc:subject>PptxGenJS Presentation</dc:subject>
  <dc:creator>Repkon HF901</dc:creator>
  <cp:lastModifiedBy>Repkon HF901</cp:lastModifiedBy>
  <cp:revision>1</cp:revision>
  <dcterms:created xsi:type="dcterms:W3CDTF">2026-07-08T09:40:29Z</dcterms:created>
  <dcterms:modified xsi:type="dcterms:W3CDTF">2026-07-08T09:40:29Z</dcterms:modified>
</cp:coreProperties>
</file>