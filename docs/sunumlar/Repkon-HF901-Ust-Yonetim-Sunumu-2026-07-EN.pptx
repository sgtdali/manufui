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(pcs)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Flowform</c:v>
                  </c:pt>
                  <c:pt idx="5">
                    <c:v>ROB104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1151</c:v>
                </c:pt>
                <c:pt idx="1">
                  <c:v>1744</c:v>
                </c:pt>
                <c:pt idx="2">
                  <c:v>1934</c:v>
                </c:pt>
                <c:pt idx="3">
                  <c:v>2031</c:v>
                </c:pt>
                <c:pt idx="4">
                  <c:v>2034</c:v>
                </c:pt>
                <c:pt idx="5">
                  <c:v>2037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pcs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Loss Duration (min)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140</c:v>
                </c:pt>
                <c:pt idx="1">
                  <c:v>739</c:v>
                </c:pt>
                <c:pt idx="2">
                  <c:v>1099</c:v>
                </c:pt>
                <c:pt idx="3">
                  <c:v>1386</c:v>
                </c:pt>
                <c:pt idx="4">
                  <c:v>1558</c:v>
                </c:pt>
                <c:pt idx="5">
                  <c:v>826</c:v>
                </c:pt>
                <c:pt idx="6">
                  <c:v>1011</c:v>
                </c:pt>
                <c:pt idx="7">
                  <c:v>937</c:v>
                </c:pt>
                <c:pt idx="8">
                  <c:v>1060</c:v>
                </c:pt>
                <c:pt idx="9">
                  <c:v>873</c:v>
                </c:pt>
                <c:pt idx="10">
                  <c:v>485</c:v>
                </c:pt>
                <c:pt idx="11">
                  <c:v>1286</c:v>
                </c:pt>
                <c:pt idx="12">
                  <c:v>1056</c:v>
                </c:pt>
                <c:pt idx="13">
                  <c:v>986</c:v>
                </c:pt>
                <c:pt idx="14">
                  <c:v>569</c:v>
                </c:pt>
                <c:pt idx="15">
                  <c:v>372</c:v>
                </c:pt>
                <c:pt idx="16">
                  <c:v>415</c:v>
                </c:pt>
                <c:pt idx="17">
                  <c:v>721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1012.4</c:v>
                </c:pt>
                <c:pt idx="1">
                  <c:v>994.7</c:v>
                </c:pt>
                <c:pt idx="2">
                  <c:v>977.1</c:v>
                </c:pt>
                <c:pt idx="3">
                  <c:v>959.4</c:v>
                </c:pt>
                <c:pt idx="4">
                  <c:v>941.7</c:v>
                </c:pt>
                <c:pt idx="5">
                  <c:v>924</c:v>
                </c:pt>
                <c:pt idx="6">
                  <c:v>906.4</c:v>
                </c:pt>
                <c:pt idx="7">
                  <c:v>888.7</c:v>
                </c:pt>
                <c:pt idx="8">
                  <c:v>871</c:v>
                </c:pt>
                <c:pt idx="9">
                  <c:v>853.3</c:v>
                </c:pt>
                <c:pt idx="10">
                  <c:v>835.7</c:v>
                </c:pt>
                <c:pt idx="11">
                  <c:v>818</c:v>
                </c:pt>
                <c:pt idx="12">
                  <c:v>800.3</c:v>
                </c:pt>
                <c:pt idx="13">
                  <c:v>782.6</c:v>
                </c:pt>
                <c:pt idx="14">
                  <c:v>765</c:v>
                </c:pt>
                <c:pt idx="15">
                  <c:v>747.3</c:v>
                </c:pt>
                <c:pt idx="16">
                  <c:v>729.6</c:v>
                </c:pt>
                <c:pt idx="17">
                  <c:v>711.9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min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Production (pcs/day)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  <c:pt idx="19">
                  <c:v>123.1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92.4</c:v>
                </c:pt>
                <c:pt idx="1">
                  <c:v>94</c:v>
                </c:pt>
                <c:pt idx="2">
                  <c:v>95.6</c:v>
                </c:pt>
                <c:pt idx="3">
                  <c:v>97.2</c:v>
                </c:pt>
                <c:pt idx="4">
                  <c:v>98.8</c:v>
                </c:pt>
                <c:pt idx="5">
                  <c:v>100.4</c:v>
                </c:pt>
                <c:pt idx="6">
                  <c:v>102</c:v>
                </c:pt>
                <c:pt idx="7">
                  <c:v>103.6</c:v>
                </c:pt>
                <c:pt idx="8">
                  <c:v>105.2</c:v>
                </c:pt>
                <c:pt idx="9">
                  <c:v>106.8</c:v>
                </c:pt>
                <c:pt idx="10">
                  <c:v>108.4</c:v>
                </c:pt>
                <c:pt idx="11">
                  <c:v>110.1</c:v>
                </c:pt>
                <c:pt idx="12">
                  <c:v>111.7</c:v>
                </c:pt>
                <c:pt idx="13">
                  <c:v>113.3</c:v>
                </c:pt>
                <c:pt idx="14">
                  <c:v>114.9</c:v>
                </c:pt>
                <c:pt idx="15">
                  <c:v>116.5</c:v>
                </c:pt>
                <c:pt idx="16">
                  <c:v>118.1</c:v>
                </c:pt>
                <c:pt idx="17">
                  <c:v>119.7</c:v>
                </c:pt>
                <c:pt idx="18">
                  <c:v>121.3</c:v>
                </c:pt>
                <c:pt idx="19">
                  <c:v>122.9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pcs/day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Quality 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B91C1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Approved</c:v>
                </c:pt>
                <c:pt idx="1">
                  <c:v>Rework</c:v>
                </c:pt>
                <c:pt idx="2">
                  <c:v>Reject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783</c:v>
                </c:pt>
                <c:pt idx="1">
                  <c:v>212</c:v>
                </c:pt>
                <c:pt idx="2">
                  <c:v>120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Compliance (OK + Rework) Ratio %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71.4</c:v>
                </c:pt>
                <c:pt idx="1">
                  <c:v>81.8</c:v>
                </c:pt>
                <c:pt idx="2">
                  <c:v>91.2</c:v>
                </c:pt>
                <c:pt idx="3">
                  <c:v>92</c:v>
                </c:pt>
                <c:pt idx="4">
                  <c:v>76</c:v>
                </c:pt>
                <c:pt idx="5">
                  <c:v>50.5</c:v>
                </c:pt>
                <c:pt idx="6">
                  <c:v>93.5</c:v>
                </c:pt>
                <c:pt idx="7">
                  <c:v>93.3</c:v>
                </c:pt>
                <c:pt idx="8">
                  <c:v>87.7</c:v>
                </c:pt>
                <c:pt idx="9">
                  <c:v>94.7</c:v>
                </c:pt>
                <c:pt idx="10">
                  <c:v>95</c:v>
                </c:pt>
                <c:pt idx="11">
                  <c:v>95.3</c:v>
                </c:pt>
                <c:pt idx="12">
                  <c:v>97.1</c:v>
                </c:pt>
                <c:pt idx="13">
                  <c:v>98.1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75.9</c:v>
                </c:pt>
                <c:pt idx="1">
                  <c:v>77.6</c:v>
                </c:pt>
                <c:pt idx="2">
                  <c:v>79.3</c:v>
                </c:pt>
                <c:pt idx="3">
                  <c:v>81</c:v>
                </c:pt>
                <c:pt idx="4">
                  <c:v>82.7</c:v>
                </c:pt>
                <c:pt idx="5">
                  <c:v>84.4</c:v>
                </c:pt>
                <c:pt idx="6">
                  <c:v>86.1</c:v>
                </c:pt>
                <c:pt idx="7">
                  <c:v>87.8</c:v>
                </c:pt>
                <c:pt idx="8">
                  <c:v>89.5</c:v>
                </c:pt>
                <c:pt idx="9">
                  <c:v>91.2</c:v>
                </c:pt>
                <c:pt idx="10">
                  <c:v>93</c:v>
                </c:pt>
                <c:pt idx="11">
                  <c:v>94.7</c:v>
                </c:pt>
                <c:pt idx="12">
                  <c:v>96.4</c:v>
                </c:pt>
                <c:pt idx="13">
                  <c:v>98.1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590A6"/>
                    </a:solidFill>
                    <a:latin typeface="Arial"/>
                  </a:rPr>
                  <a:t>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Downtime Duration (min)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Press</c:v>
                  </c:pt>
                  <c:pt idx="1">
                    <c:v>N602</c:v>
                  </c:pt>
                  <c:pt idx="2">
                    <c:v>Flowform</c:v>
                  </c:pt>
                  <c:pt idx="3">
                    <c:v>ROB110-111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2829</c:v>
                </c:pt>
                <c:pt idx="1">
                  <c:v>2655</c:v>
                </c:pt>
                <c:pt idx="2">
                  <c:v>2519</c:v>
                </c:pt>
                <c:pt idx="3">
                  <c:v>2268</c:v>
                </c:pt>
                <c:pt idx="4">
                  <c:v>2021</c:v>
                </c:pt>
                <c:pt idx="5">
                  <c:v>1804</c:v>
                </c:pt>
                <c:pt idx="6">
                  <c:v>1680</c:v>
                </c:pt>
                <c:pt idx="7">
                  <c:v>1434</c:v>
                </c:pt>
                <c:pt idx="8">
                  <c:v>622</c:v>
                </c:pt>
                <c:pt idx="9">
                  <c:v>559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Event Count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Press</c:v>
                  </c:pt>
                  <c:pt idx="1">
                    <c:v>N602</c:v>
                  </c:pt>
                  <c:pt idx="2">
                    <c:v>Flowform</c:v>
                  </c:pt>
                  <c:pt idx="3">
                    <c:v>ROB110-111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86</c:v>
                </c:pt>
                <c:pt idx="1">
                  <c:v>106</c:v>
                </c:pt>
                <c:pt idx="2">
                  <c:v>91</c:v>
                </c:pt>
                <c:pt idx="3">
                  <c:v>80</c:v>
                </c:pt>
                <c:pt idx="4">
                  <c:v>84</c:v>
                </c:pt>
                <c:pt idx="5">
                  <c:v>73</c:v>
                </c:pt>
                <c:pt idx="6">
                  <c:v>6</c:v>
                </c:pt>
                <c:pt idx="7">
                  <c:v>127</c:v>
                </c:pt>
                <c:pt idx="8">
                  <c:v>40</c:v>
                </c:pt>
                <c:pt idx="9">
                  <c:v>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Downtime Duration (min)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Event Count (Qty)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HF901 · SERIAL PRODUCTION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Report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 Production Volumes (June–July)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Average Production Volume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April–May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June–July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(200 pcs/day)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pcs/day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9743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3106" y="2523744"/>
            <a:ext cx="3038094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99098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10590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111.4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57191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24953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+%80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22542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35674" y="2871216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1666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78474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6576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611237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3283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81369" y="3218688"/>
            <a:ext cx="321983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7361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24169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106.1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7750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4084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N602-N603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201968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216777" y="3566160"/>
            <a:ext cx="338442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6152769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75957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101.3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74973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+139%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451788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+%97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23227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309360" y="3913632"/>
            <a:ext cx="32918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245352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85216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104.0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73602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+167%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49808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+%92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2074545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261354" y="4261104"/>
            <a:ext cx="333984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19734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804154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102.6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76688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+144%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474077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+%95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34200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336792" y="4608576"/>
            <a:ext cx="326440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27278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87959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104.8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708589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511796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+%91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 Between Loss Reduction &amp; Production Increase (June–July)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TOTAL LOSS TREND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1558 min  ·  Daily Avg: 862 min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AVERAGE PRODUCTION TREND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Avg: 130.8  ·  Period Avg: 107.6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Cell-Based Cycle Times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3464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0175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Achievable Cycle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30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15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58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30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10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Equipment Effectiveness (June–July)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(Overall Equipment Effectiveness) measures the net efficiency of the line by combining Availability, Performance, and Quality components.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AVERAGE (Rolled)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&amp; MTTR — Breakdown-Based Reliability (June–July)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(Mean Time Between Failures) is a reliability metric showing how long on average the equipment runs continuously between two breakdowns. MTTR (Mean Time To Repair) represents the average time taken to resolve a breakdown.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Breakdown 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Status after Final Measurement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1,115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PARTS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463040"/>
                <a:gridCol w="91440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Definition / Details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Passed Side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Shot Peening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Shot Peening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 at rear of rotating band relief groove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Bourrelet Diameter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Wall Thickness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Bottom Unmachined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 Thickness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Breakage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Ogive Unmachined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Spinning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Wall Thickness +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Causes (5 categories)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Compliance (OK + Rework) Ratio Trend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(Pareto)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Chart: Pareto downtime duration (bar, left axis) and downtime frequency (orange line, right axis), top 3 causes highlighted. The top 3 causes account for 44% of total downtime duration. Data represents categorized downtime records for selected cells after 13.06.2026.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— Action Plan Details (Page 1/6)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/ Reason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Mold Assembly/Disassembly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(IHU Mode, Mold Warm-up)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Time Improvement Studies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Ironing Exit Conveyor Downtimes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 corrections made and issues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Hydraulic Oil Temperature Alarm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Proportional Valve Downtimes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Proportional valve replaced and issue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WJS-Related Downtime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WJS safety valve repaired.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Gripper Sensor Issue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replaced with new one. Issue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- Part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— Action Plan Details (Page 2/6)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/ Reason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Time Improvement Studies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Replacement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Change / Inspection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Power Outage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Emptying Swarf/Chip Bins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Swarf bins moved outside the safety fence, resolving the cell stoppage issue.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Modification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revision completed for the new flowform preform.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Boron Oil / Coolant Insufficiency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 Fuse Tripping Issue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Short-circuiting electrical line located and cable replaced. Issue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Failures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— Action Plan Details (Page 3/6)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/ Reason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Collet Change / Runout Control / Offset Adjustment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Lubrication Problems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Faulty sensor replaced / bracket added and distributor block replaced. Issues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Awaiting Consumables/Utility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Failures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Change / Inspection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Shortage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Emptying Swarf/Chip Bins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Swarf bins moved outside the safety fence, resolving the cell stoppage issue.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Boron Oil / Coolant Insufficiency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— Action Plan Details (Page 4/6)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/ Reason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 Fuse Tripping Issue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Short-circuiting electrical line located and cable replaced. Issue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Modification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revision completed for the new flowform preform.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Change / Inspection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Boron Oil / Coolant Insufficiency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Hydraulic Oil Temperature Alarm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Conveyor Full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— Action Plan Details (Page 5/6)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/ Reason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Shortage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Induction Clamp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gripper sensor replaced with a new one, resolving the issue.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Cooling Tower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Actuated valve gasket rupture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Gasket replaced with a new one.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damaged because the part was not unloaded from the furnace exit in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Damaged section of the chain replaced with a new one.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Communication Problem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Crushed cable detected and replaced. Issue permanently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Shot Peening Machine Downtime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loading and peening failure issues resolved after adjustments.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Welding Machine Downtime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ordered to resolve welding failure. Replacement and testing will proceed upon arrival at site.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Change / Inspection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— Action Plan Details (Page 6/6)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/ Reason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Conveyor Motor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replaced with new one, shuttle deceleration automation updated to prevent recurrence.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Awaiting Consumables/Utility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- Part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Time Improvement Studies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Lance Replacement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Emptying Swarf/Chip Bins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 FOR 4000 TARGET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Tasks to be Done by NCMS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349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800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Item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of the press heat exchanger.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of the non-functioning Doosan machines, and planning of general Doosan maintenance.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Ensuring proper ambient temperature for the factory.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of consumables.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of spare part requirements.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and improvement of cooling tower pump efficiency.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AİME for maintenance of the internal shot blasting (sandblasting) machine.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Increasing personnel headcount and strengthening coordination.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Organizing maintenance management, and providing the necessary equipment and personnel.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1463040"/>
          <a:ext cx="5349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709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Item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of raw material, band, and base cover.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of CNC tools.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and organization of chip/swarf bins.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 new press pressure filters.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of a new quench chain.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Establishing a tool room (or an alternative solution) for die/mold revisions.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Addressing deficiencies in quality measurement equipment.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of pallets for final parts.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 for 4000 Target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 FOR 4000 TARGET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Tasks to be Done by Repkon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645920"/>
          <a:ext cx="92354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50392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Item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Conducting press die lifetime analysis and improvement studies.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 of press cycle time.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Optimization of the overall process flow to reduce cycle times in machining operations.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Implementing robot automation cycle improvements.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Commissioning and deployment of the AGV.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Completing actions to reduce cell downtime.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 for 4000 Target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HEADCOUNT PROPOSAL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NCMS Headcount Recommendation by Area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"/>
                <a:gridCol w="685800"/>
                <a:gridCol w="685800"/>
                <a:gridCol w="6858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Saw Machine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Induction 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Side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Annealing Furnace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"/>
                <a:gridCol w="685800"/>
                <a:gridCol w="685800"/>
                <a:gridCol w="6858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SBU110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PHO101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WPL103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Spider Persons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Headcount Proposal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HEADCOUNT PROPOSAL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NCMS Headcount Distribution on Factory Layout</a:t>
            </a:r>
            <a:endParaRPr lang="en-US" sz="2600" dirty="0"/>
          </a:p>
        </p:txBody>
      </p:sp>
      <p:pic>
        <p:nvPicPr>
          <p:cNvPr id="6" name="Image 1" descr="C:\Users\tvural.REPKON\Desktop\HF901\Serial Production\ManufUI\docs\sunumlar\build\headcount_lay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280160"/>
            <a:ext cx="10515600" cy="49194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Headcount Proposal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Serial Production — Performance Report</dc:title>
  <dc:subject>PptxGenJS Presentation</dc:subject>
  <dc:creator>Repkon HF901</dc:creator>
  <cp:lastModifiedBy>Repkon HF901</cp:lastModifiedBy>
  <cp:revision>1</cp:revision>
  <dcterms:created xsi:type="dcterms:W3CDTF">2026-07-21T11:59:32Z</dcterms:created>
  <dcterms:modified xsi:type="dcterms:W3CDTF">2026-07-21T11:59:32Z</dcterms:modified>
</cp:coreProperties>
</file>