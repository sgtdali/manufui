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 (pcs)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7556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ROB110-111</c:v>
                  </c:pt>
                  <c:pt idx="1">
                    <c:v>Quench</c:v>
                  </c:pt>
                  <c:pt idx="2">
                    <c:v>ROB109</c:v>
                  </c:pt>
                  <c:pt idx="3">
                    <c:v>N602-N603</c:v>
                  </c:pt>
                  <c:pt idx="4">
                    <c:v>Flowform</c:v>
                  </c:pt>
                  <c:pt idx="5">
                    <c:v>ROB104</c:v>
                  </c:pt>
                  <c:pt idx="6">
                    <c:v>ROB108</c:v>
                  </c:pt>
                  <c:pt idx="7">
                    <c:v>Press</c:v>
                  </c:pt>
                  <c:pt idx="8">
                    <c:v>ETM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1151</c:v>
                </c:pt>
                <c:pt idx="1">
                  <c:v>1744</c:v>
                </c:pt>
                <c:pt idx="2">
                  <c:v>1934</c:v>
                </c:pt>
                <c:pt idx="3">
                  <c:v>2031</c:v>
                </c:pt>
                <c:pt idx="4">
                  <c:v>2034</c:v>
                </c:pt>
                <c:pt idx="5">
                  <c:v>2037</c:v>
                </c:pt>
                <c:pt idx="6">
                  <c:v>2038</c:v>
                </c:pt>
                <c:pt idx="7">
                  <c:v>2060</c:v>
                </c:pt>
                <c:pt idx="8">
                  <c:v>2073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7556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8DE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590A6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8590A6"/>
                    </a:solidFill>
                    <a:latin typeface="Arial"/>
                  </a:rPr>
                  <a:t>pcs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590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Loss Duration (min)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14.06</c:v>
                  </c:pt>
                  <c:pt idx="1">
                    <c:v>15.06</c:v>
                  </c:pt>
                  <c:pt idx="2">
                    <c:v>16.06</c:v>
                  </c:pt>
                  <c:pt idx="3">
                    <c:v>17.06</c:v>
                  </c:pt>
                  <c:pt idx="4">
                    <c:v>18.06</c:v>
                  </c:pt>
                  <c:pt idx="5">
                    <c:v>21.06</c:v>
                  </c:pt>
                  <c:pt idx="6">
                    <c:v>22.06</c:v>
                  </c:pt>
                  <c:pt idx="7">
                    <c:v>23.06</c:v>
                  </c:pt>
                  <c:pt idx="8">
                    <c:v>24.06</c:v>
                  </c:pt>
                  <c:pt idx="9">
                    <c:v>25.06</c:v>
                  </c:pt>
                  <c:pt idx="10">
                    <c:v>28.06</c:v>
                  </c:pt>
                  <c:pt idx="11">
                    <c:v>29.06</c:v>
                  </c:pt>
                  <c:pt idx="12">
                    <c:v>30.06</c:v>
                  </c:pt>
                  <c:pt idx="13">
                    <c:v>01.07</c:v>
                  </c:pt>
                  <c:pt idx="14">
                    <c:v>02.07</c:v>
                  </c:pt>
                  <c:pt idx="15">
                    <c:v>04.07</c:v>
                  </c:pt>
                  <c:pt idx="16">
                    <c:v>05.07</c:v>
                  </c:pt>
                  <c:pt idx="17">
                    <c:v>06.07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140</c:v>
                </c:pt>
                <c:pt idx="1">
                  <c:v>739</c:v>
                </c:pt>
                <c:pt idx="2">
                  <c:v>1099</c:v>
                </c:pt>
                <c:pt idx="3">
                  <c:v>1386</c:v>
                </c:pt>
                <c:pt idx="4">
                  <c:v>1558</c:v>
                </c:pt>
                <c:pt idx="5">
                  <c:v>826</c:v>
                </c:pt>
                <c:pt idx="6">
                  <c:v>1011</c:v>
                </c:pt>
                <c:pt idx="7">
                  <c:v>937</c:v>
                </c:pt>
                <c:pt idx="8">
                  <c:v>1060</c:v>
                </c:pt>
                <c:pt idx="9">
                  <c:v>873</c:v>
                </c:pt>
                <c:pt idx="10">
                  <c:v>485</c:v>
                </c:pt>
                <c:pt idx="11">
                  <c:v>1286</c:v>
                </c:pt>
                <c:pt idx="12">
                  <c:v>1056</c:v>
                </c:pt>
                <c:pt idx="13">
                  <c:v>986</c:v>
                </c:pt>
                <c:pt idx="14">
                  <c:v>569</c:v>
                </c:pt>
                <c:pt idx="15">
                  <c:v>372</c:v>
                </c:pt>
                <c:pt idx="16">
                  <c:v>415</c:v>
                </c:pt>
                <c:pt idx="17">
                  <c:v>721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Overall Trend</c:v>
                </c:pt>
              </c:strCache>
            </c:strRef>
          </c:tx>
          <c:spPr>
            <a:solidFill>
              <a:srgbClr val="B45309"/>
            </a:solidFill>
            <a:ln w="31750" cap="flat">
              <a:solidFill>
                <a:srgbClr val="B4530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45309"/>
              </a:solidFill>
              <a:ln w="9525" cap="flat">
                <a:solidFill>
                  <a:srgbClr val="B4530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14.06</c:v>
                  </c:pt>
                  <c:pt idx="1">
                    <c:v>15.06</c:v>
                  </c:pt>
                  <c:pt idx="2">
                    <c:v>16.06</c:v>
                  </c:pt>
                  <c:pt idx="3">
                    <c:v>17.06</c:v>
                  </c:pt>
                  <c:pt idx="4">
                    <c:v>18.06</c:v>
                  </c:pt>
                  <c:pt idx="5">
                    <c:v>21.06</c:v>
                  </c:pt>
                  <c:pt idx="6">
                    <c:v>22.06</c:v>
                  </c:pt>
                  <c:pt idx="7">
                    <c:v>23.06</c:v>
                  </c:pt>
                  <c:pt idx="8">
                    <c:v>24.06</c:v>
                  </c:pt>
                  <c:pt idx="9">
                    <c:v>25.06</c:v>
                  </c:pt>
                  <c:pt idx="10">
                    <c:v>28.06</c:v>
                  </c:pt>
                  <c:pt idx="11">
                    <c:v>29.06</c:v>
                  </c:pt>
                  <c:pt idx="12">
                    <c:v>30.06</c:v>
                  </c:pt>
                  <c:pt idx="13">
                    <c:v>01.07</c:v>
                  </c:pt>
                  <c:pt idx="14">
                    <c:v>02.07</c:v>
                  </c:pt>
                  <c:pt idx="15">
                    <c:v>04.07</c:v>
                  </c:pt>
                  <c:pt idx="16">
                    <c:v>05.07</c:v>
                  </c:pt>
                  <c:pt idx="17">
                    <c:v>06.07</c:v>
                  </c:pt>
                </c:lvl>
              </c:multiLvlStrCache>
            </c:multiLvl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1012.4</c:v>
                </c:pt>
                <c:pt idx="1">
                  <c:v>994.7</c:v>
                </c:pt>
                <c:pt idx="2">
                  <c:v>977.1</c:v>
                </c:pt>
                <c:pt idx="3">
                  <c:v>959.4</c:v>
                </c:pt>
                <c:pt idx="4">
                  <c:v>941.7</c:v>
                </c:pt>
                <c:pt idx="5">
                  <c:v>924</c:v>
                </c:pt>
                <c:pt idx="6">
                  <c:v>906.4</c:v>
                </c:pt>
                <c:pt idx="7">
                  <c:v>888.7</c:v>
                </c:pt>
                <c:pt idx="8">
                  <c:v>871</c:v>
                </c:pt>
                <c:pt idx="9">
                  <c:v>853.3</c:v>
                </c:pt>
                <c:pt idx="10">
                  <c:v>835.7</c:v>
                </c:pt>
                <c:pt idx="11">
                  <c:v>818</c:v>
                </c:pt>
                <c:pt idx="12">
                  <c:v>800.3</c:v>
                </c:pt>
                <c:pt idx="13">
                  <c:v>782.6</c:v>
                </c:pt>
                <c:pt idx="14">
                  <c:v>765</c:v>
                </c:pt>
                <c:pt idx="15">
                  <c:v>747.3</c:v>
                </c:pt>
                <c:pt idx="16">
                  <c:v>729.6</c:v>
                </c:pt>
                <c:pt idx="17">
                  <c:v>711.9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E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50" b="0" i="0" u="none" strike="noStrike">
                    <a:solidFill>
                      <a:srgbClr val="8590A6"/>
                    </a:solidFill>
                    <a:latin typeface="Arial"/>
                  </a:defRPr>
                </a:pPr>
                <a:r>
                  <a:rPr sz="850" b="0" i="0" u="none" strike="noStrike">
                    <a:solidFill>
                      <a:srgbClr val="8590A6"/>
                    </a:solidFill>
                    <a:latin typeface="Arial"/>
                  </a:rPr>
                  <a:t>min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590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Production (pcs/day)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13.06</c:v>
                  </c:pt>
                  <c:pt idx="1">
                    <c:v>14.06</c:v>
                  </c:pt>
                  <c:pt idx="2">
                    <c:v>15.06</c:v>
                  </c:pt>
                  <c:pt idx="3">
                    <c:v>16.06</c:v>
                  </c:pt>
                  <c:pt idx="4">
                    <c:v>17.06</c:v>
                  </c:pt>
                  <c:pt idx="5">
                    <c:v>18.06</c:v>
                  </c:pt>
                  <c:pt idx="6">
                    <c:v>21.06</c:v>
                  </c:pt>
                  <c:pt idx="7">
                    <c:v>22.06</c:v>
                  </c:pt>
                  <c:pt idx="8">
                    <c:v>23.06</c:v>
                  </c:pt>
                  <c:pt idx="9">
                    <c:v>24.06</c:v>
                  </c:pt>
                  <c:pt idx="10">
                    <c:v>25.06</c:v>
                  </c:pt>
                  <c:pt idx="11">
                    <c:v>26.06</c:v>
                  </c:pt>
                  <c:pt idx="12">
                    <c:v>28.06</c:v>
                  </c:pt>
                  <c:pt idx="13">
                    <c:v>29.06</c:v>
                  </c:pt>
                  <c:pt idx="14">
                    <c:v>30.06</c:v>
                  </c:pt>
                  <c:pt idx="15">
                    <c:v>01.07</c:v>
                  </c:pt>
                  <c:pt idx="16">
                    <c:v>02.07</c:v>
                  </c:pt>
                  <c:pt idx="17">
                    <c:v>04.07</c:v>
                  </c:pt>
                  <c:pt idx="18">
                    <c:v>05.07</c:v>
                  </c:pt>
                  <c:pt idx="19">
                    <c:v>06.07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80</c:v>
                </c:pt>
                <c:pt idx="1">
                  <c:v>112.7</c:v>
                </c:pt>
                <c:pt idx="2">
                  <c:v>72.8</c:v>
                </c:pt>
                <c:pt idx="3">
                  <c:v>85.1</c:v>
                </c:pt>
                <c:pt idx="4">
                  <c:v>80.4</c:v>
                </c:pt>
                <c:pt idx="5">
                  <c:v>125.4</c:v>
                </c:pt>
                <c:pt idx="6">
                  <c:v>114.4</c:v>
                </c:pt>
                <c:pt idx="7">
                  <c:v>119.4</c:v>
                </c:pt>
                <c:pt idx="8">
                  <c:v>98.5</c:v>
                </c:pt>
                <c:pt idx="9">
                  <c:v>107.8</c:v>
                </c:pt>
                <c:pt idx="10">
                  <c:v>117.1</c:v>
                </c:pt>
                <c:pt idx="11">
                  <c:v>107</c:v>
                </c:pt>
                <c:pt idx="12">
                  <c:v>126.4</c:v>
                </c:pt>
                <c:pt idx="13">
                  <c:v>108.6</c:v>
                </c:pt>
                <c:pt idx="14">
                  <c:v>115.9</c:v>
                </c:pt>
                <c:pt idx="15">
                  <c:v>117.8</c:v>
                </c:pt>
                <c:pt idx="16">
                  <c:v>130.8</c:v>
                </c:pt>
                <c:pt idx="17">
                  <c:v>93</c:v>
                </c:pt>
                <c:pt idx="18">
                  <c:v>116.6</c:v>
                </c:pt>
                <c:pt idx="19">
                  <c:v>123.1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Overall Trend</c:v>
                </c:pt>
              </c:strCache>
            </c:strRef>
          </c:tx>
          <c:spPr>
            <a:solidFill>
              <a:srgbClr val="B45309"/>
            </a:solidFill>
            <a:ln w="31750" cap="flat">
              <a:solidFill>
                <a:srgbClr val="B4530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45309"/>
              </a:solidFill>
              <a:ln w="9525" cap="flat">
                <a:solidFill>
                  <a:srgbClr val="B4530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13.06</c:v>
                  </c:pt>
                  <c:pt idx="1">
                    <c:v>14.06</c:v>
                  </c:pt>
                  <c:pt idx="2">
                    <c:v>15.06</c:v>
                  </c:pt>
                  <c:pt idx="3">
                    <c:v>16.06</c:v>
                  </c:pt>
                  <c:pt idx="4">
                    <c:v>17.06</c:v>
                  </c:pt>
                  <c:pt idx="5">
                    <c:v>18.06</c:v>
                  </c:pt>
                  <c:pt idx="6">
                    <c:v>21.06</c:v>
                  </c:pt>
                  <c:pt idx="7">
                    <c:v>22.06</c:v>
                  </c:pt>
                  <c:pt idx="8">
                    <c:v>23.06</c:v>
                  </c:pt>
                  <c:pt idx="9">
                    <c:v>24.06</c:v>
                  </c:pt>
                  <c:pt idx="10">
                    <c:v>25.06</c:v>
                  </c:pt>
                  <c:pt idx="11">
                    <c:v>26.06</c:v>
                  </c:pt>
                  <c:pt idx="12">
                    <c:v>28.06</c:v>
                  </c:pt>
                  <c:pt idx="13">
                    <c:v>29.06</c:v>
                  </c:pt>
                  <c:pt idx="14">
                    <c:v>30.06</c:v>
                  </c:pt>
                  <c:pt idx="15">
                    <c:v>01.07</c:v>
                  </c:pt>
                  <c:pt idx="16">
                    <c:v>02.07</c:v>
                  </c:pt>
                  <c:pt idx="17">
                    <c:v>04.07</c:v>
                  </c:pt>
                  <c:pt idx="18">
                    <c:v>05.07</c:v>
                  </c:pt>
                  <c:pt idx="19">
                    <c:v>06.07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92.4</c:v>
                </c:pt>
                <c:pt idx="1">
                  <c:v>94</c:v>
                </c:pt>
                <c:pt idx="2">
                  <c:v>95.6</c:v>
                </c:pt>
                <c:pt idx="3">
                  <c:v>97.2</c:v>
                </c:pt>
                <c:pt idx="4">
                  <c:v>98.8</c:v>
                </c:pt>
                <c:pt idx="5">
                  <c:v>100.4</c:v>
                </c:pt>
                <c:pt idx="6">
                  <c:v>102</c:v>
                </c:pt>
                <c:pt idx="7">
                  <c:v>103.6</c:v>
                </c:pt>
                <c:pt idx="8">
                  <c:v>105.2</c:v>
                </c:pt>
                <c:pt idx="9">
                  <c:v>106.8</c:v>
                </c:pt>
                <c:pt idx="10">
                  <c:v>108.4</c:v>
                </c:pt>
                <c:pt idx="11">
                  <c:v>110.1</c:v>
                </c:pt>
                <c:pt idx="12">
                  <c:v>111.7</c:v>
                </c:pt>
                <c:pt idx="13">
                  <c:v>113.3</c:v>
                </c:pt>
                <c:pt idx="14">
                  <c:v>114.9</c:v>
                </c:pt>
                <c:pt idx="15">
                  <c:v>116.5</c:v>
                </c:pt>
                <c:pt idx="16">
                  <c:v>118.1</c:v>
                </c:pt>
                <c:pt idx="17">
                  <c:v>119.7</c:v>
                </c:pt>
                <c:pt idx="18">
                  <c:v>121.3</c:v>
                </c:pt>
                <c:pt idx="19">
                  <c:v>122.9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E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50" b="0" i="0" u="none" strike="noStrike">
                    <a:solidFill>
                      <a:srgbClr val="8590A6"/>
                    </a:solidFill>
                    <a:latin typeface="Arial"/>
                  </a:defRPr>
                </a:pPr>
                <a:r>
                  <a:rPr sz="850" b="0" i="0" u="none" strike="noStrike">
                    <a:solidFill>
                      <a:srgbClr val="8590A6"/>
                    </a:solidFill>
                    <a:latin typeface="Arial"/>
                  </a:rPr>
                  <a:t>pcs/day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590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Quality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803D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Pt>
            <c:idx val="2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Approved</c:v>
                </c:pt>
                <c:pt idx="1">
                  <c:v>Rework</c:v>
                </c:pt>
                <c:pt idx="2">
                  <c:v>Reject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783</c:v>
                </c:pt>
                <c:pt idx="1">
                  <c:v>212</c:v>
                </c:pt>
                <c:pt idx="2">
                  <c:v>120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Compliance (OK + Rework) Ratio %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17.06</c:v>
                  </c:pt>
                  <c:pt idx="1">
                    <c:v>21.06</c:v>
                  </c:pt>
                  <c:pt idx="2">
                    <c:v>25.06</c:v>
                  </c:pt>
                  <c:pt idx="3">
                    <c:v>26.06</c:v>
                  </c:pt>
                  <c:pt idx="4">
                    <c:v>27.06</c:v>
                  </c:pt>
                  <c:pt idx="5">
                    <c:v>28.06</c:v>
                  </c:pt>
                  <c:pt idx="6">
                    <c:v>29.06</c:v>
                  </c:pt>
                  <c:pt idx="7">
                    <c:v>30.06</c:v>
                  </c:pt>
                  <c:pt idx="8">
                    <c:v>01.07</c:v>
                  </c:pt>
                  <c:pt idx="9">
                    <c:v>02.07</c:v>
                  </c:pt>
                  <c:pt idx="10">
                    <c:v>04.07</c:v>
                  </c:pt>
                  <c:pt idx="11">
                    <c:v>05.07</c:v>
                  </c:pt>
                  <c:pt idx="12">
                    <c:v>06.07</c:v>
                  </c:pt>
                  <c:pt idx="13">
                    <c:v>07.07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71.4</c:v>
                </c:pt>
                <c:pt idx="1">
                  <c:v>81.8</c:v>
                </c:pt>
                <c:pt idx="2">
                  <c:v>91.2</c:v>
                </c:pt>
                <c:pt idx="3">
                  <c:v>92</c:v>
                </c:pt>
                <c:pt idx="4">
                  <c:v>76</c:v>
                </c:pt>
                <c:pt idx="5">
                  <c:v>50.5</c:v>
                </c:pt>
                <c:pt idx="6">
                  <c:v>93.5</c:v>
                </c:pt>
                <c:pt idx="7">
                  <c:v>93.3</c:v>
                </c:pt>
                <c:pt idx="8">
                  <c:v>87.7</c:v>
                </c:pt>
                <c:pt idx="9">
                  <c:v>94.7</c:v>
                </c:pt>
                <c:pt idx="10">
                  <c:v>95</c:v>
                </c:pt>
                <c:pt idx="11">
                  <c:v>95.3</c:v>
                </c:pt>
                <c:pt idx="12">
                  <c:v>97.1</c:v>
                </c:pt>
                <c:pt idx="13">
                  <c:v>98.1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Overall Trend</c:v>
                </c:pt>
              </c:strCache>
            </c:strRef>
          </c:tx>
          <c:spPr>
            <a:solidFill>
              <a:srgbClr val="B45309"/>
            </a:solidFill>
            <a:ln w="31750" cap="flat">
              <a:solidFill>
                <a:srgbClr val="B4530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45309"/>
              </a:solidFill>
              <a:ln w="9525" cap="flat">
                <a:solidFill>
                  <a:srgbClr val="B4530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17.06</c:v>
                  </c:pt>
                  <c:pt idx="1">
                    <c:v>21.06</c:v>
                  </c:pt>
                  <c:pt idx="2">
                    <c:v>25.06</c:v>
                  </c:pt>
                  <c:pt idx="3">
                    <c:v>26.06</c:v>
                  </c:pt>
                  <c:pt idx="4">
                    <c:v>27.06</c:v>
                  </c:pt>
                  <c:pt idx="5">
                    <c:v>28.06</c:v>
                  </c:pt>
                  <c:pt idx="6">
                    <c:v>29.06</c:v>
                  </c:pt>
                  <c:pt idx="7">
                    <c:v>30.06</c:v>
                  </c:pt>
                  <c:pt idx="8">
                    <c:v>01.07</c:v>
                  </c:pt>
                  <c:pt idx="9">
                    <c:v>02.07</c:v>
                  </c:pt>
                  <c:pt idx="10">
                    <c:v>04.07</c:v>
                  </c:pt>
                  <c:pt idx="11">
                    <c:v>05.07</c:v>
                  </c:pt>
                  <c:pt idx="12">
                    <c:v>06.07</c:v>
                  </c:pt>
                  <c:pt idx="13">
                    <c:v>07.07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75.9</c:v>
                </c:pt>
                <c:pt idx="1">
                  <c:v>77.6</c:v>
                </c:pt>
                <c:pt idx="2">
                  <c:v>79.3</c:v>
                </c:pt>
                <c:pt idx="3">
                  <c:v>81</c:v>
                </c:pt>
                <c:pt idx="4">
                  <c:v>82.7</c:v>
                </c:pt>
                <c:pt idx="5">
                  <c:v>84.4</c:v>
                </c:pt>
                <c:pt idx="6">
                  <c:v>86.1</c:v>
                </c:pt>
                <c:pt idx="7">
                  <c:v>87.8</c:v>
                </c:pt>
                <c:pt idx="8">
                  <c:v>89.5</c:v>
                </c:pt>
                <c:pt idx="9">
                  <c:v>91.2</c:v>
                </c:pt>
                <c:pt idx="10">
                  <c:v>93</c:v>
                </c:pt>
                <c:pt idx="11">
                  <c:v>94.7</c:v>
                </c:pt>
                <c:pt idx="12">
                  <c:v>96.4</c:v>
                </c:pt>
                <c:pt idx="13">
                  <c:v>98.1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D8DE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590A6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8590A6"/>
                    </a:solidFill>
                    <a:latin typeface="Arial"/>
                  </a:rPr>
                  <a:t>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590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Downtime Duration (min)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Press</c:v>
                  </c:pt>
                  <c:pt idx="1">
                    <c:v>N602</c:v>
                  </c:pt>
                  <c:pt idx="2">
                    <c:v>ROB110-111</c:v>
                  </c:pt>
                  <c:pt idx="3">
                    <c:v>Flowform</c:v>
                  </c:pt>
                  <c:pt idx="4">
                    <c:v>ROB108</c:v>
                  </c:pt>
                  <c:pt idx="5">
                    <c:v>ROB104</c:v>
                  </c:pt>
                  <c:pt idx="6">
                    <c:v>Quench</c:v>
                  </c:pt>
                  <c:pt idx="7">
                    <c:v>ROB109</c:v>
                  </c:pt>
                  <c:pt idx="8">
                    <c:v>ETM</c:v>
                  </c:pt>
                  <c:pt idx="9">
                    <c:v>N603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2829</c:v>
                </c:pt>
                <c:pt idx="1">
                  <c:v>2507</c:v>
                </c:pt>
                <c:pt idx="2">
                  <c:v>2268</c:v>
                </c:pt>
                <c:pt idx="3">
                  <c:v>2219</c:v>
                </c:pt>
                <c:pt idx="4">
                  <c:v>2021</c:v>
                </c:pt>
                <c:pt idx="5">
                  <c:v>1804</c:v>
                </c:pt>
                <c:pt idx="6">
                  <c:v>1680</c:v>
                </c:pt>
                <c:pt idx="7">
                  <c:v>1423</c:v>
                </c:pt>
                <c:pt idx="8">
                  <c:v>622</c:v>
                </c:pt>
                <c:pt idx="9">
                  <c:v>559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Event Count</c:v>
                </c:pt>
              </c:strCache>
            </c:strRef>
          </c:tx>
          <c:spPr>
            <a:solidFill>
              <a:srgbClr val="B45309"/>
            </a:solidFill>
            <a:ln w="25400" cap="flat">
              <a:solidFill>
                <a:srgbClr val="B4530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45309"/>
              </a:solidFill>
              <a:ln w="9525" cap="flat">
                <a:solidFill>
                  <a:srgbClr val="B4530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Press</c:v>
                  </c:pt>
                  <c:pt idx="1">
                    <c:v>N602</c:v>
                  </c:pt>
                  <c:pt idx="2">
                    <c:v>ROB110-111</c:v>
                  </c:pt>
                  <c:pt idx="3">
                    <c:v>Flowform</c:v>
                  </c:pt>
                  <c:pt idx="4">
                    <c:v>ROB108</c:v>
                  </c:pt>
                  <c:pt idx="5">
                    <c:v>ROB104</c:v>
                  </c:pt>
                  <c:pt idx="6">
                    <c:v>Quench</c:v>
                  </c:pt>
                  <c:pt idx="7">
                    <c:v>ROB109</c:v>
                  </c:pt>
                  <c:pt idx="8">
                    <c:v>ETM</c:v>
                  </c:pt>
                  <c:pt idx="9">
                    <c:v>N603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86</c:v>
                </c:pt>
                <c:pt idx="1">
                  <c:v>98</c:v>
                </c:pt>
                <c:pt idx="2">
                  <c:v>80</c:v>
                </c:pt>
                <c:pt idx="3">
                  <c:v>85</c:v>
                </c:pt>
                <c:pt idx="4">
                  <c:v>84</c:v>
                </c:pt>
                <c:pt idx="5">
                  <c:v>73</c:v>
                </c:pt>
                <c:pt idx="6">
                  <c:v>6</c:v>
                </c:pt>
                <c:pt idx="7">
                  <c:v>125</c:v>
                </c:pt>
                <c:pt idx="8">
                  <c:v>40</c:v>
                </c:pt>
                <c:pt idx="9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E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8590A6"/>
                    </a:solidFill>
                    <a:latin typeface="Arial"/>
                  </a:defRPr>
                </a:pPr>
                <a:r>
                  <a:rPr sz="950" b="0" i="0" u="none" strike="noStrike">
                    <a:solidFill>
                      <a:srgbClr val="8590A6"/>
                    </a:solidFill>
                    <a:latin typeface="Arial"/>
                  </a:rPr>
                  <a:t>Downtime Duration (min)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8590A6"/>
                    </a:solidFill>
                    <a:latin typeface="Arial"/>
                  </a:defRPr>
                </a:pPr>
                <a:r>
                  <a:rPr sz="950" b="0" i="0" u="none" strike="noStrike">
                    <a:solidFill>
                      <a:srgbClr val="8590A6"/>
                    </a:solidFill>
                    <a:latin typeface="Arial"/>
                  </a:rPr>
                  <a:t>Event Count (Qty)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1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572000" cy="457200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CADCFC">
              <a:alpha val="9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1155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HF901 · SERIAL PRODUCTION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5146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Report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 Production Volumes (June–July)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17320"/>
          <a:ext cx="1106424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Average Production Volume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0424160" y="3529584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4"/>
          <p:cNvSpPr/>
          <p:nvPr/>
        </p:nvSpPr>
        <p:spPr>
          <a:xfrm>
            <a:off x="10607040" y="3474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0424160" y="384962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10607040" y="37947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June–July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424160" y="4169664"/>
            <a:ext cx="109728" cy="109728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1" name="Text 8"/>
          <p:cNvSpPr/>
          <p:nvPr/>
        </p:nvSpPr>
        <p:spPr>
          <a:xfrm>
            <a:off x="10607040" y="4114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(200 pcs/day)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43200" y="1645920"/>
            <a:ext cx="0" cy="393192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77440" y="5623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457700" y="1645920"/>
            <a:ext cx="0" cy="393192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91940" y="5623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72200" y="1645920"/>
            <a:ext cx="0" cy="393192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06440" y="5623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886700" y="1645920"/>
            <a:ext cx="0" cy="393192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20940" y="5623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9601200" y="1645920"/>
            <a:ext cx="0" cy="393192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69680" y="5623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pcs/day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1719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537835" y="1828800"/>
            <a:ext cx="1553337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091172" y="1828800"/>
            <a:ext cx="2510028" cy="0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3827" y="176479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Shape 23"/>
          <p:cNvSpPr/>
          <p:nvPr/>
        </p:nvSpPr>
        <p:spPr>
          <a:xfrm>
            <a:off x="7027164" y="1764792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Shape 24"/>
          <p:cNvSpPr/>
          <p:nvPr/>
        </p:nvSpPr>
        <p:spPr>
          <a:xfrm>
            <a:off x="9537192" y="1764792"/>
            <a:ext cx="128016" cy="128016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8" name="Text 25"/>
          <p:cNvSpPr/>
          <p:nvPr/>
        </p:nvSpPr>
        <p:spPr>
          <a:xfrm>
            <a:off x="5080635" y="15910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81.5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633972" y="15910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126.8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857304" y="15910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+56%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888986" y="15910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+%58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48640" y="20665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ETM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505706" y="2176272"/>
            <a:ext cx="2842641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348347" y="2176272"/>
            <a:ext cx="2252853" cy="0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441698" y="211226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6" name="Shape 33"/>
          <p:cNvSpPr/>
          <p:nvPr/>
        </p:nvSpPr>
        <p:spPr>
          <a:xfrm>
            <a:off x="7284339" y="2112264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Shape 34"/>
          <p:cNvSpPr/>
          <p:nvPr/>
        </p:nvSpPr>
        <p:spPr>
          <a:xfrm>
            <a:off x="9537192" y="2112264"/>
            <a:ext cx="128016" cy="128016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38" name="Text 35"/>
          <p:cNvSpPr/>
          <p:nvPr/>
        </p:nvSpPr>
        <p:spPr>
          <a:xfrm>
            <a:off x="4048506" y="1938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891147" y="1938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134.3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469827" y="1938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+161%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017574" y="1938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+%49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48640" y="24140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ROB108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4265676" y="2523744"/>
            <a:ext cx="229743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563106" y="2523744"/>
            <a:ext cx="3038094" cy="0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201668" y="2459736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6" name="Shape 43"/>
          <p:cNvSpPr/>
          <p:nvPr/>
        </p:nvSpPr>
        <p:spPr>
          <a:xfrm>
            <a:off x="6499098" y="2459736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7" name="Shape 44"/>
          <p:cNvSpPr/>
          <p:nvPr/>
        </p:nvSpPr>
        <p:spPr>
          <a:xfrm>
            <a:off x="9537192" y="2459736"/>
            <a:ext cx="128016" cy="128016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48" name="Text 45"/>
          <p:cNvSpPr/>
          <p:nvPr/>
        </p:nvSpPr>
        <p:spPr>
          <a:xfrm>
            <a:off x="3808476" y="228600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6105906" y="228600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111.4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957191" y="228600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+151%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7624953" y="228600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+%80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548640" y="2761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Flowform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4310253" y="2871216"/>
            <a:ext cx="2225421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535674" y="2871216"/>
            <a:ext cx="3065526" cy="0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246245" y="2807208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6" name="Shape 53"/>
          <p:cNvSpPr/>
          <p:nvPr/>
        </p:nvSpPr>
        <p:spPr>
          <a:xfrm>
            <a:off x="6471666" y="2807208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7" name="Shape 54"/>
          <p:cNvSpPr/>
          <p:nvPr/>
        </p:nvSpPr>
        <p:spPr>
          <a:xfrm>
            <a:off x="9537192" y="2807208"/>
            <a:ext cx="128016" cy="128016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58" name="Text 55"/>
          <p:cNvSpPr/>
          <p:nvPr/>
        </p:nvSpPr>
        <p:spPr>
          <a:xfrm>
            <a:off x="3853053" y="26334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45.7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6078474" y="26334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110.6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4965763" y="26334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+142%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7611237" y="26334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+%81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54864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ROB104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4248531" y="3218688"/>
            <a:ext cx="2132838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381369" y="3218688"/>
            <a:ext cx="3219831" cy="0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184523" y="315468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6" name="Shape 63"/>
          <p:cNvSpPr/>
          <p:nvPr/>
        </p:nvSpPr>
        <p:spPr>
          <a:xfrm>
            <a:off x="6317361" y="31546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7" name="Shape 64"/>
          <p:cNvSpPr/>
          <p:nvPr/>
        </p:nvSpPr>
        <p:spPr>
          <a:xfrm>
            <a:off x="9537192" y="3154680"/>
            <a:ext cx="128016" cy="128016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68" name="Text 65"/>
          <p:cNvSpPr/>
          <p:nvPr/>
        </p:nvSpPr>
        <p:spPr>
          <a:xfrm>
            <a:off x="3791331" y="29809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43.9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5924169" y="29809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106.1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4857750" y="29809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+142%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7534084" y="29809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+%89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548640" y="3456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N602-N603</a:t>
            </a:r>
            <a:endParaRPr lang="en-US" sz="1200" dirty="0"/>
          </a:p>
        </p:txBody>
      </p:sp>
      <p:sp>
        <p:nvSpPr>
          <p:cNvPr id="73" name="Shape 70"/>
          <p:cNvSpPr/>
          <p:nvPr/>
        </p:nvSpPr>
        <p:spPr>
          <a:xfrm>
            <a:off x="4197096" y="3566160"/>
            <a:ext cx="2019681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6216777" y="3566160"/>
            <a:ext cx="3384423" cy="0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4133088" y="350215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6" name="Shape 73"/>
          <p:cNvSpPr/>
          <p:nvPr/>
        </p:nvSpPr>
        <p:spPr>
          <a:xfrm>
            <a:off x="6152769" y="3502152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7" name="Shape 74"/>
          <p:cNvSpPr/>
          <p:nvPr/>
        </p:nvSpPr>
        <p:spPr>
          <a:xfrm>
            <a:off x="9537192" y="3502152"/>
            <a:ext cx="128016" cy="128016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78" name="Text 75"/>
          <p:cNvSpPr/>
          <p:nvPr/>
        </p:nvSpPr>
        <p:spPr>
          <a:xfrm>
            <a:off x="3739896" y="33284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42.4</a:t>
            </a:r>
            <a:endParaRPr lang="en-US" sz="850" dirty="0"/>
          </a:p>
        </p:txBody>
      </p:sp>
      <p:sp>
        <p:nvSpPr>
          <p:cNvPr id="79" name="Text 76"/>
          <p:cNvSpPr/>
          <p:nvPr/>
        </p:nvSpPr>
        <p:spPr>
          <a:xfrm>
            <a:off x="5759577" y="33284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101.3</a:t>
            </a:r>
            <a:endParaRPr lang="en-US" sz="850" dirty="0"/>
          </a:p>
        </p:txBody>
      </p:sp>
      <p:sp>
        <p:nvSpPr>
          <p:cNvPr id="80" name="Text 77"/>
          <p:cNvSpPr/>
          <p:nvPr/>
        </p:nvSpPr>
        <p:spPr>
          <a:xfrm>
            <a:off x="4749737" y="33284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+139%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7451788" y="33284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+%97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548640" y="38039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ROB109</a:t>
            </a:r>
            <a:endParaRPr lang="en-US" sz="1200" dirty="0"/>
          </a:p>
        </p:txBody>
      </p:sp>
      <p:sp>
        <p:nvSpPr>
          <p:cNvPr id="83" name="Shape 80"/>
          <p:cNvSpPr/>
          <p:nvPr/>
        </p:nvSpPr>
        <p:spPr>
          <a:xfrm>
            <a:off x="4077081" y="3913632"/>
            <a:ext cx="2232279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6309360" y="3913632"/>
            <a:ext cx="3291840" cy="0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4013073" y="384962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6" name="Shape 83"/>
          <p:cNvSpPr/>
          <p:nvPr/>
        </p:nvSpPr>
        <p:spPr>
          <a:xfrm>
            <a:off x="6245352" y="3849624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7" name="Shape 84"/>
          <p:cNvSpPr/>
          <p:nvPr/>
        </p:nvSpPr>
        <p:spPr>
          <a:xfrm>
            <a:off x="9537192" y="3849624"/>
            <a:ext cx="128016" cy="128016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88" name="Text 85"/>
          <p:cNvSpPr/>
          <p:nvPr/>
        </p:nvSpPr>
        <p:spPr>
          <a:xfrm>
            <a:off x="3619881" y="3675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38.9</a:t>
            </a:r>
            <a:endParaRPr lang="en-US" sz="850" dirty="0"/>
          </a:p>
        </p:txBody>
      </p:sp>
      <p:sp>
        <p:nvSpPr>
          <p:cNvPr id="89" name="Text 86"/>
          <p:cNvSpPr/>
          <p:nvPr/>
        </p:nvSpPr>
        <p:spPr>
          <a:xfrm>
            <a:off x="5852160" y="3675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104.0</a:t>
            </a:r>
            <a:endParaRPr lang="en-US" sz="850" dirty="0"/>
          </a:p>
        </p:txBody>
      </p:sp>
      <p:sp>
        <p:nvSpPr>
          <p:cNvPr id="90" name="Text 87"/>
          <p:cNvSpPr/>
          <p:nvPr/>
        </p:nvSpPr>
        <p:spPr>
          <a:xfrm>
            <a:off x="4736021" y="3675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+167%</a:t>
            </a:r>
            <a:endParaRPr lang="en-US" sz="900" dirty="0"/>
          </a:p>
        </p:txBody>
      </p:sp>
      <p:sp>
        <p:nvSpPr>
          <p:cNvPr id="91" name="Text 88"/>
          <p:cNvSpPr/>
          <p:nvPr/>
        </p:nvSpPr>
        <p:spPr>
          <a:xfrm>
            <a:off x="7498080" y="3675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+%92</a:t>
            </a:r>
            <a:endParaRPr lang="en-US" sz="900" dirty="0"/>
          </a:p>
        </p:txBody>
      </p:sp>
      <p:sp>
        <p:nvSpPr>
          <p:cNvPr id="92" name="Text 89"/>
          <p:cNvSpPr/>
          <p:nvPr/>
        </p:nvSpPr>
        <p:spPr>
          <a:xfrm>
            <a:off x="548640" y="4151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Quench</a:t>
            </a:r>
            <a:endParaRPr lang="en-US" sz="1200" dirty="0"/>
          </a:p>
        </p:txBody>
      </p:sp>
      <p:sp>
        <p:nvSpPr>
          <p:cNvPr id="93" name="Shape 90"/>
          <p:cNvSpPr/>
          <p:nvPr/>
        </p:nvSpPr>
        <p:spPr>
          <a:xfrm>
            <a:off x="4186809" y="4261104"/>
            <a:ext cx="2074545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6261354" y="4261104"/>
            <a:ext cx="3339846" cy="0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4122801" y="4197096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6" name="Shape 93"/>
          <p:cNvSpPr/>
          <p:nvPr/>
        </p:nvSpPr>
        <p:spPr>
          <a:xfrm>
            <a:off x="6197346" y="4197096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7" name="Shape 94"/>
          <p:cNvSpPr/>
          <p:nvPr/>
        </p:nvSpPr>
        <p:spPr>
          <a:xfrm>
            <a:off x="9537192" y="4197096"/>
            <a:ext cx="128016" cy="128016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98" name="Text 95"/>
          <p:cNvSpPr/>
          <p:nvPr/>
        </p:nvSpPr>
        <p:spPr>
          <a:xfrm>
            <a:off x="3729609" y="40233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42.1</a:t>
            </a:r>
            <a:endParaRPr lang="en-US" sz="850" dirty="0"/>
          </a:p>
        </p:txBody>
      </p:sp>
      <p:sp>
        <p:nvSpPr>
          <p:cNvPr id="99" name="Text 96"/>
          <p:cNvSpPr/>
          <p:nvPr/>
        </p:nvSpPr>
        <p:spPr>
          <a:xfrm>
            <a:off x="5804154" y="40233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102.6</a:t>
            </a:r>
            <a:endParaRPr lang="en-US" sz="850" dirty="0"/>
          </a:p>
        </p:txBody>
      </p:sp>
      <p:sp>
        <p:nvSpPr>
          <p:cNvPr id="100" name="Text 97"/>
          <p:cNvSpPr/>
          <p:nvPr/>
        </p:nvSpPr>
        <p:spPr>
          <a:xfrm>
            <a:off x="4766882" y="40233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+144%</a:t>
            </a:r>
            <a:endParaRPr lang="en-US" sz="900" dirty="0"/>
          </a:p>
        </p:txBody>
      </p:sp>
      <p:sp>
        <p:nvSpPr>
          <p:cNvPr id="101" name="Text 98"/>
          <p:cNvSpPr/>
          <p:nvPr/>
        </p:nvSpPr>
        <p:spPr>
          <a:xfrm>
            <a:off x="7474077" y="40233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+%95</a:t>
            </a:r>
            <a:endParaRPr lang="en-US" sz="900" dirty="0"/>
          </a:p>
        </p:txBody>
      </p:sp>
      <p:sp>
        <p:nvSpPr>
          <p:cNvPr id="102" name="Text 99"/>
          <p:cNvSpPr/>
          <p:nvPr/>
        </p:nvSpPr>
        <p:spPr>
          <a:xfrm>
            <a:off x="548640" y="4498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ROB110-111</a:t>
            </a:r>
            <a:endParaRPr lang="en-US" sz="1200" dirty="0"/>
          </a:p>
        </p:txBody>
      </p:sp>
      <p:sp>
        <p:nvSpPr>
          <p:cNvPr id="103" name="Shape 100"/>
          <p:cNvSpPr/>
          <p:nvPr/>
        </p:nvSpPr>
        <p:spPr>
          <a:xfrm>
            <a:off x="3994785" y="4608576"/>
            <a:ext cx="2342007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6336792" y="4608576"/>
            <a:ext cx="3264408" cy="0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3930777" y="4544568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6" name="Shape 103"/>
          <p:cNvSpPr/>
          <p:nvPr/>
        </p:nvSpPr>
        <p:spPr>
          <a:xfrm>
            <a:off x="6272784" y="4544568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7" name="Shape 104"/>
          <p:cNvSpPr/>
          <p:nvPr/>
        </p:nvSpPr>
        <p:spPr>
          <a:xfrm>
            <a:off x="9537192" y="4544568"/>
            <a:ext cx="128016" cy="128016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08" name="Text 105"/>
          <p:cNvSpPr/>
          <p:nvPr/>
        </p:nvSpPr>
        <p:spPr>
          <a:xfrm>
            <a:off x="3537585" y="4370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36.5</a:t>
            </a:r>
            <a:endParaRPr lang="en-US" sz="850" dirty="0"/>
          </a:p>
        </p:txBody>
      </p:sp>
      <p:sp>
        <p:nvSpPr>
          <p:cNvPr id="109" name="Text 106"/>
          <p:cNvSpPr/>
          <p:nvPr/>
        </p:nvSpPr>
        <p:spPr>
          <a:xfrm>
            <a:off x="5879592" y="4370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104.8</a:t>
            </a:r>
            <a:endParaRPr lang="en-US" sz="850" dirty="0"/>
          </a:p>
        </p:txBody>
      </p:sp>
      <p:sp>
        <p:nvSpPr>
          <p:cNvPr id="110" name="Text 107"/>
          <p:cNvSpPr/>
          <p:nvPr/>
        </p:nvSpPr>
        <p:spPr>
          <a:xfrm>
            <a:off x="4708589" y="4370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+187%</a:t>
            </a:r>
            <a:endParaRPr lang="en-US" sz="900" dirty="0"/>
          </a:p>
        </p:txBody>
      </p:sp>
      <p:sp>
        <p:nvSpPr>
          <p:cNvPr id="111" name="Text 108"/>
          <p:cNvSpPr/>
          <p:nvPr/>
        </p:nvSpPr>
        <p:spPr>
          <a:xfrm>
            <a:off x="7511796" y="4370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+%91</a:t>
            </a:r>
            <a:endParaRPr lang="en-US" sz="900" dirty="0"/>
          </a:p>
        </p:txBody>
      </p:sp>
      <p:sp>
        <p:nvSpPr>
          <p:cNvPr id="112" name="Text 10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Bakış</a:t>
            </a:r>
            <a:endParaRPr lang="en-US" sz="900" dirty="0"/>
          </a:p>
        </p:txBody>
      </p:sp>
      <p:sp>
        <p:nvSpPr>
          <p:cNvPr id="113" name="Text 110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 Between Loss Reduction &amp; Production Increase (June–July)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1645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TOTAL LOSS TREND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920240"/>
          <a:ext cx="53949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760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1558 min  ·  Daily Avg: 862 min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309360" y="1645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AVERAGE PRODUCTION TREND</a:t>
            </a:r>
            <a:endParaRPr lang="en-US" sz="13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309360" y="1920240"/>
          <a:ext cx="53949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/>
          <p:nvPr/>
        </p:nvSpPr>
        <p:spPr>
          <a:xfrm>
            <a:off x="6309360" y="5760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Avg: 130.8  ·  Period Avg: 107.6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OEE, MTBF &amp; MTTR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Cell-Based Cycle Times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34640" y="1463040"/>
          <a:ext cx="649224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0175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Achievable Cycle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 Cell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 30 sec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ETM Cell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 15 sec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ROB108 Cell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 00 sec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Flowform Cell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 58 sec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ROB104 Cell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 30 sec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N602-N603 Cell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 00 sec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ROB109 Cell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 00 sec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Quench Cell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 00 sec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ROB110-111 Cell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 10 sec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OEE, MTBF &amp; MTTR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OEE, MTBF &amp; MTTR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OEE — Equipment Effectiveness (June–July)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3258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(Overall Equipment Effectiveness) measures the net efficiency of the line by combining Availability, Performance, and Quality components.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078992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828800"/>
                <a:gridCol w="1828800"/>
                <a:gridCol w="1828800"/>
                <a:gridCol w="18288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N602-N603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ROB110-111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AVERAGE (Rolled)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OEE, MTBF &amp; MTTR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OEE, MTBF &amp; MTTR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MTBF &amp; MTTR — Breakdown-Based Reliability (June–July)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MTBF (Mean Time Between Failures) is a reliability metric showing how long on average the equipment runs continuously between two breakdowns. MTTR (Mean Time To Repair) represents the average time taken to resolve a breakdown.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07899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377440"/>
                <a:gridCol w="237744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MTBF (min)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MTTR (min)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Breakdown 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391.6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1086.8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362.7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523.6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N602-N603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311.8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ROB110-111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OEE, MTBF &amp; MTTR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ANALYSIS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Status after Final Measurement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463040"/>
          <a:ext cx="4206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2880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1,115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457200" y="3429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PARTS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417320"/>
          <a:ext cx="6675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377440"/>
                <a:gridCol w="1463040"/>
                <a:gridCol w="914400"/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Definition / 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Outer Passed Side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Lathe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Shot Peening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Shot Peening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Angle at rear of rotating band relief groove 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Lathe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Bourrelet Diameter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Lathe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 Wall Thickness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 Unmachined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Lathe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 Thickness Distribution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Breakage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Lathe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Ogive Unmachined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Spinning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 Wall Thickness + Distribution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Causes (5 categories)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Analysis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ANALYSIS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Compliance (OK + Rework) Ratio Trend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1106424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Analysis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ANALYSIS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Analysis (Pareto)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11064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4864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Pareto downtime duration (bar, left axis) and downtime frequency (orange line, right axis), top 3 causes highlighted. The top 3 causes account for 42% of total downtime duration. Data represents categorized downtime records for selected cells after 13.06.2026.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Analysis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ANALYSIS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Analysis — Action Plan Details (Page 1/6)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3474720"/>
                <a:gridCol w="347472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/ Reason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939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Mold Assembly/Disassembly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523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(IHU Mode, Mold Warm-up)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356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Time Improvement Studies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Ironing Exit Conveyor Downtimes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Mechanical corrections made and issues resolved.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Hydraulic Oil Temperature Alarm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Proportional Valve Downtimes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Proportional valve replaced and issue resolved.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WJS-Related Downtime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WJS safety valve repaired.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Gripper Sensor 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replaced with new one. Issue resolved.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- Part Measurement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Analysis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ANALYSIS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Analysis — Action Plan Details (Page 2/6)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3474720"/>
                <a:gridCol w="347472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/ Reason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Time Improvement Studies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Replacement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811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Change / Inspection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 Power Outage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228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Emptying Swarf/Chip Bins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Swarf bins moved outside the safety fence, resolving the cell stoppage issue.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Modification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revision completed for the new flowform preform.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Boron Oil / Coolant Insufficiency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Electrical Fuse Tripping 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Short-circuiting electrical line located and cable replaced. Issue resolved.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 Failures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Analysis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ANALYSIS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Analysis — Action Plan Details (Page 3/6)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3474720"/>
                <a:gridCol w="347472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/ Reason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921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Collet Change / Runout Control / Offset Adjustment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382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Lubrication Problems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Faulty sensor replaced / bracket added and distributor block replaced. Issues resolved.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Awaiting Consumables/Utility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 Failures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659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Change / Inspection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 Shortage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Emptying Swarf/Chip Bins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Swarf bins moved outside the safety fence, resolving the cell stoppage issue.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Boron Oil / Coolant Insufficiency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Analysis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ANALYSIS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Analysis — Action Plan Details (Page 4/6)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3474720"/>
                <a:gridCol w="347472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/ Reason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Electrical Fuse Tripping 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Short-circuiting electrical line located and cable replaced. Issue resolved.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Modification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revision completed for the new flowform preform.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Change / Inspection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Boron Oil / Coolant Insufficiency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N602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1,489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Hydraulic Oil Temperature Alarm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N602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238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Conveyor Full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N602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Analysis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ANALYSIS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Analysis — Action Plan Details (Page 5/6)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3474720"/>
                <a:gridCol w="347472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/ Reason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N602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 Shortage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N603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Induction Clamp 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 gripper sensor replaced with a new one, resolving the issue.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N603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Cooling Tower 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Actuated valve gasket rupture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Gasket replaced with a new one.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Chains damaged because the part was not unloaded from the furnace exit in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Damaged section of the chain replaced with a new one.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ROB110-111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522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 Problem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Crushed cable detected and replaced. Issue permanently resolved.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ROB110-111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Shot Peening Machine Downtime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loading and peening failure issues resolved after adjustments.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ROB110-111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281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 Welding Machine Downtime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ordered to resolve welding failure. Replacement and testing will proceed upon arrival at site.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ROB110-111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Change / Inspection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Analysis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ANALYSIS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Analysis — Action Plan Details (Page 6/6)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3474720"/>
                <a:gridCol w="347472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/ Reason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ROB110-111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Shuttle Conveyor Motor 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replaced with new one, shuttle deceleration automation updated to prevent recurrence.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ROB110-111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Awaiting Consumables/Utility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ROB110-111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- Part Measurement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ROB110-111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Time Improvement Studies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ROB110-111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Lance Replacement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ROB110-111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Emptying Swarf/Chip Bins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ROB110-111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Analysis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FOR 4000 TARGET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Tasks to be Done by NCMS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349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8006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Cleaning of the press heat exchanger.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 of the non-functioning Doosan machines, and planning of general Doosan maintenance.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Ensuring proper ambient temperature for the factory.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of consumables.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of spare part requirements.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 and improvement of cooling tower pump efficiency.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Calling AİME for maintenance of the internal shot blasting (sandblasting) machine.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Increasing personnel headcount and strengthening coordination.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Organizing maintenance management, and providing the necessary equipment and personnel.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1463040"/>
          <a:ext cx="5349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70916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of raw material, band, and base cover.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of CNC tools.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and organization of chip/swarf bins.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Ordering new press pressure filters.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of a new quench chain.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Establishing a tool room (or an alternative solution) for die/mold revisions.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Addressing deficiencies in quality measurement equipment.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of pallets for final parts.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for 4000 Target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FOR 4000 TARGET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Tasks to be Done by Repkon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1645920"/>
          <a:ext cx="92354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850392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Conducting press die lifetime analysis and improvement studies.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 of press cycle time.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 of the overall process flow to reduce cycle times in machining operations.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Implementing robot automation cycle improvements.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Commissioning and deployment of the AGV.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Completing actions to reduce cell downtime.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for 4000 Target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NCMS HEADCOUNT PROPOSAL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NCMS Headcount Recommendation by Area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029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85800"/>
                <a:gridCol w="685800"/>
                <a:gridCol w="685800"/>
                <a:gridCol w="6858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Saw Machine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Induction 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 Side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Annealing Furnace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N602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1112" y="1371600"/>
          <a:ext cx="5029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85800"/>
                <a:gridCol w="685800"/>
                <a:gridCol w="685800"/>
                <a:gridCol w="6858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N603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SBU110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WPL103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Spider Persons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NCMS Headcount Proposal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6629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NCMS HEADCOUNT PROPOSAL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28016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NCMS Headcount Distribution on Factory Layout</a:t>
            </a:r>
            <a:endParaRPr lang="en-US" sz="2600" dirty="0"/>
          </a:p>
        </p:txBody>
      </p:sp>
      <p:pic>
        <p:nvPicPr>
          <p:cNvPr id="6" name="Image 1" descr="C:\Users\tvural.REPKON\Desktop\HF901\Serial Production\ManufUI\docs\sunumlar\build\headcount_lay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280160"/>
            <a:ext cx="10515600" cy="4919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NCMS Headcount Proposal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Repkon HF901 Serial Production — Performance Report</dc:title>
  <dc:subject>PptxGenJS Presentation</dc:subject>
  <dc:creator>Repkon HF901</dc:creator>
  <cp:lastModifiedBy>Repkon HF901</cp:lastModifiedBy>
  <cp:revision>1</cp:revision>
  <dcterms:created xsi:type="dcterms:W3CDTF">2026-07-10T10:19:17Z</dcterms:created>
  <dcterms:modified xsi:type="dcterms:W3CDTF">2026-07-10T10:19:17Z</dcterms:modified>
</cp:coreProperties>
</file>