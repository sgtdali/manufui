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Üretim (adet)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ROB110-111</c:v>
                  </c:pt>
                  <c:pt idx="1">
                    <c:v>Quench</c:v>
                  </c:pt>
                  <c:pt idx="2">
                    <c:v>ROB109</c:v>
                  </c:pt>
                  <c:pt idx="3">
                    <c:v>N602-N603</c:v>
                  </c:pt>
                  <c:pt idx="4">
                    <c:v>ROB104</c:v>
                  </c:pt>
                  <c:pt idx="5">
                    <c:v>Flowform</c:v>
                  </c:pt>
                  <c:pt idx="6">
                    <c:v>ROB108</c:v>
                  </c:pt>
                  <c:pt idx="7">
                    <c:v>ETM</c:v>
                  </c:pt>
                  <c:pt idx="8">
                    <c:v>Pres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1151</c:v>
                </c:pt>
                <c:pt idx="1">
                  <c:v>1653</c:v>
                </c:pt>
                <c:pt idx="2">
                  <c:v>1746</c:v>
                </c:pt>
                <c:pt idx="3">
                  <c:v>1801</c:v>
                </c:pt>
                <c:pt idx="4">
                  <c:v>1883</c:v>
                </c:pt>
                <c:pt idx="5">
                  <c:v>1972</c:v>
                </c:pt>
                <c:pt idx="6">
                  <c:v>2038</c:v>
                </c:pt>
                <c:pt idx="7">
                  <c:v>2054</c:v>
                </c:pt>
                <c:pt idx="8">
                  <c:v>2060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47556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8590A6"/>
                    </a:solidFill>
                    <a:latin typeface="Arial"/>
                  </a:rPr>
                  <a:t>adet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Günlük Kayıp Süresi (dk)</c:v>
                </c:pt>
              </c:strCache>
            </c:strRef>
          </c:tx>
          <c:spPr>
            <a:solidFill>
              <a:srgbClr val="1E2761"/>
            </a:solidFill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14.06</c:v>
                  </c:pt>
                  <c:pt idx="1">
                    <c:v>15.06</c:v>
                  </c:pt>
                  <c:pt idx="2">
                    <c:v>16.06</c:v>
                  </c:pt>
                  <c:pt idx="3">
                    <c:v>17.06</c:v>
                  </c:pt>
                  <c:pt idx="4">
                    <c:v>18.06</c:v>
                  </c:pt>
                  <c:pt idx="5">
                    <c:v>21.06</c:v>
                  </c:pt>
                  <c:pt idx="6">
                    <c:v>22.06</c:v>
                  </c:pt>
                  <c:pt idx="7">
                    <c:v>23.06</c:v>
                  </c:pt>
                  <c:pt idx="8">
                    <c:v>24.06</c:v>
                  </c:pt>
                  <c:pt idx="9">
                    <c:v>25.06</c:v>
                  </c:pt>
                  <c:pt idx="10">
                    <c:v>28.06</c:v>
                  </c:pt>
                  <c:pt idx="11">
                    <c:v>29.06</c:v>
                  </c:pt>
                  <c:pt idx="12">
                    <c:v>30.06</c:v>
                  </c:pt>
                  <c:pt idx="13">
                    <c:v>01.07</c:v>
                  </c:pt>
                  <c:pt idx="14">
                    <c:v>02.07</c:v>
                  </c:pt>
                  <c:pt idx="15">
                    <c:v>04.07</c:v>
                  </c:pt>
                  <c:pt idx="16">
                    <c:v>05.07</c:v>
                  </c:pt>
                  <c:pt idx="17">
                    <c:v>06.07</c:v>
                  </c:pt>
                  <c:pt idx="18">
                    <c:v>08.07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140</c:v>
                </c:pt>
                <c:pt idx="1">
                  <c:v>784</c:v>
                </c:pt>
                <c:pt idx="2">
                  <c:v>1099</c:v>
                </c:pt>
                <c:pt idx="3">
                  <c:v>1456</c:v>
                </c:pt>
                <c:pt idx="4">
                  <c:v>1600</c:v>
                </c:pt>
                <c:pt idx="5">
                  <c:v>826</c:v>
                </c:pt>
                <c:pt idx="6">
                  <c:v>1056</c:v>
                </c:pt>
                <c:pt idx="7">
                  <c:v>937</c:v>
                </c:pt>
                <c:pt idx="8">
                  <c:v>1061</c:v>
                </c:pt>
                <c:pt idx="9">
                  <c:v>903</c:v>
                </c:pt>
                <c:pt idx="10">
                  <c:v>490</c:v>
                </c:pt>
                <c:pt idx="11">
                  <c:v>1322</c:v>
                </c:pt>
                <c:pt idx="12">
                  <c:v>1056</c:v>
                </c:pt>
                <c:pt idx="13">
                  <c:v>986</c:v>
                </c:pt>
                <c:pt idx="14">
                  <c:v>569</c:v>
                </c:pt>
                <c:pt idx="15">
                  <c:v>382</c:v>
                </c:pt>
                <c:pt idx="16">
                  <c:v>475</c:v>
                </c:pt>
                <c:pt idx="17">
                  <c:v>721</c:v>
                </c:pt>
                <c:pt idx="18">
                  <c:v>28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Genel Trend</c:v>
                </c:pt>
              </c:strCache>
            </c:strRef>
          </c:tx>
          <c:spPr>
            <a:solidFill>
              <a:srgbClr val="B45309"/>
            </a:solidFill>
            <a:ln w="3175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14.06</c:v>
                  </c:pt>
                  <c:pt idx="1">
                    <c:v>15.06</c:v>
                  </c:pt>
                  <c:pt idx="2">
                    <c:v>16.06</c:v>
                  </c:pt>
                  <c:pt idx="3">
                    <c:v>17.06</c:v>
                  </c:pt>
                  <c:pt idx="4">
                    <c:v>18.06</c:v>
                  </c:pt>
                  <c:pt idx="5">
                    <c:v>21.06</c:v>
                  </c:pt>
                  <c:pt idx="6">
                    <c:v>22.06</c:v>
                  </c:pt>
                  <c:pt idx="7">
                    <c:v>23.06</c:v>
                  </c:pt>
                  <c:pt idx="8">
                    <c:v>24.06</c:v>
                  </c:pt>
                  <c:pt idx="9">
                    <c:v>25.06</c:v>
                  </c:pt>
                  <c:pt idx="10">
                    <c:v>28.06</c:v>
                  </c:pt>
                  <c:pt idx="11">
                    <c:v>29.06</c:v>
                  </c:pt>
                  <c:pt idx="12">
                    <c:v>30.06</c:v>
                  </c:pt>
                  <c:pt idx="13">
                    <c:v>01.07</c:v>
                  </c:pt>
                  <c:pt idx="14">
                    <c:v>02.07</c:v>
                  </c:pt>
                  <c:pt idx="15">
                    <c:v>04.07</c:v>
                  </c:pt>
                  <c:pt idx="16">
                    <c:v>05.07</c:v>
                  </c:pt>
                  <c:pt idx="17">
                    <c:v>06.07</c:v>
                  </c:pt>
                  <c:pt idx="18">
                    <c:v>08.07</c:v>
                  </c:pt>
                </c:lvl>
              </c:multiLvlStrCache>
            </c:multiLvl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1099.1</c:v>
                </c:pt>
                <c:pt idx="1">
                  <c:v>1069.9</c:v>
                </c:pt>
                <c:pt idx="2">
                  <c:v>1040.7</c:v>
                </c:pt>
                <c:pt idx="3">
                  <c:v>1011.5</c:v>
                </c:pt>
                <c:pt idx="4">
                  <c:v>982.3</c:v>
                </c:pt>
                <c:pt idx="5">
                  <c:v>953.1</c:v>
                </c:pt>
                <c:pt idx="6">
                  <c:v>923.9</c:v>
                </c:pt>
                <c:pt idx="7">
                  <c:v>894.8</c:v>
                </c:pt>
                <c:pt idx="8">
                  <c:v>865.6</c:v>
                </c:pt>
                <c:pt idx="9">
                  <c:v>836.4</c:v>
                </c:pt>
                <c:pt idx="10">
                  <c:v>807.2</c:v>
                </c:pt>
                <c:pt idx="11">
                  <c:v>778</c:v>
                </c:pt>
                <c:pt idx="12">
                  <c:v>748.8</c:v>
                </c:pt>
                <c:pt idx="13">
                  <c:v>719.6</c:v>
                </c:pt>
                <c:pt idx="14">
                  <c:v>690.4</c:v>
                </c:pt>
                <c:pt idx="15">
                  <c:v>661.2</c:v>
                </c:pt>
                <c:pt idx="16">
                  <c:v>632</c:v>
                </c:pt>
                <c:pt idx="17">
                  <c:v>602.8</c:v>
                </c:pt>
                <c:pt idx="18">
                  <c:v>573.6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850" b="0" i="0" u="none" strike="noStrike">
                    <a:solidFill>
                      <a:srgbClr val="8590A6"/>
                    </a:solidFill>
                    <a:latin typeface="Arial"/>
                  </a:rPr>
                  <a:t>dk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Ortalama Üretim (adet/gün)</c:v>
                </c:pt>
              </c:strCache>
            </c:strRef>
          </c:tx>
          <c:spPr>
            <a:solidFill>
              <a:srgbClr val="1E2761"/>
            </a:solidFill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13.06</c:v>
                  </c:pt>
                  <c:pt idx="1">
                    <c:v>14.06</c:v>
                  </c:pt>
                  <c:pt idx="2">
                    <c:v>15.06</c:v>
                  </c:pt>
                  <c:pt idx="3">
                    <c:v>16.06</c:v>
                  </c:pt>
                  <c:pt idx="4">
                    <c:v>17.06</c:v>
                  </c:pt>
                  <c:pt idx="5">
                    <c:v>18.06</c:v>
                  </c:pt>
                  <c:pt idx="6">
                    <c:v>21.06</c:v>
                  </c:pt>
                  <c:pt idx="7">
                    <c:v>22.06</c:v>
                  </c:pt>
                  <c:pt idx="8">
                    <c:v>23.06</c:v>
                  </c:pt>
                  <c:pt idx="9">
                    <c:v>24.06</c:v>
                  </c:pt>
                  <c:pt idx="10">
                    <c:v>25.06</c:v>
                  </c:pt>
                  <c:pt idx="11">
                    <c:v>26.06</c:v>
                  </c:pt>
                  <c:pt idx="12">
                    <c:v>28.06</c:v>
                  </c:pt>
                  <c:pt idx="13">
                    <c:v>29.06</c:v>
                  </c:pt>
                  <c:pt idx="14">
                    <c:v>30.06</c:v>
                  </c:pt>
                  <c:pt idx="15">
                    <c:v>01.07</c:v>
                  </c:pt>
                  <c:pt idx="16">
                    <c:v>02.07</c:v>
                  </c:pt>
                  <c:pt idx="17">
                    <c:v>04.07</c:v>
                  </c:pt>
                  <c:pt idx="18">
                    <c:v>05.07</c:v>
                  </c:pt>
                  <c:pt idx="19">
                    <c:v>06.07</c:v>
                  </c:pt>
                  <c:pt idx="20">
                    <c:v>08.07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80</c:v>
                </c:pt>
                <c:pt idx="1">
                  <c:v>112.7</c:v>
                </c:pt>
                <c:pt idx="2">
                  <c:v>72.8</c:v>
                </c:pt>
                <c:pt idx="3">
                  <c:v>85.1</c:v>
                </c:pt>
                <c:pt idx="4">
                  <c:v>80.4</c:v>
                </c:pt>
                <c:pt idx="5">
                  <c:v>125.4</c:v>
                </c:pt>
                <c:pt idx="6">
                  <c:v>114.4</c:v>
                </c:pt>
                <c:pt idx="7">
                  <c:v>119.4</c:v>
                </c:pt>
                <c:pt idx="8">
                  <c:v>98.5</c:v>
                </c:pt>
                <c:pt idx="9">
                  <c:v>107.8</c:v>
                </c:pt>
                <c:pt idx="10">
                  <c:v>117.1</c:v>
                </c:pt>
                <c:pt idx="11">
                  <c:v>107</c:v>
                </c:pt>
                <c:pt idx="12">
                  <c:v>126.4</c:v>
                </c:pt>
                <c:pt idx="13">
                  <c:v>108.6</c:v>
                </c:pt>
                <c:pt idx="14">
                  <c:v>115.9</c:v>
                </c:pt>
                <c:pt idx="15">
                  <c:v>117.8</c:v>
                </c:pt>
                <c:pt idx="16">
                  <c:v>130.8</c:v>
                </c:pt>
                <c:pt idx="17">
                  <c:v>93</c:v>
                </c:pt>
                <c:pt idx="18">
                  <c:v>116.6</c:v>
                </c:pt>
                <c:pt idx="19">
                  <c:v>123.1</c:v>
                </c:pt>
                <c:pt idx="20">
                  <c:v>32.3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Genel Trend</c:v>
                </c:pt>
              </c:strCache>
            </c:strRef>
          </c:tx>
          <c:spPr>
            <a:solidFill>
              <a:srgbClr val="B45309"/>
            </a:solidFill>
            <a:ln w="3175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13.06</c:v>
                  </c:pt>
                  <c:pt idx="1">
                    <c:v>14.06</c:v>
                  </c:pt>
                  <c:pt idx="2">
                    <c:v>15.06</c:v>
                  </c:pt>
                  <c:pt idx="3">
                    <c:v>16.06</c:v>
                  </c:pt>
                  <c:pt idx="4">
                    <c:v>17.06</c:v>
                  </c:pt>
                  <c:pt idx="5">
                    <c:v>18.06</c:v>
                  </c:pt>
                  <c:pt idx="6">
                    <c:v>21.06</c:v>
                  </c:pt>
                  <c:pt idx="7">
                    <c:v>22.06</c:v>
                  </c:pt>
                  <c:pt idx="8">
                    <c:v>23.06</c:v>
                  </c:pt>
                  <c:pt idx="9">
                    <c:v>24.06</c:v>
                  </c:pt>
                  <c:pt idx="10">
                    <c:v>25.06</c:v>
                  </c:pt>
                  <c:pt idx="11">
                    <c:v>26.06</c:v>
                  </c:pt>
                  <c:pt idx="12">
                    <c:v>28.06</c:v>
                  </c:pt>
                  <c:pt idx="13">
                    <c:v>29.06</c:v>
                  </c:pt>
                  <c:pt idx="14">
                    <c:v>30.06</c:v>
                  </c:pt>
                  <c:pt idx="15">
                    <c:v>01.07</c:v>
                  </c:pt>
                  <c:pt idx="16">
                    <c:v>02.07</c:v>
                  </c:pt>
                  <c:pt idx="17">
                    <c:v>04.07</c:v>
                  </c:pt>
                  <c:pt idx="18">
                    <c:v>05.07</c:v>
                  </c:pt>
                  <c:pt idx="19">
                    <c:v>06.07</c:v>
                  </c:pt>
                  <c:pt idx="20">
                    <c:v>08.07</c:v>
                  </c:pt>
                </c:lvl>
              </c:multiLvlStrCache>
            </c:multiLvl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100</c:v>
                </c:pt>
                <c:pt idx="1">
                  <c:v>100.4</c:v>
                </c:pt>
                <c:pt idx="2">
                  <c:v>100.8</c:v>
                </c:pt>
                <c:pt idx="3">
                  <c:v>101.2</c:v>
                </c:pt>
                <c:pt idx="4">
                  <c:v>101.6</c:v>
                </c:pt>
                <c:pt idx="5">
                  <c:v>102</c:v>
                </c:pt>
                <c:pt idx="6">
                  <c:v>102.4</c:v>
                </c:pt>
                <c:pt idx="7">
                  <c:v>102.8</c:v>
                </c:pt>
                <c:pt idx="8">
                  <c:v>103.2</c:v>
                </c:pt>
                <c:pt idx="9">
                  <c:v>103.6</c:v>
                </c:pt>
                <c:pt idx="10">
                  <c:v>104.1</c:v>
                </c:pt>
                <c:pt idx="11">
                  <c:v>104.5</c:v>
                </c:pt>
                <c:pt idx="12">
                  <c:v>104.9</c:v>
                </c:pt>
                <c:pt idx="13">
                  <c:v>105.3</c:v>
                </c:pt>
                <c:pt idx="14">
                  <c:v>105.7</c:v>
                </c:pt>
                <c:pt idx="15">
                  <c:v>106.1</c:v>
                </c:pt>
                <c:pt idx="16">
                  <c:v>106.5</c:v>
                </c:pt>
                <c:pt idx="17">
                  <c:v>106.9</c:v>
                </c:pt>
                <c:pt idx="18">
                  <c:v>107.3</c:v>
                </c:pt>
                <c:pt idx="19">
                  <c:v>107.7</c:v>
                </c:pt>
                <c:pt idx="20">
                  <c:v>108.1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850" b="0" i="0" u="none" strike="noStrike">
                    <a:solidFill>
                      <a:srgbClr val="8590A6"/>
                    </a:solidFill>
                    <a:latin typeface="Arial"/>
                  </a:rPr>
                  <a:t>adet/gün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Duruş Süresi (dk)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Pres</c:v>
                  </c:pt>
                  <c:pt idx="1">
                    <c:v>N602</c:v>
                  </c:pt>
                  <c:pt idx="2">
                    <c:v>ROB110-111</c:v>
                  </c:pt>
                  <c:pt idx="3">
                    <c:v>Flowform</c:v>
                  </c:pt>
                  <c:pt idx="4">
                    <c:v>ROB108</c:v>
                  </c:pt>
                  <c:pt idx="5">
                    <c:v>ROB104</c:v>
                  </c:pt>
                  <c:pt idx="6">
                    <c:v>Quench</c:v>
                  </c:pt>
                  <c:pt idx="7">
                    <c:v>ROB109</c:v>
                  </c:pt>
                  <c:pt idx="8">
                    <c:v>ETM</c:v>
                  </c:pt>
                  <c:pt idx="9">
                    <c:v>N603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2829</c:v>
                </c:pt>
                <c:pt idx="1">
                  <c:v>2288</c:v>
                </c:pt>
                <c:pt idx="2">
                  <c:v>2273</c:v>
                </c:pt>
                <c:pt idx="3">
                  <c:v>2094</c:v>
                </c:pt>
                <c:pt idx="4">
                  <c:v>2021</c:v>
                </c:pt>
                <c:pt idx="5">
                  <c:v>1826</c:v>
                </c:pt>
                <c:pt idx="6">
                  <c:v>1680</c:v>
                </c:pt>
                <c:pt idx="7">
                  <c:v>1479</c:v>
                </c:pt>
                <c:pt idx="8">
                  <c:v>672</c:v>
                </c:pt>
                <c:pt idx="9">
                  <c:v>544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Olay Sayısı</c:v>
                </c:pt>
              </c:strCache>
            </c:strRef>
          </c:tx>
          <c:spPr>
            <a:solidFill>
              <a:srgbClr val="B45309"/>
            </a:solidFill>
            <a:ln w="2540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Pres</c:v>
                  </c:pt>
                  <c:pt idx="1">
                    <c:v>N602</c:v>
                  </c:pt>
                  <c:pt idx="2">
                    <c:v>ROB110-111</c:v>
                  </c:pt>
                  <c:pt idx="3">
                    <c:v>Flowform</c:v>
                  </c:pt>
                  <c:pt idx="4">
                    <c:v>ROB108</c:v>
                  </c:pt>
                  <c:pt idx="5">
                    <c:v>ROB104</c:v>
                  </c:pt>
                  <c:pt idx="6">
                    <c:v>Quench</c:v>
                  </c:pt>
                  <c:pt idx="7">
                    <c:v>ROB109</c:v>
                  </c:pt>
                  <c:pt idx="8">
                    <c:v>ETM</c:v>
                  </c:pt>
                  <c:pt idx="9">
                    <c:v>N603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86</c:v>
                </c:pt>
                <c:pt idx="1">
                  <c:v>93</c:v>
                </c:pt>
                <c:pt idx="2">
                  <c:v>81</c:v>
                </c:pt>
                <c:pt idx="3">
                  <c:v>80</c:v>
                </c:pt>
                <c:pt idx="4">
                  <c:v>84</c:v>
                </c:pt>
                <c:pt idx="5">
                  <c:v>73</c:v>
                </c:pt>
                <c:pt idx="6">
                  <c:v>6</c:v>
                </c:pt>
                <c:pt idx="7">
                  <c:v>121</c:v>
                </c:pt>
                <c:pt idx="8">
                  <c:v>42</c:v>
                </c:pt>
                <c:pt idx="9">
                  <c:v>14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950" b="0" i="0" u="none" strike="noStrike">
                    <a:solidFill>
                      <a:srgbClr val="8590A6"/>
                    </a:solidFill>
                    <a:latin typeface="Arial"/>
                  </a:rPr>
                  <a:t>Duruş Süresi (dk)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in val="0"/>
        </c:scaling>
        <c:delete val="0"/>
        <c:axPos val="r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950" b="0" i="0" u="none" strike="noStrike">
                    <a:solidFill>
                      <a:srgbClr val="8590A6"/>
                    </a:solidFill>
                    <a:latin typeface="Arial"/>
                  </a:rPr>
                  <a:t>Olay Sayısı (Adet)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Kayıp Süresi (dk)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B45309"/>
              </a:solidFill>
              <a:effectLst/>
            </c:spPr>
          </c:dPt>
          <c:dPt>
            <c:idx val="2"/>
            <c:bubble3D val="0"/>
            <c:spPr>
              <a:solidFill>
                <a:srgbClr val="15803D"/>
              </a:solidFill>
              <a:effectLst/>
            </c:spPr>
          </c:dPt>
          <c:dPt>
            <c:idx val="3"/>
            <c:bubble3D val="0"/>
            <c:spPr>
              <a:solidFill>
                <a:srgbClr val="475569"/>
              </a:solidFill>
              <a:effectLst/>
            </c:spPr>
          </c:dPt>
          <c:dPt>
            <c:idx val="4"/>
            <c:bubble3D val="0"/>
            <c:spPr>
              <a:solidFill>
                <a:srgbClr val="94A3B8"/>
              </a:solidFill>
              <a:effectLst/>
            </c:spPr>
          </c:dPt>
          <c:dPt>
            <c:idx val="5"/>
            <c:bubble3D val="0"/>
            <c:spPr>
              <a:solidFill>
                <a:srgbClr val="CBD5E1"/>
              </a:solidFill>
              <a:effectLst/>
            </c:spPr>
          </c:dPt>
          <c:dPt>
            <c:idx val="6"/>
            <c:bubble3D val="0"/>
            <c:spPr>
              <a:solidFill>
                <a:srgbClr val="E2E8F0"/>
              </a:solidFill>
              <a:effectLst/>
            </c:spPr>
          </c:dPt>
          <c:dPt>
            <c:idx val="7"/>
            <c:bubble3D val="0"/>
            <c:spPr>
              <a:solidFill>
                <a:srgbClr val="E2E8F0"/>
              </a:solidFill>
              <a:effectLst/>
            </c:spPr>
          </c:dPt>
          <c:dPt>
            <c:idx val="8"/>
            <c:bubble3D val="0"/>
            <c:spPr>
              <a:solidFill>
                <a:srgbClr val="15803D"/>
              </a:solidFill>
              <a:effectLst/>
            </c:spPr>
          </c:dPt>
          <c:dPt>
            <c:idx val="9"/>
            <c:bubble3D val="0"/>
            <c:spPr>
              <a:solidFill>
                <a:srgbClr val="E2E8F0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Sheet1!$A$2:$A$11</c:f>
              <c:strCache>
                <c:ptCount val="10"/>
                <c:pt idx="0">
                  <c:v>Mekanik Arıza</c:v>
                </c:pt>
                <c:pt idx="1">
                  <c:v>Takım / Kalıp Değişimi</c:v>
                </c:pt>
                <c:pt idx="2">
                  <c:v>Elektrik Arıza</c:v>
                </c:pt>
                <c:pt idx="3">
                  <c:v>Müşteri Kaynaklı</c:v>
                </c:pt>
                <c:pt idx="4">
                  <c:v>Akışkan Arıza</c:v>
                </c:pt>
                <c:pt idx="5">
                  <c:v>Setup / Ayar</c:v>
                </c:pt>
                <c:pt idx="6">
                  <c:v>Diğer</c:v>
                </c:pt>
                <c:pt idx="7">
                  <c:v>Yardımcı Süreç Kayıpları</c:v>
                </c:pt>
                <c:pt idx="8">
                  <c:v>Kalite Kaynaklı</c:v>
                </c:pt>
                <c:pt idx="9">
                  <c:v>Müşteri / Kalite</c:v>
                </c:pt>
              </c:strCache>
            </c:strRef>
          </c:cat>
          <c:val>
            <c:numRef>
              <c:f>Sheet1!$B$2:$B$11</c:f>
              <c:numCache>
                <c:ptCount val="10"/>
                <c:pt idx="0">
                  <c:v>3754</c:v>
                </c:pt>
                <c:pt idx="1">
                  <c:v>3328</c:v>
                </c:pt>
                <c:pt idx="2">
                  <c:v>2440</c:v>
                </c:pt>
                <c:pt idx="3">
                  <c:v>2174</c:v>
                </c:pt>
                <c:pt idx="4">
                  <c:v>2063</c:v>
                </c:pt>
                <c:pt idx="5">
                  <c:v>1814</c:v>
                </c:pt>
                <c:pt idx="6">
                  <c:v>1122</c:v>
                </c:pt>
                <c:pt idx="7">
                  <c:v>648</c:v>
                </c:pt>
                <c:pt idx="8">
                  <c:v>343</c:v>
                </c:pt>
                <c:pt idx="9">
                  <c:v>20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Durum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590A6"/>
              </a:solidFill>
              <a:effectLst/>
            </c:spPr>
          </c:dPt>
          <c:dPt>
            <c:idx val="1"/>
            <c:bubble3D val="0"/>
            <c:spPr>
              <a:solidFill>
                <a:srgbClr val="15803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İşaretlenmemiş</c:v>
                </c:pt>
                <c:pt idx="1">
                  <c:v>Giderildi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295</c:v>
                </c:pt>
                <c:pt idx="1">
                  <c:v>23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Durum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45309"/>
              </a:solidFill>
              <a:effectLst/>
            </c:spPr>
          </c:dPt>
          <c:dPt>
            <c:idx val="1"/>
            <c:bubble3D val="0"/>
            <c:spPr>
              <a:solidFill>
                <a:srgbClr val="15803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Açık</c:v>
                </c:pt>
                <c:pt idx="1">
                  <c:v>Tamamlandı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60</c:v>
                </c:pt>
                <c:pt idx="1">
                  <c:v>14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943600" cy="59436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377440" y="4206240"/>
            <a:ext cx="4572000" cy="4572000"/>
          </a:xfrm>
          <a:prstGeom prst="ellipse">
            <a:avLst/>
          </a:prstGeom>
          <a:solidFill>
            <a:srgbClr val="1E2761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914400"/>
            <a:ext cx="822960" cy="822960"/>
          </a:xfrm>
          <a:prstGeom prst="ellipse">
            <a:avLst/>
          </a:prstGeom>
          <a:solidFill>
            <a:srgbClr val="CADCFC">
              <a:alpha val="90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115568"/>
            <a:ext cx="420624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1031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REPKON HF901 · SERİ ÜRETİM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25146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Performans Raporu</a:t>
            </a:r>
            <a:endParaRPr lang="en-US" sz="4400" dirty="0"/>
          </a:p>
        </p:txBody>
      </p:sp>
      <p:sp>
        <p:nvSpPr>
          <p:cNvPr id="8" name="Shape 5"/>
          <p:cNvSpPr/>
          <p:nvPr/>
        </p:nvSpPr>
        <p:spPr>
          <a:xfrm>
            <a:off x="822960" y="4892040"/>
            <a:ext cx="201168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Hücre Bazlı Üretim Adetleri (Haziran–Temmuz)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17320"/>
          <a:ext cx="1106424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Günlük Ortalama Üretim Adedi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10424160" y="3529584"/>
            <a:ext cx="109728" cy="10972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7" name="Text 4"/>
          <p:cNvSpPr/>
          <p:nvPr/>
        </p:nvSpPr>
        <p:spPr>
          <a:xfrm>
            <a:off x="10607040" y="34747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Nisan–Mayıs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10424160" y="3849624"/>
            <a:ext cx="109728" cy="1097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6"/>
          <p:cNvSpPr/>
          <p:nvPr/>
        </p:nvSpPr>
        <p:spPr>
          <a:xfrm>
            <a:off x="10607040" y="37947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Haziran–Temmuz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0424160" y="4169664"/>
            <a:ext cx="109728" cy="109728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1" name="Text 8"/>
          <p:cNvSpPr/>
          <p:nvPr/>
        </p:nvSpPr>
        <p:spPr>
          <a:xfrm>
            <a:off x="10607040" y="41148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 (Günlük 200)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743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3774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4577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0919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172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8064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8867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5209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9601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869680" y="5623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adet/gün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48640" y="17190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537835" y="1828800"/>
            <a:ext cx="1553337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091172" y="1828800"/>
            <a:ext cx="2510028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473827" y="176479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6" name="Shape 23"/>
          <p:cNvSpPr/>
          <p:nvPr/>
        </p:nvSpPr>
        <p:spPr>
          <a:xfrm>
            <a:off x="7027164" y="1764792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Shape 24"/>
          <p:cNvSpPr/>
          <p:nvPr/>
        </p:nvSpPr>
        <p:spPr>
          <a:xfrm>
            <a:off x="9537192" y="1764792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28" name="Text 25"/>
          <p:cNvSpPr/>
          <p:nvPr/>
        </p:nvSpPr>
        <p:spPr>
          <a:xfrm>
            <a:off x="5080635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81.5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6633972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126.8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5857304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+56%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7888986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+%58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48640" y="20665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ETM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505706" y="2176272"/>
            <a:ext cx="2842641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348347" y="2176272"/>
            <a:ext cx="2252853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41698" y="2112264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6" name="Shape 33"/>
          <p:cNvSpPr/>
          <p:nvPr/>
        </p:nvSpPr>
        <p:spPr>
          <a:xfrm>
            <a:off x="7284339" y="2112264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7" name="Shape 34"/>
          <p:cNvSpPr/>
          <p:nvPr/>
        </p:nvSpPr>
        <p:spPr>
          <a:xfrm>
            <a:off x="9537192" y="2112264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38" name="Text 35"/>
          <p:cNvSpPr/>
          <p:nvPr/>
        </p:nvSpPr>
        <p:spPr>
          <a:xfrm>
            <a:off x="4048506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6891147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134.3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5469827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+161%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8017574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+%49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548640" y="24140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ROB108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4265676" y="2523744"/>
            <a:ext cx="229743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563106" y="2523744"/>
            <a:ext cx="3038094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201668" y="2459736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46" name="Shape 43"/>
          <p:cNvSpPr/>
          <p:nvPr/>
        </p:nvSpPr>
        <p:spPr>
          <a:xfrm>
            <a:off x="6499098" y="2459736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7" name="Shape 44"/>
          <p:cNvSpPr/>
          <p:nvPr/>
        </p:nvSpPr>
        <p:spPr>
          <a:xfrm>
            <a:off x="9537192" y="2459736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48" name="Text 45"/>
          <p:cNvSpPr/>
          <p:nvPr/>
        </p:nvSpPr>
        <p:spPr>
          <a:xfrm>
            <a:off x="3808476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44.4</a:t>
            </a:r>
            <a:endParaRPr lang="en-US" sz="850" dirty="0"/>
          </a:p>
        </p:txBody>
      </p:sp>
      <p:sp>
        <p:nvSpPr>
          <p:cNvPr id="49" name="Text 46"/>
          <p:cNvSpPr/>
          <p:nvPr/>
        </p:nvSpPr>
        <p:spPr>
          <a:xfrm>
            <a:off x="6105906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111.4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4957191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+151%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7624953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+%80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548640" y="2761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Flowform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4310253" y="2871216"/>
            <a:ext cx="2225421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535674" y="2871216"/>
            <a:ext cx="3065526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246245" y="2807208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56" name="Shape 53"/>
          <p:cNvSpPr/>
          <p:nvPr/>
        </p:nvSpPr>
        <p:spPr>
          <a:xfrm>
            <a:off x="6471666" y="2807208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7" name="Shape 54"/>
          <p:cNvSpPr/>
          <p:nvPr/>
        </p:nvSpPr>
        <p:spPr>
          <a:xfrm>
            <a:off x="9537192" y="2807208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58" name="Text 55"/>
          <p:cNvSpPr/>
          <p:nvPr/>
        </p:nvSpPr>
        <p:spPr>
          <a:xfrm>
            <a:off x="3853053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45.7</a:t>
            </a:r>
            <a:endParaRPr lang="en-US" sz="850" dirty="0"/>
          </a:p>
        </p:txBody>
      </p:sp>
      <p:sp>
        <p:nvSpPr>
          <p:cNvPr id="59" name="Text 56"/>
          <p:cNvSpPr/>
          <p:nvPr/>
        </p:nvSpPr>
        <p:spPr>
          <a:xfrm>
            <a:off x="6078474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110.6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4965763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+142%</a:t>
            </a:r>
            <a:endParaRPr lang="en-US" sz="900" dirty="0"/>
          </a:p>
        </p:txBody>
      </p:sp>
      <p:sp>
        <p:nvSpPr>
          <p:cNvPr id="61" name="Text 58"/>
          <p:cNvSpPr/>
          <p:nvPr/>
        </p:nvSpPr>
        <p:spPr>
          <a:xfrm>
            <a:off x="7611237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+%81</a:t>
            </a:r>
            <a:endParaRPr lang="en-US" sz="900" dirty="0"/>
          </a:p>
        </p:txBody>
      </p:sp>
      <p:sp>
        <p:nvSpPr>
          <p:cNvPr id="62" name="Text 59"/>
          <p:cNvSpPr/>
          <p:nvPr/>
        </p:nvSpPr>
        <p:spPr>
          <a:xfrm>
            <a:off x="5486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ROB104</a:t>
            </a:r>
            <a:endParaRPr lang="en-US" sz="1200" dirty="0"/>
          </a:p>
        </p:txBody>
      </p:sp>
      <p:sp>
        <p:nvSpPr>
          <p:cNvPr id="63" name="Shape 60"/>
          <p:cNvSpPr/>
          <p:nvPr/>
        </p:nvSpPr>
        <p:spPr>
          <a:xfrm>
            <a:off x="4248531" y="3218688"/>
            <a:ext cx="2132838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381369" y="3218688"/>
            <a:ext cx="3219831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184523" y="3154680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66" name="Shape 63"/>
          <p:cNvSpPr/>
          <p:nvPr/>
        </p:nvSpPr>
        <p:spPr>
          <a:xfrm>
            <a:off x="6317361" y="315468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7" name="Shape 64"/>
          <p:cNvSpPr/>
          <p:nvPr/>
        </p:nvSpPr>
        <p:spPr>
          <a:xfrm>
            <a:off x="9537192" y="3154680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68" name="Text 65"/>
          <p:cNvSpPr/>
          <p:nvPr/>
        </p:nvSpPr>
        <p:spPr>
          <a:xfrm>
            <a:off x="3791331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43.9</a:t>
            </a:r>
            <a:endParaRPr lang="en-US" sz="850" dirty="0"/>
          </a:p>
        </p:txBody>
      </p:sp>
      <p:sp>
        <p:nvSpPr>
          <p:cNvPr id="69" name="Text 66"/>
          <p:cNvSpPr/>
          <p:nvPr/>
        </p:nvSpPr>
        <p:spPr>
          <a:xfrm>
            <a:off x="5924169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106.1</a:t>
            </a:r>
            <a:endParaRPr lang="en-US" sz="850" dirty="0"/>
          </a:p>
        </p:txBody>
      </p:sp>
      <p:sp>
        <p:nvSpPr>
          <p:cNvPr id="70" name="Text 67"/>
          <p:cNvSpPr/>
          <p:nvPr/>
        </p:nvSpPr>
        <p:spPr>
          <a:xfrm>
            <a:off x="4857750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+142%</a:t>
            </a:r>
            <a:endParaRPr lang="en-US" sz="900" dirty="0"/>
          </a:p>
        </p:txBody>
      </p:sp>
      <p:sp>
        <p:nvSpPr>
          <p:cNvPr id="71" name="Text 68"/>
          <p:cNvSpPr/>
          <p:nvPr/>
        </p:nvSpPr>
        <p:spPr>
          <a:xfrm>
            <a:off x="7534084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+%89</a:t>
            </a:r>
            <a:endParaRPr lang="en-US" sz="900" dirty="0"/>
          </a:p>
        </p:txBody>
      </p:sp>
      <p:sp>
        <p:nvSpPr>
          <p:cNvPr id="72" name="Text 69"/>
          <p:cNvSpPr/>
          <p:nvPr/>
        </p:nvSpPr>
        <p:spPr>
          <a:xfrm>
            <a:off x="548640" y="34564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N602-603</a:t>
            </a:r>
            <a:endParaRPr lang="en-US" sz="1200" dirty="0"/>
          </a:p>
        </p:txBody>
      </p:sp>
      <p:sp>
        <p:nvSpPr>
          <p:cNvPr id="73" name="Shape 70"/>
          <p:cNvSpPr/>
          <p:nvPr/>
        </p:nvSpPr>
        <p:spPr>
          <a:xfrm>
            <a:off x="4197096" y="3566160"/>
            <a:ext cx="1848231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6045327" y="3566160"/>
            <a:ext cx="3555873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4133088" y="350215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76" name="Shape 73"/>
          <p:cNvSpPr/>
          <p:nvPr/>
        </p:nvSpPr>
        <p:spPr>
          <a:xfrm>
            <a:off x="5981319" y="3502152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7" name="Shape 74"/>
          <p:cNvSpPr/>
          <p:nvPr/>
        </p:nvSpPr>
        <p:spPr>
          <a:xfrm>
            <a:off x="9537192" y="3502152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78" name="Text 75"/>
          <p:cNvSpPr/>
          <p:nvPr/>
        </p:nvSpPr>
        <p:spPr>
          <a:xfrm>
            <a:off x="3739896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42.4</a:t>
            </a:r>
            <a:endParaRPr lang="en-US" sz="850" dirty="0"/>
          </a:p>
        </p:txBody>
      </p:sp>
      <p:sp>
        <p:nvSpPr>
          <p:cNvPr id="79" name="Text 76"/>
          <p:cNvSpPr/>
          <p:nvPr/>
        </p:nvSpPr>
        <p:spPr>
          <a:xfrm>
            <a:off x="5588127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96.3</a:t>
            </a:r>
            <a:endParaRPr lang="en-US" sz="850" dirty="0"/>
          </a:p>
        </p:txBody>
      </p:sp>
      <p:sp>
        <p:nvSpPr>
          <p:cNvPr id="80" name="Text 77"/>
          <p:cNvSpPr/>
          <p:nvPr/>
        </p:nvSpPr>
        <p:spPr>
          <a:xfrm>
            <a:off x="4664012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+127%</a:t>
            </a:r>
            <a:endParaRPr lang="en-US" sz="900" dirty="0"/>
          </a:p>
        </p:txBody>
      </p:sp>
      <p:sp>
        <p:nvSpPr>
          <p:cNvPr id="81" name="Text 78"/>
          <p:cNvSpPr/>
          <p:nvPr/>
        </p:nvSpPr>
        <p:spPr>
          <a:xfrm>
            <a:off x="7366063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+%108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548640" y="38039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ROB109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4077081" y="3913632"/>
            <a:ext cx="2060829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6137910" y="3913632"/>
            <a:ext cx="3463290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4013073" y="3849624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86" name="Shape 83"/>
          <p:cNvSpPr/>
          <p:nvPr/>
        </p:nvSpPr>
        <p:spPr>
          <a:xfrm>
            <a:off x="6073902" y="3849624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7" name="Shape 84"/>
          <p:cNvSpPr/>
          <p:nvPr/>
        </p:nvSpPr>
        <p:spPr>
          <a:xfrm>
            <a:off x="9537192" y="3849624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88" name="Text 85"/>
          <p:cNvSpPr/>
          <p:nvPr/>
        </p:nvSpPr>
        <p:spPr>
          <a:xfrm>
            <a:off x="3619881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38.9</a:t>
            </a:r>
            <a:endParaRPr lang="en-US" sz="850" dirty="0"/>
          </a:p>
        </p:txBody>
      </p:sp>
      <p:sp>
        <p:nvSpPr>
          <p:cNvPr id="89" name="Text 86"/>
          <p:cNvSpPr/>
          <p:nvPr/>
        </p:nvSpPr>
        <p:spPr>
          <a:xfrm>
            <a:off x="5680710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99.0</a:t>
            </a:r>
            <a:endParaRPr lang="en-US" sz="850" dirty="0"/>
          </a:p>
        </p:txBody>
      </p:sp>
      <p:sp>
        <p:nvSpPr>
          <p:cNvPr id="90" name="Text 87"/>
          <p:cNvSpPr/>
          <p:nvPr/>
        </p:nvSpPr>
        <p:spPr>
          <a:xfrm>
            <a:off x="4650296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+154%</a:t>
            </a:r>
            <a:endParaRPr lang="en-US" sz="900" dirty="0"/>
          </a:p>
        </p:txBody>
      </p:sp>
      <p:sp>
        <p:nvSpPr>
          <p:cNvPr id="91" name="Text 88"/>
          <p:cNvSpPr/>
          <p:nvPr/>
        </p:nvSpPr>
        <p:spPr>
          <a:xfrm>
            <a:off x="7412355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+%102</a:t>
            </a:r>
            <a:endParaRPr lang="en-US" sz="900" dirty="0"/>
          </a:p>
        </p:txBody>
      </p:sp>
      <p:sp>
        <p:nvSpPr>
          <p:cNvPr id="92" name="Text 89"/>
          <p:cNvSpPr/>
          <p:nvPr/>
        </p:nvSpPr>
        <p:spPr>
          <a:xfrm>
            <a:off x="548640" y="41513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Quench</a:t>
            </a:r>
            <a:endParaRPr lang="en-US" sz="1200" dirty="0"/>
          </a:p>
        </p:txBody>
      </p:sp>
      <p:sp>
        <p:nvSpPr>
          <p:cNvPr id="93" name="Shape 90"/>
          <p:cNvSpPr/>
          <p:nvPr/>
        </p:nvSpPr>
        <p:spPr>
          <a:xfrm>
            <a:off x="4186809" y="4261104"/>
            <a:ext cx="1903095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6089904" y="4261104"/>
            <a:ext cx="3511296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4122801" y="4197096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96" name="Shape 93"/>
          <p:cNvSpPr/>
          <p:nvPr/>
        </p:nvSpPr>
        <p:spPr>
          <a:xfrm>
            <a:off x="6025896" y="4197096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7" name="Shape 94"/>
          <p:cNvSpPr/>
          <p:nvPr/>
        </p:nvSpPr>
        <p:spPr>
          <a:xfrm>
            <a:off x="9537192" y="4197096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98" name="Text 95"/>
          <p:cNvSpPr/>
          <p:nvPr/>
        </p:nvSpPr>
        <p:spPr>
          <a:xfrm>
            <a:off x="3729609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42.1</a:t>
            </a:r>
            <a:endParaRPr lang="en-US" sz="850" dirty="0"/>
          </a:p>
        </p:txBody>
      </p:sp>
      <p:sp>
        <p:nvSpPr>
          <p:cNvPr id="99" name="Text 96"/>
          <p:cNvSpPr/>
          <p:nvPr/>
        </p:nvSpPr>
        <p:spPr>
          <a:xfrm>
            <a:off x="5632704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97.6</a:t>
            </a:r>
            <a:endParaRPr lang="en-US" sz="850" dirty="0"/>
          </a:p>
        </p:txBody>
      </p:sp>
      <p:sp>
        <p:nvSpPr>
          <p:cNvPr id="100" name="Text 97"/>
          <p:cNvSpPr/>
          <p:nvPr/>
        </p:nvSpPr>
        <p:spPr>
          <a:xfrm>
            <a:off x="4681157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+132%</a:t>
            </a:r>
            <a:endParaRPr lang="en-US" sz="900" dirty="0"/>
          </a:p>
        </p:txBody>
      </p:sp>
      <p:sp>
        <p:nvSpPr>
          <p:cNvPr id="101" name="Text 98"/>
          <p:cNvSpPr/>
          <p:nvPr/>
        </p:nvSpPr>
        <p:spPr>
          <a:xfrm>
            <a:off x="7388352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+%105</a:t>
            </a:r>
            <a:endParaRPr lang="en-US" sz="900" dirty="0"/>
          </a:p>
        </p:txBody>
      </p:sp>
      <p:sp>
        <p:nvSpPr>
          <p:cNvPr id="102" name="Text 99"/>
          <p:cNvSpPr/>
          <p:nvPr/>
        </p:nvSpPr>
        <p:spPr>
          <a:xfrm>
            <a:off x="548640" y="44988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ROB110-111</a:t>
            </a:r>
            <a:endParaRPr lang="en-US" sz="1200" dirty="0"/>
          </a:p>
        </p:txBody>
      </p:sp>
      <p:sp>
        <p:nvSpPr>
          <p:cNvPr id="103" name="Shape 100"/>
          <p:cNvSpPr/>
          <p:nvPr/>
        </p:nvSpPr>
        <p:spPr>
          <a:xfrm>
            <a:off x="3994785" y="4608576"/>
            <a:ext cx="2342007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6336792" y="4608576"/>
            <a:ext cx="3264408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3930777" y="4544568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6272784" y="4544568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7" name="Shape 104"/>
          <p:cNvSpPr/>
          <p:nvPr/>
        </p:nvSpPr>
        <p:spPr>
          <a:xfrm>
            <a:off x="9537192" y="4544568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08" name="Text 105"/>
          <p:cNvSpPr/>
          <p:nvPr/>
        </p:nvSpPr>
        <p:spPr>
          <a:xfrm>
            <a:off x="3537585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36.5</a:t>
            </a:r>
            <a:endParaRPr lang="en-US" sz="850" dirty="0"/>
          </a:p>
        </p:txBody>
      </p:sp>
      <p:sp>
        <p:nvSpPr>
          <p:cNvPr id="109" name="Text 106"/>
          <p:cNvSpPr/>
          <p:nvPr/>
        </p:nvSpPr>
        <p:spPr>
          <a:xfrm>
            <a:off x="5879592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104.8</a:t>
            </a:r>
            <a:endParaRPr lang="en-US" sz="850" dirty="0"/>
          </a:p>
        </p:txBody>
      </p:sp>
      <p:sp>
        <p:nvSpPr>
          <p:cNvPr id="110" name="Text 107"/>
          <p:cNvSpPr/>
          <p:nvPr/>
        </p:nvSpPr>
        <p:spPr>
          <a:xfrm>
            <a:off x="4708589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+187%</a:t>
            </a:r>
            <a:endParaRPr lang="en-US" sz="900" dirty="0"/>
          </a:p>
        </p:txBody>
      </p:sp>
      <p:sp>
        <p:nvSpPr>
          <p:cNvPr id="111" name="Text 108"/>
          <p:cNvSpPr/>
          <p:nvPr/>
        </p:nvSpPr>
        <p:spPr>
          <a:xfrm>
            <a:off x="7511796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+%91</a:t>
            </a:r>
            <a:endParaRPr lang="en-US" sz="900" dirty="0"/>
          </a:p>
        </p:txBody>
      </p:sp>
      <p:sp>
        <p:nvSpPr>
          <p:cNvPr id="112" name="Text 10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113" name="Text 1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Azalışı ile Üretim Artışı İlişkisi (Haziran–Temmuz)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457200" y="16459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GÜNLÜK TOPLAM KAYIP TRENDİ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92024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57607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Yüksek: 1600 dk  ·  Günlük Ort: 836 dk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309360" y="16459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GÜNLÜK ORTALAMA ÜRETİM TRENDİ</a:t>
            </a:r>
            <a:endParaRPr lang="en-US" sz="13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6309360" y="192024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/>
          <p:nvPr/>
        </p:nvSpPr>
        <p:spPr>
          <a:xfrm>
            <a:off x="6309360" y="57607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Yüksek Ort: 130.8  ·  Dönem Ort: 104.1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OEE — Ekipman Etkinliği (Haziran–Temmuz)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 (Ekipman Etkinlik Oranı); kullanılabilirlik (Availability), performans (Performance) ve kalite (Quality) bileşenlerini birleştirerek hattın net verimliliğini ölçer.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07899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645920"/>
                <a:gridCol w="1645920"/>
                <a:gridCol w="1645920"/>
                <a:gridCol w="164592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Potansiyel Ort. (OEE %100)*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HAT ORTALAMASI (Zincirleme)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3949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Hücrenin Haziran–Temmuz dönemi gerçekleşen günlük ortalama üretim adedi ve hesaplanan OEE verimliliği baz alınarak, OEE %100 olsaydı ulaşabileceği teorik günlük ortalama üretimi gösterir.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MTBF ve MTTR — Arıza Bazlı Güvenilirlik (Haziran–Temmuz)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MTBF, ekipmanın iki arıza arasında ortalama ne kadar süre durmaksızın çalıştığını gösteren güvenilirlik metriğidir. MTTR ise meydana gelen bir arızanın giderilmesi için geçen ortalama tamir süresini ifade eder.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07899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377440"/>
                <a:gridCol w="237744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MTBF (dk)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MTTR (dk)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Arıza Kaydı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1086.8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362.7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Analizi (Pareto)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63040"/>
          <a:ext cx="11064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54864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Grafik: Pareto duruş süresi (bar, sol eksen) ve Duruş sıklığı (turuncu çizgi, sağ eksen), ilk 3 neden vurgulu. İlk 3 neden toplam duruş süresinin %42'ini oluşturmaktadır. Veriler 13.06.2026 sonrası seçili hücrelerin kategorize edilmiş duruş verileridir.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Analizi — Detay Kırılım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3474720"/>
                <a:gridCol w="347472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Payı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Duruş Sebebi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Aksiyon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Kalıp Montaj/Demontaj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Hidrolik Yağ Sıcaklığı Alarmı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Oransal Valf Kaynaklı Duruşlar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876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Tırnaklı Değişim/Salgı Kontrolleri/Offset Ayarlama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382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Lubrication Kaynaklı Sorunlar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Hatalı sensör değişimi/ braket eklenmesi ve dağıtıcı blok değişimi yapılmıştır. Sorunlar çözülmüştür.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1.477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Hidrolik Yağ Sıcaklığı Alarmı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İç Kumlama Makinesi Kaynaklı Duruş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Parça yükleme ve kumlama yapamama sorunlar yapılan ayarlar sonrasında giderilmiştir.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Punta Kaynak Makinesi Kaynaklı Duruş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Kaynak yapmama sorunu çözümü için kart siparişi verildi. Sahaya ulaşması akabinde değişim ve testler yapılacaktır.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Haberleşme Sorunu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Ezilen kablo tespit edilerek yenisi ile değiştirilmiştir. Sorun kalıcı olarak giderilmiştir.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Shuttle Konveyör Motor Arızası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 yenisi ile değiştirilmiş, hata tekrarlanmaması adına shuttle yavaşlama otomasyonu güncellenmiştir.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Türlerine Göre Dağılım — 13.06.2026 ve Sonrası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63040"/>
          <a:ext cx="53035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463040"/>
          <a:ext cx="53949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1097280"/>
                <a:gridCol w="914400"/>
              </a:tblGrid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Kayıp Türü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Duruş Sayısı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(%)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Mekanik Arıza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3.754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Takım / Kalıp Değişimi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3.328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Elektrik Arıza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2.440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Müşteri Kaynaklı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2.174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Akışkan Arıza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2.063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/ Ayar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1.122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Yardımcı Süreç Kayıpları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648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Kalite Kaynaklı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343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Müşteri / Kalite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48640" y="54864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Grafik: Kayıp kategorilerinin toplam duruş sürelerine göre yüzde dağılımı. Veriler 13.06.2026 sonrası seçili hücrelerin kategorize edilmiş duruş verileridir.</a:t>
            </a:r>
            <a:endParaRPr lang="en-US" sz="1050" dirty="0"/>
          </a:p>
        </p:txBody>
      </p:sp>
      <p:sp>
        <p:nvSpPr>
          <p:cNvPr id="9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Arıza Kayıtlarında Çözüm Takibi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463040"/>
          <a:ext cx="4206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88036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318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457200" y="34290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ARIZA OLAYI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029200" y="1463040"/>
            <a:ext cx="63093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5349240" y="16916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GÖZLEM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5349240" y="201168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Sistemde "arıza giderildi" alanı mevcut ancak sahada tutarlı doldurulmuyor: 318 arıza olayının sadece 23'ü (%7) çözüm olarak işaretlenmiş (957 / 9.610 dk). Bu, arızaların çözülmediği anlamına gelmiyor — takip alanının disiplinli kullanılmadığını gösteriyor.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029200" y="3474720"/>
            <a:ext cx="6309360" cy="1005840"/>
          </a:xfrm>
          <a:prstGeom prst="roundRect">
            <a:avLst>
              <a:gd name="adj" fmla="val 7273"/>
            </a:avLst>
          </a:prstGeom>
          <a:solidFill>
            <a:srgbClr val="EEF2FC"/>
          </a:solidFill>
          <a:ln/>
        </p:spPr>
      </p:sp>
      <p:sp>
        <p:nvSpPr>
          <p:cNvPr id="13" name="Text 9"/>
          <p:cNvSpPr/>
          <p:nvPr/>
        </p:nvSpPr>
        <p:spPr>
          <a:xfrm>
            <a:off x="5349240" y="368503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ÖNERİ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5349240" y="39776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Belirli bir süre üzerindeki arızalarda "giderildi" alanı ve çözüm açıklaması zorunlu hale getirilebilir; bu hem takip disiplinini hem de kök neden veri kalitesini artırır.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AKSİYON TAKİBİ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 Madde — Genel Durum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371600"/>
          <a:ext cx="4206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7889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457200" y="3337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MADDE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417320"/>
          <a:ext cx="6675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188720"/>
                <a:gridCol w="118872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Tamamlandı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Açık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Ölçüm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5029200" y="416052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Nisan-Mayıs döneminde tamamlanan madde sayısı sıfırdı; 14 maddenin tamamı Haziran-Temmuz'da kapatıldı.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Aksiyon Takibi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Müşteriden Talep Edilecekler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07899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5875">
            <a:solidFill>
              <a:srgbClr val="D8DEEC"/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>
            <a:off x="868680" y="1874520"/>
            <a:ext cx="2606040" cy="329184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1947672"/>
            <a:ext cx="182880" cy="1828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16152" y="1874520"/>
            <a:ext cx="2221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İçerik Bekliyor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868680" y="237744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bölümün madde listesi henüz kesinleşmedi. Sunum hazırlığı sırasında ilgili paydaşlarla birlikte netleştirilecek.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868680" y="301752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DOLDURULACAK ŞABLON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68680" y="3337560"/>
            <a:ext cx="10149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[Talep Konusu]  —  Gerekçe  —  Beklenen Katkı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 aday (bu oturumda netleşmedi): sunum hazırlığı sırasında ilgili paydaşlarla netleştirilecek.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Repkon HF901 Seri Üretim — Performans Raporu ve Aksiyon Talebi</dc:title>
  <dc:subject>PptxGenJS Presentation</dc:subject>
  <dc:creator>Repkon HF901</dc:creator>
  <cp:lastModifiedBy>Repkon HF901</cp:lastModifiedBy>
  <cp:revision>1</cp:revision>
  <dcterms:created xsi:type="dcterms:W3CDTF">2026-07-08T07:11:04Z</dcterms:created>
  <dcterms:modified xsi:type="dcterms:W3CDTF">2026-07-08T07:11:04Z</dcterms:modified>
</cp:coreProperties>
</file>