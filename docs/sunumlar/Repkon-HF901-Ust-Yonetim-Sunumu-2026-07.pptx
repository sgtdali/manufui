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5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Nisan–Mayıs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ETM</c:v>
                  </c:pt>
                  <c:pt idx="1">
                    <c:v>N602</c:v>
                  </c:pt>
                  <c:pt idx="2">
                    <c:v>ROB108</c:v>
                  </c:pt>
                  <c:pt idx="3">
                    <c:v>ROB109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373.5</c:v>
                </c:pt>
                <c:pt idx="1">
                  <c:v>95</c:v>
                </c:pt>
                <c:pt idx="2">
                  <c:v>84.9</c:v>
                </c:pt>
                <c:pt idx="3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Haziran–Temmuz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ETM</c:v>
                  </c:pt>
                  <c:pt idx="1">
                    <c:v>N602</c:v>
                  </c:pt>
                  <c:pt idx="2">
                    <c:v>ROB108</c:v>
                  </c:pt>
                  <c:pt idx="3">
                    <c:v>ROB109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132.5</c:v>
                </c:pt>
                <c:pt idx="1">
                  <c:v>81.2</c:v>
                </c:pt>
                <c:pt idx="2">
                  <c:v>34.4</c:v>
                </c:pt>
                <c:pt idx="3">
                  <c:v>87.1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8590A6"/>
                    </a:solidFill>
                    <a:latin typeface="Arial"/>
                  </a:rPr>
                  <a:t>dk / gün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Arıza</c:v>
                </c:pt>
              </c:strCache>
            </c:strRef>
          </c:tx>
          <c:spPr>
            <a:solidFill>
              <a:srgbClr val="B91C1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1544</c:v>
                </c:pt>
                <c:pt idx="1">
                  <c:v>917</c:v>
                </c:pt>
                <c:pt idx="2">
                  <c:v>939</c:v>
                </c:pt>
                <c:pt idx="3">
                  <c:v>849</c:v>
                </c:pt>
                <c:pt idx="4">
                  <c:v>869</c:v>
                </c:pt>
                <c:pt idx="5">
                  <c:v>1481</c:v>
                </c:pt>
                <c:pt idx="6">
                  <c:v>707</c:v>
                </c:pt>
                <c:pt idx="7">
                  <c:v>1080</c:v>
                </c:pt>
                <c:pt idx="8">
                  <c:v>1224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Planlı Duruş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750</c:v>
                </c:pt>
                <c:pt idx="1">
                  <c:v>89</c:v>
                </c:pt>
                <c:pt idx="2">
                  <c:v>729</c:v>
                </c:pt>
                <c:pt idx="3">
                  <c:v>633</c:v>
                </c:pt>
                <c:pt idx="4">
                  <c:v>1018</c:v>
                </c:pt>
                <c:pt idx="5">
                  <c:v>352</c:v>
                </c:pt>
                <c:pt idx="6">
                  <c:v>291</c:v>
                </c:pt>
                <c:pt idx="7">
                  <c:v>0</c:v>
                </c:pt>
                <c:pt idx="8">
                  <c:v>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Setup / Hazırlık</c:v>
                </c:pt>
              </c:strCache>
            </c:strRef>
          </c:tx>
          <c:spPr>
            <a:solidFill>
              <a:srgbClr val="4755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454</c:v>
                </c:pt>
                <c:pt idx="1">
                  <c:v>136</c:v>
                </c:pt>
                <c:pt idx="2">
                  <c:v>442</c:v>
                </c:pt>
                <c:pt idx="3">
                  <c:v>973</c:v>
                </c:pt>
                <c:pt idx="4">
                  <c:v>235</c:v>
                </c:pt>
                <c:pt idx="5">
                  <c:v>6</c:v>
                </c:pt>
                <c:pt idx="6">
                  <c:v>15</c:v>
                </c:pt>
                <c:pt idx="7">
                  <c:v>0</c:v>
                </c:pt>
                <c:pt idx="8">
                  <c:v>50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Takım / Kalıp</c:v>
                </c:pt>
              </c:strCache>
            </c:strRef>
          </c:tx>
          <c:spPr>
            <a:solidFill>
              <a:srgbClr val="8590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858</c:v>
                </c:pt>
                <c:pt idx="1">
                  <c:v>56</c:v>
                </c:pt>
                <c:pt idx="2">
                  <c:v>495</c:v>
                </c:pt>
                <c:pt idx="3">
                  <c:v>256</c:v>
                </c:pt>
                <c:pt idx="4">
                  <c:v>336</c:v>
                </c:pt>
                <c:pt idx="5">
                  <c:v>0</c:v>
                </c:pt>
                <c:pt idx="6">
                  <c:v>631</c:v>
                </c:pt>
                <c:pt idx="7">
                  <c:v>0</c:v>
                </c:pt>
                <c:pt idx="8">
                  <c:v>73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Önc. İst. Bekleme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0</c:v>
                </c:pt>
                <c:pt idx="1">
                  <c:v>2012</c:v>
                </c:pt>
                <c:pt idx="2">
                  <c:v>551</c:v>
                </c:pt>
                <c:pt idx="3">
                  <c:v>1658</c:v>
                </c:pt>
                <c:pt idx="4">
                  <c:v>1112</c:v>
                </c:pt>
                <c:pt idx="5">
                  <c:v>1137</c:v>
                </c:pt>
                <c:pt idx="6">
                  <c:v>1182</c:v>
                </c:pt>
                <c:pt idx="7">
                  <c:v>0</c:v>
                </c:pt>
                <c:pt idx="8">
                  <c:v>160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Mola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Sheet1!$G$2:$G$10</c:f>
              <c:numCache>
                <c:formatCode>General</c:formatCode>
                <c:ptCount val="9"/>
                <c:pt idx="0">
                  <c:v>0</c:v>
                </c:pt>
                <c:pt idx="1">
                  <c:v>585</c:v>
                </c:pt>
                <c:pt idx="2">
                  <c:v>1107</c:v>
                </c:pt>
                <c:pt idx="3">
                  <c:v>640</c:v>
                </c:pt>
                <c:pt idx="4">
                  <c:v>965</c:v>
                </c:pt>
                <c:pt idx="5">
                  <c:v>764</c:v>
                </c:pt>
                <c:pt idx="6">
                  <c:v>925</c:v>
                </c:pt>
                <c:pt idx="7">
                  <c:v>0</c:v>
                </c:pt>
                <c:pt idx="8">
                  <c:v>302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Müşteri / Kalite</c:v>
                </c:pt>
              </c:strCache>
            </c:strRef>
          </c:tx>
          <c:spPr>
            <a:solidFill>
              <a:srgbClr val="6B7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Sheet1!$H$2:$H$10</c:f>
              <c:numCache>
                <c:formatCode>General</c:formatCode>
                <c:ptCount val="9"/>
                <c:pt idx="0">
                  <c:v>30</c:v>
                </c:pt>
                <c:pt idx="1">
                  <c:v>70</c:v>
                </c:pt>
                <c:pt idx="2">
                  <c:v>60</c:v>
                </c:pt>
                <c:pt idx="3">
                  <c:v>220</c:v>
                </c:pt>
                <c:pt idx="4">
                  <c:v>0</c:v>
                </c:pt>
                <c:pt idx="5">
                  <c:v>55</c:v>
                </c:pt>
                <c:pt idx="6">
                  <c:v>134</c:v>
                </c:pt>
                <c:pt idx="7">
                  <c:v>480</c:v>
                </c:pt>
                <c:pt idx="8">
                  <c:v>326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dk (Haziran-Temmuz toplamı)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Arıza Süresi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Mekanik</c:v>
                  </c:pt>
                  <c:pt idx="1">
                    <c:v>Belirsiz</c:v>
                  </c:pt>
                  <c:pt idx="2">
                    <c:v>Elektrik</c:v>
                  </c:pt>
                  <c:pt idx="3">
                    <c:v>Akışkan</c:v>
                  </c:pt>
                  <c:pt idx="4">
                    <c:v>Pres (Lokasyon)</c:v>
                  </c:pt>
                  <c:pt idx="5">
                    <c:v>Robot</c:v>
                  </c:pt>
                  <c:pt idx="6">
                    <c:v>Bor Yağı Bitti</c:v>
                  </c:pt>
                  <c:pt idx="7">
                    <c:v>Ortak</c:v>
                  </c:pt>
                  <c:pt idx="8">
                    <c:v>Diğer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2119</c:v>
                </c:pt>
                <c:pt idx="1">
                  <c:v>1836</c:v>
                </c:pt>
                <c:pt idx="2">
                  <c:v>1367</c:v>
                </c:pt>
                <c:pt idx="3">
                  <c:v>1061</c:v>
                </c:pt>
                <c:pt idx="4">
                  <c:v>894</c:v>
                </c:pt>
                <c:pt idx="5">
                  <c:v>462</c:v>
                </c:pt>
                <c:pt idx="6">
                  <c:v>325</c:v>
                </c:pt>
                <c:pt idx="7">
                  <c:v>278</c:v>
                </c:pt>
                <c:pt idx="8">
                  <c:v>1268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50" b="0" i="0" u="none" strike="noStrike">
                    <a:solidFill>
                      <a:srgbClr val="8590A6"/>
                    </a:solidFill>
                    <a:latin typeface="Arial"/>
                  </a:rPr>
                  <a:t>dk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590A6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İşaretlenmemiş</c:v>
                </c:pt>
                <c:pt idx="1">
                  <c:v>Giderildi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295</c:v>
                </c:pt>
                <c:pt idx="1">
                  <c:v>23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45309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Açık</c:v>
                </c:pt>
                <c:pt idx="1">
                  <c:v>Tamamlandı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14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2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4572000" cy="45720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22960" cy="822960"/>
          </a:xfrm>
          <a:prstGeom prst="ellipse">
            <a:avLst/>
          </a:prstGeom>
          <a:solidFill>
            <a:srgbClr val="CADCFC">
              <a:alpha val="9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115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REPKON HF901 · SERİ ÜRETİM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5146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Performans Raporu ve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Aksiyon / Yatırım Talebi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4343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– Temmuz 2026 Değerlendirmesi  ·  12 Üretim Hücresi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48920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126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 Yönetim Sunumu · Temmuz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Sunumun Amacı ve Kapsamı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874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Aylık Performans Özeti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237744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– Temmuz döneminde 12 üretim hücresinin üretim adedi, duruş süreleri ve darboğaz göstergeleri veriye dayalı olarak özetlenir.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1874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Somut Aksiyon / Yatırım Talebi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492240" y="237744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durum raporu değil; açık aksiyon maddeleri, yatırım ihtiyaçları ve müşteriden talep edilecek konular için karar talebi içerir.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3886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 KURGUSU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4206240"/>
            <a:ext cx="10515600" cy="868680"/>
          </a:xfrm>
          <a:prstGeom prst="roundRect">
            <a:avLst>
              <a:gd name="adj" fmla="val 8421"/>
            </a:avLst>
          </a:prstGeom>
          <a:solidFill>
            <a:srgbClr val="EEF2FC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420624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– Mayıs: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kısa özet. 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 – Temmuz: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atılan aksiyonların sonuçları detaylı işlenir. Sunumun ağırlığı Haziran sonrası ilerlemededir — veri bu kurguyu destekliyor.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5257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KAPSAM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</a:t>
            </a:r>
            <a:endParaRPr lang="en-US" sz="870" dirty="0"/>
          </a:p>
        </p:txBody>
      </p:sp>
      <p:sp>
        <p:nvSpPr>
          <p:cNvPr id="18" name="Shape 15"/>
          <p:cNvSpPr/>
          <p:nvPr/>
        </p:nvSpPr>
        <p:spPr>
          <a:xfrm>
            <a:off x="1444752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1444752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</a:t>
            </a:r>
            <a:endParaRPr lang="en-US" sz="870" dirty="0"/>
          </a:p>
        </p:txBody>
      </p:sp>
      <p:sp>
        <p:nvSpPr>
          <p:cNvPr id="20" name="Shape 17"/>
          <p:cNvSpPr/>
          <p:nvPr/>
        </p:nvSpPr>
        <p:spPr>
          <a:xfrm>
            <a:off x="2340864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1" name="Text 18"/>
          <p:cNvSpPr/>
          <p:nvPr/>
        </p:nvSpPr>
        <p:spPr>
          <a:xfrm>
            <a:off x="2340864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</a:t>
            </a:r>
            <a:endParaRPr lang="en-US" sz="870" dirty="0"/>
          </a:p>
        </p:txBody>
      </p:sp>
      <p:sp>
        <p:nvSpPr>
          <p:cNvPr id="22" name="Shape 19"/>
          <p:cNvSpPr/>
          <p:nvPr/>
        </p:nvSpPr>
        <p:spPr>
          <a:xfrm>
            <a:off x="3236976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3" name="Text 20"/>
          <p:cNvSpPr/>
          <p:nvPr/>
        </p:nvSpPr>
        <p:spPr>
          <a:xfrm>
            <a:off x="3236976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</a:t>
            </a:r>
            <a:endParaRPr lang="en-US" sz="870" dirty="0"/>
          </a:p>
        </p:txBody>
      </p:sp>
      <p:sp>
        <p:nvSpPr>
          <p:cNvPr id="24" name="Shape 21"/>
          <p:cNvSpPr/>
          <p:nvPr/>
        </p:nvSpPr>
        <p:spPr>
          <a:xfrm>
            <a:off x="4133088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5" name="Text 22"/>
          <p:cNvSpPr/>
          <p:nvPr/>
        </p:nvSpPr>
        <p:spPr>
          <a:xfrm>
            <a:off x="4133088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</a:t>
            </a:r>
            <a:endParaRPr lang="en-US" sz="870" dirty="0"/>
          </a:p>
        </p:txBody>
      </p:sp>
      <p:sp>
        <p:nvSpPr>
          <p:cNvPr id="26" name="Shape 23"/>
          <p:cNvSpPr/>
          <p:nvPr/>
        </p:nvSpPr>
        <p:spPr>
          <a:xfrm>
            <a:off x="5029200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5029200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</a:t>
            </a:r>
            <a:endParaRPr lang="en-US" sz="870" dirty="0"/>
          </a:p>
        </p:txBody>
      </p:sp>
      <p:sp>
        <p:nvSpPr>
          <p:cNvPr id="28" name="Shape 25"/>
          <p:cNvSpPr/>
          <p:nvPr/>
        </p:nvSpPr>
        <p:spPr>
          <a:xfrm>
            <a:off x="5925312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9" name="Text 26"/>
          <p:cNvSpPr/>
          <p:nvPr/>
        </p:nvSpPr>
        <p:spPr>
          <a:xfrm>
            <a:off x="5925312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N603</a:t>
            </a:r>
            <a:endParaRPr lang="en-US" sz="870" dirty="0"/>
          </a:p>
        </p:txBody>
      </p:sp>
      <p:sp>
        <p:nvSpPr>
          <p:cNvPr id="30" name="Shape 27"/>
          <p:cNvSpPr/>
          <p:nvPr/>
        </p:nvSpPr>
        <p:spPr>
          <a:xfrm>
            <a:off x="6821424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1" name="Text 28"/>
          <p:cNvSpPr/>
          <p:nvPr/>
        </p:nvSpPr>
        <p:spPr>
          <a:xfrm>
            <a:off x="6821424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</a:t>
            </a:r>
            <a:endParaRPr lang="en-US" sz="870" dirty="0"/>
          </a:p>
        </p:txBody>
      </p:sp>
      <p:sp>
        <p:nvSpPr>
          <p:cNvPr id="32" name="Shape 29"/>
          <p:cNvSpPr/>
          <p:nvPr/>
        </p:nvSpPr>
        <p:spPr>
          <a:xfrm>
            <a:off x="7717536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3" name="Text 30"/>
          <p:cNvSpPr/>
          <p:nvPr/>
        </p:nvSpPr>
        <p:spPr>
          <a:xfrm>
            <a:off x="7717536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</a:t>
            </a:r>
            <a:endParaRPr lang="en-US" sz="870" dirty="0"/>
          </a:p>
        </p:txBody>
      </p:sp>
      <p:sp>
        <p:nvSpPr>
          <p:cNvPr id="34" name="Shape 31"/>
          <p:cNvSpPr/>
          <p:nvPr/>
        </p:nvSpPr>
        <p:spPr>
          <a:xfrm>
            <a:off x="8613648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5" name="Text 32"/>
          <p:cNvSpPr/>
          <p:nvPr/>
        </p:nvSpPr>
        <p:spPr>
          <a:xfrm>
            <a:off x="8613648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</a:t>
            </a:r>
            <a:endParaRPr lang="en-US" sz="870" dirty="0"/>
          </a:p>
        </p:txBody>
      </p:sp>
      <p:sp>
        <p:nvSpPr>
          <p:cNvPr id="36" name="Shape 33"/>
          <p:cNvSpPr/>
          <p:nvPr/>
        </p:nvSpPr>
        <p:spPr>
          <a:xfrm>
            <a:off x="9509760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7" name="Text 34"/>
          <p:cNvSpPr/>
          <p:nvPr/>
        </p:nvSpPr>
        <p:spPr>
          <a:xfrm>
            <a:off x="9509760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Fosfat</a:t>
            </a:r>
            <a:endParaRPr lang="en-US" sz="870" dirty="0"/>
          </a:p>
        </p:txBody>
      </p:sp>
      <p:sp>
        <p:nvSpPr>
          <p:cNvPr id="38" name="Shape 35"/>
          <p:cNvSpPr/>
          <p:nvPr/>
        </p:nvSpPr>
        <p:spPr>
          <a:xfrm>
            <a:off x="10405872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9" name="Text 36"/>
          <p:cNvSpPr/>
          <p:nvPr/>
        </p:nvSpPr>
        <p:spPr>
          <a:xfrm>
            <a:off x="10405872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Boya</a:t>
            </a:r>
            <a:endParaRPr lang="en-US" sz="870" dirty="0"/>
          </a:p>
        </p:txBody>
      </p:sp>
      <p:sp>
        <p:nvSpPr>
          <p:cNvPr id="40" name="Text 3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Hücre — Günlük Ortalama Üretim Adedi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Karşılaştırma günlük ortalama bazındadır (dönemlerdeki kayıtlı gün sayısı farklı olduğundan toplamlar yerine ortalama kullanılmıştır).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07899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651760"/>
                <a:gridCol w="2651760"/>
                <a:gridCol w="173736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Nisan–Mayıs (adet/gün)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Haziran–Temmuz (adet/gün)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Hücre — Önceki İstasyon Bekleme Süresi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  <a:gridCol w="118872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Nisan–Mayıs (dk/gün)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Haziran–Temmuz (dk/gün)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ilk istasyon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498080" y="141732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8" name="Text 4"/>
          <p:cNvSpPr/>
          <p:nvPr/>
        </p:nvSpPr>
        <p:spPr>
          <a:xfrm>
            <a:off x="7726680" y="15087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+195%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7726680" y="213055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Hücre başına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ortalama üretim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498080" y="292608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11" name="Text 7"/>
          <p:cNvSpPr/>
          <p:nvPr/>
        </p:nvSpPr>
        <p:spPr>
          <a:xfrm>
            <a:off x="7726680" y="30175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-46%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7726680" y="363931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Ortalama önceki istasyon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bekleme süresi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7498080" y="443484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14" name="Text 10"/>
          <p:cNvSpPr/>
          <p:nvPr/>
        </p:nvSpPr>
        <p:spPr>
          <a:xfrm>
            <a:off x="7726680" y="45262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/ 74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7726680" y="514807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Haziran-Temmuz'da kapanan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maddesi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48640" y="5989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ROB109 hücresinde bekleme günlük ortalamada arttı (63,0 → 87,1 dk) — Quench / N602-N603 çıktı dalgalanmasına bağlı yeni darboğaz riski, izleniyor.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Hücreler Arası Akış Sırası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272284" y="1828800"/>
            <a:ext cx="256032" cy="25603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414016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2414016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046220" y="1828800"/>
            <a:ext cx="256032" cy="25603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187952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3" name="Text 8"/>
          <p:cNvSpPr/>
          <p:nvPr/>
        </p:nvSpPr>
        <p:spPr>
          <a:xfrm>
            <a:off x="4187952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</a:t>
            </a:r>
            <a:endParaRPr lang="en-US" sz="12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5820156" y="1828800"/>
            <a:ext cx="256032" cy="25603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5961888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6" name="Text 10"/>
          <p:cNvSpPr/>
          <p:nvPr/>
        </p:nvSpPr>
        <p:spPr>
          <a:xfrm>
            <a:off x="5961888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</a:t>
            </a:r>
            <a:endParaRPr lang="en-US" sz="12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7594092" y="1828800"/>
            <a:ext cx="256032" cy="256032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7735824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9" name="Text 12"/>
          <p:cNvSpPr/>
          <p:nvPr/>
        </p:nvSpPr>
        <p:spPr>
          <a:xfrm>
            <a:off x="7735824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</a:t>
            </a:r>
            <a:endParaRPr lang="en-US" sz="12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9368028" y="1828800"/>
            <a:ext cx="256032" cy="256032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9509760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8590A6"/>
          </a:solidFill>
          <a:ln/>
        </p:spPr>
      </p:sp>
      <p:sp>
        <p:nvSpPr>
          <p:cNvPr id="22" name="Text 14"/>
          <p:cNvSpPr/>
          <p:nvPr/>
        </p:nvSpPr>
        <p:spPr>
          <a:xfrm>
            <a:off x="9509760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 / N603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640080" y="2386584"/>
            <a:ext cx="10497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 ve N603 paralel çalışır; ikisi de ROB104'ten beslenir, ikisi de ROB109'a gönderir.</a:t>
            </a:r>
            <a:endParaRPr lang="en-US" sz="95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544" y="2834640"/>
            <a:ext cx="292608" cy="292608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40080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6" name="Text 17"/>
          <p:cNvSpPr/>
          <p:nvPr/>
        </p:nvSpPr>
        <p:spPr>
          <a:xfrm>
            <a:off x="640080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</a:t>
            </a:r>
            <a:endParaRPr lang="en-US" sz="120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6200000">
            <a:off x="2386584" y="3584448"/>
            <a:ext cx="256032" cy="256032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2715768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9" name="Text 19"/>
          <p:cNvSpPr/>
          <p:nvPr/>
        </p:nvSpPr>
        <p:spPr>
          <a:xfrm>
            <a:off x="2715768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</a:t>
            </a:r>
            <a:endParaRPr lang="en-US" sz="1200" dirty="0"/>
          </a:p>
        </p:txBody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6200000">
            <a:off x="4462272" y="3584448"/>
            <a:ext cx="256032" cy="256032"/>
          </a:xfrm>
          <a:prstGeom prst="rect">
            <a:avLst/>
          </a:prstGeom>
        </p:spPr>
      </p:pic>
      <p:sp>
        <p:nvSpPr>
          <p:cNvPr id="31" name="Shape 20"/>
          <p:cNvSpPr/>
          <p:nvPr/>
        </p:nvSpPr>
        <p:spPr>
          <a:xfrm>
            <a:off x="4791456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32" name="Text 21"/>
          <p:cNvSpPr/>
          <p:nvPr/>
        </p:nvSpPr>
        <p:spPr>
          <a:xfrm>
            <a:off x="4791456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</a:t>
            </a:r>
            <a:endParaRPr lang="en-US" sz="1200" dirty="0"/>
          </a:p>
        </p:txBody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0">
            <a:off x="6537960" y="3584448"/>
            <a:ext cx="256032" cy="256032"/>
          </a:xfrm>
          <a:prstGeom prst="rect">
            <a:avLst/>
          </a:prstGeom>
        </p:spPr>
      </p:pic>
      <p:sp>
        <p:nvSpPr>
          <p:cNvPr id="34" name="Shape 22"/>
          <p:cNvSpPr/>
          <p:nvPr/>
        </p:nvSpPr>
        <p:spPr>
          <a:xfrm>
            <a:off x="6867144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35" name="Text 23"/>
          <p:cNvSpPr/>
          <p:nvPr/>
        </p:nvSpPr>
        <p:spPr>
          <a:xfrm>
            <a:off x="6867144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Fosfat</a:t>
            </a:r>
            <a:endParaRPr lang="en-US" sz="120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0">
            <a:off x="8613648" y="3584448"/>
            <a:ext cx="256032" cy="256032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8942832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8590A6"/>
          </a:solidFill>
          <a:ln/>
        </p:spPr>
      </p:sp>
      <p:sp>
        <p:nvSpPr>
          <p:cNvPr id="38" name="Text 25"/>
          <p:cNvSpPr/>
          <p:nvPr/>
        </p:nvSpPr>
        <p:spPr>
          <a:xfrm>
            <a:off x="8942832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Boya</a:t>
            </a:r>
            <a:endParaRPr lang="en-US" sz="1200" dirty="0"/>
          </a:p>
        </p:txBody>
      </p:sp>
      <p:sp>
        <p:nvSpPr>
          <p:cNvPr id="39" name="Shape 26"/>
          <p:cNvSpPr/>
          <p:nvPr/>
        </p:nvSpPr>
        <p:spPr>
          <a:xfrm>
            <a:off x="640080" y="4498848"/>
            <a:ext cx="10332720" cy="777240"/>
          </a:xfrm>
          <a:prstGeom prst="roundRect">
            <a:avLst>
              <a:gd name="adj" fmla="val 9412"/>
            </a:avLst>
          </a:prstGeom>
          <a:solidFill>
            <a:srgbClr val="EEF2FC"/>
          </a:solidFill>
          <a:ln/>
        </p:spPr>
      </p:sp>
      <p:sp>
        <p:nvSpPr>
          <p:cNvPr id="40" name="Text 27"/>
          <p:cNvSpPr/>
          <p:nvPr/>
        </p:nvSpPr>
        <p:spPr>
          <a:xfrm>
            <a:off x="914400" y="449884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 ve ROB108,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Pres'in hemen ardından gelen istasyonlar olarak en yüksek upstream bekleme baskısını taşıyordu. Bu analizde odak buradadır.</a:t>
            </a:r>
            <a:endParaRPr lang="en-US" sz="1250" dirty="0"/>
          </a:p>
        </p:txBody>
      </p:sp>
      <p:sp>
        <p:nvSpPr>
          <p:cNvPr id="41" name="Text 2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Analizi</a:t>
            </a:r>
            <a:endParaRPr lang="en-US" sz="900" dirty="0"/>
          </a:p>
        </p:txBody>
      </p:sp>
      <p:sp>
        <p:nvSpPr>
          <p:cNvPr id="42" name="Text 2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Önceki İstasyon Bekleme Trendi (dk/gün)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463040"/>
          <a:ext cx="108813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 ve ROB108'de bekleme belirgin şekilde düştü; N602 ılımlı iyileşti. ROB109 istisna oluşturuyor ve ayrıca izleniyor (bkz. Genel Bakış notu).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Kök Neden Özeti ve Alınan Aksiyonlar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53492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7830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Kök Nedenler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402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Hücreler arası hız/hazırlık dengesizliği (Pres sonrası istasyonlarda birikme)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Tekrarlayan ekipman arızaları — özellikle N603 titreşim problemi (Nisan)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Flowform'da yağlama ve ejektör kaynaklı mekanik duruşlar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508760"/>
            <a:ext cx="53492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17830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Alınan Aksiyonlar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22402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N602-N603 indüksiyon fırını coil yükseltme plakası revize edildi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 çalışan makine sayısına göre dinamik hedef sistemi kuruldu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Flowform'da 6 mekanik madde (ejektör, yağlama, kalıp yıkama) Haziran sonunda kapatıldı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4983480"/>
            <a:ext cx="1042416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4983480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Sonuç: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bekleme, ortalama hücre bazında %46 azaldı; üretim adetleri günlük ortalamada yaklaşık 3 katına çıktı. ROB109 istisnası hariç, darboğaz baskısı hattın geneline yayılmış durumdan tekil noktalara geriledi.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Analizi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Toplam Duruş Yükü — Genel Görünüm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önceki istasyon bekleme değil; arıza, planlı duruş, setup/hazırlık, takım-kalıp değişimi, mola ve müşteri/kalite kaynaklı duruşların tamamı bu bölümde derinlemesine incelenir.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9.610 dk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31520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Haziran–Temmuz toplam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arıza süresi (~160 saat, 11 hücre)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27832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3410712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-51,7%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410712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Nisan-Mayıs'a göre toplam arıza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dakikası değişimi (19.899 → 9.610 dk)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07024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4" name="Text 11"/>
          <p:cNvSpPr/>
          <p:nvPr/>
        </p:nvSpPr>
        <p:spPr>
          <a:xfrm>
            <a:off x="6089904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Belirsiz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089904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sık arıza nedeni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(1.836 dk / 78 olay)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586216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/>
          <p:nvPr/>
        </p:nvSpPr>
        <p:spPr>
          <a:xfrm>
            <a:off x="8769096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%7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769096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Arıza olaylarının 'giderildi' olarak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işaretlenme oranı (23 / 318 olay)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43434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Aşağıdaki sayfalarda: duruş kategorilerinin hücrelere dağılımı, üretim hacmine göre normalize edilmiş arıza yoğunluğu, en sık nedenler (Pareto), hücre bazlı baskın neden ve tekrarlayan somut sorunlar ele alınır.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Duruş Kategorileri — Zaman Nereye Gidiyor?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371600"/>
          <a:ext cx="112471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56235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dakikadır (hücrelerin kayıtlı gün sayısı farklı olduğundan günlük ortalama değildir — yoğunluk karşılaştırması için bir sonraki sayfaya bakınız). Boya ve Fosfat'ta bu dönemde veri girişi olmadığından grafiğe dahil edilmemiştir.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Arıza Yoğunluğu — Üretime Oranlı Karşılaştırma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Mutlak arıza dakikası, üretim hacmi arttıkça doğal olarak artabilir. Bu tablo arızayı üretilen 100 adet başına dakika olarak normalize eder; böylece hücreler arası ve dönemler arası karşılaştırma daha adil olur.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07899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651760"/>
                <a:gridCol w="2651760"/>
                <a:gridCol w="173736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Nisan–Mayıs (dk/100 adet)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Haziran–Temmuz (dk/100 adet)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sorun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623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 ve ROB110-111'de arıza yoğunluğu belirgin arttı — üretim artışıyla açıklanamayacak kadar büyük (+444% / +204%). Quench'te Haziran-Temmuz'da yeni bir arıza kaynağı ortaya çıktı (bkz. 29 Haziran olayı).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Sık Arıza Nedenleri — Tüm Hat (Haz-Tem)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10789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"Belirsiz" kategorisi 1.836 dk (%19) ile 2. sırada — kök nedeni etiketlenmemiş arızaların payı yüksek. "Diğer" grubu: Talaş Arabası Dolu, Pres Öncesi/Sonrası, Çıkış Konveyörü Dolu ve hiç neden kodu girilmemiş kayıtların (251 dk) toplamıdır.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Baskın Arıza Nedeni (Haz-Tem)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2011680"/>
                <a:gridCol w="16459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Baskın Neden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Olay Sayısı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(lokasyon bazlı)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Belirsiz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Akışkan (hidrolik yağ sıcaklığı)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Titreşim — Çözüldü (bkz. Öne Çıkan Sorunlar)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6.810 → 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Belirsiz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N602'deki hidrolik yağ sıcaklığı sorunu N603'ün titreşim probleminin de kaynağıydı; kök nedeni ortak (bkz. Slayt — N603 Titreşim vakası).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Aynı Açıklamayla ≥3 Kez Tekrarlanan Duruşlar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  <a:gridCol w="11887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Tekrar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+ 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"Fabrikada elektrik yok" — tesis geneli kesinti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+ 4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[Hidrolik Yağ Sıcaklık Alarmı]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Hidrolik yağ sıcaklığı yükselmesi (N603 titreşim kökeni)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Haberleşme hatası / problemi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Shuttle motor mili arızası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+ 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Cnc tezgah takım kırılması ve yatak ayarı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+ 3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074920"/>
            <a:ext cx="1078992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8" name="Text 4"/>
          <p:cNvSpPr/>
          <p:nvPr/>
        </p:nvSpPr>
        <p:spPr>
          <a:xfrm>
            <a:off x="868680" y="5074920"/>
            <a:ext cx="10149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bulgu: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ROB110-111'deki tekrarlayan haberleşme hatası (6 olay, 236 dk) hiçbir aksiyon maddesinde henüz ele alınmamış. "Fabrikada elektrik yok" kaydı aynı gün iki ayrı hücrede girilmiş — tek bir tesis geneli kesinti, çift kayıt değil.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Arıza Kayıtlarında Çözüm Takibi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880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318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ARIZA OLAYI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029200" y="1463040"/>
            <a:ext cx="63093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5349240" y="1691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349240" y="20116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Sistemde "arıza giderildi" alanı mevcut ancak sahada tutarlı doldurulmuyor: 318 arıza olayının sadece 23'ü (%7) çözüm olarak işaretlenmiş (957 / 9.610 dk). Bu, arızaların çözülmediği anlamına gelmiyor — takip alanının disiplinli kullanılmadığını gösteriyor.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029200" y="3474720"/>
            <a:ext cx="6309360" cy="1005840"/>
          </a:xfrm>
          <a:prstGeom prst="roundRect">
            <a:avLst>
              <a:gd name="adj" fmla="val 7273"/>
            </a:avLst>
          </a:prstGeom>
          <a:solidFill>
            <a:srgbClr val="EEF2FC"/>
          </a:solidFill>
          <a:ln/>
        </p:spPr>
      </p:sp>
      <p:sp>
        <p:nvSpPr>
          <p:cNvPr id="13" name="Text 9"/>
          <p:cNvSpPr/>
          <p:nvPr/>
        </p:nvSpPr>
        <p:spPr>
          <a:xfrm>
            <a:off x="5349240" y="36850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ÖNERİ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349240" y="39776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Belirli bir süre üzerindeki arızalarda "giderildi" alanı ve çözüm açıklaması zorunlu hale getirilebilir; bu hem takip disiplinini hem de kök neden veri kalitesini artırır.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N603 Hücresi — Titreşim Problemi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Çözüldü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6.810 → 70 dk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arıza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(Nisan-Mayıs → Haziran-Temmuz)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-99%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Azalış oranı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16–28 Nisan arasında art arda günlerde 400–540 dk/gün arıza kaynaklı duruş yaşandı. Kök neden olarak X ekseni pozisyon kaybı, makara grubu ve sürücü/enkoder kaynaklı titreşim tespit edildi.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ALINAN AKSİYON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İndüksiyon fırını coil yükseltme plakası ve ejektör yağ tavası ile ilgili 3 madde 29 Haziran – 1 Temmuz arasında kapatıldı. Sorun tekrarlamadı.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Quench Hücresi — 29 Haziran Olayı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Bekliyor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 dk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(29 Haziran olayı)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parça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Hasarlı V-bükümü,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parça bekletildi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Gece vardiyasında operatör parçayı fırın çıkışındaki dişli-zincir arasına sıkıştırdı, 20 dakika bu şekilde çalıştırdı: 6 adet V Büküm parça hasar gördü, 5 saatlik müdahale gerekti. Ayrıca 18 Haziran'da ayrı bir valf contası arızası 480 dk'lık duruşa yol açtı.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GEREKLİ KARAR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Operatör prosedürü (SOP) ve eğitim gözden geçirmesi gerekiyor. Aksiyon takibinde bu hücre için sadece 1 açık madde kayıtlı — kapsam genişletilmeli.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Flowform Hücresi — Mekanik İyileştirme Paketi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Kısmen Çözüldü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4.025 → 849 dk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arıza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(Nisan-Mayıs → Haziran-Temmuz)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16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Madde kapatıldı,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madde hâlâ açık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Ejektör titreşimi, boryağı kaçağı, yağlama sensörü üzerinde pasta birikimi, AMR montür çarpışması ve HS mandrel kovan için yedek kalıp eksikliği gibi çoklu mekanik sorun kaynağı vardı.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ALINAN AKSİYON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Haziran'da 6 madde birden kapatıldı (ejektör, yağlama sensörü braketi, kalıp yıkama hattı dahil). Kalan 10 açık madde ile çalışma devam ediyor.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 Hücresi — En Yüksek Açık Madde Yükü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FEF3C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Devam Ediyor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/ 32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 aksiyon maddesi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(tüm hücreler içinde en yüksek)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1.526 dk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Haziran-Temmuz arıza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(Nisan-Mayıs: 2.880 dk)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Pres, hattaki en yüksek açık madde yüküne sahip hücre. Üretim hacmi artmasına rağmen (33,2 → 102,1 adet/gün) mutlak arıza süresi hâlâ yüksek seyrediyor.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 BASKISI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Pres, mevcut planla 9 Temmuz'da üretimi durduracak (bkz. Hat Kapanış Tahmini). Açık 29 maddenin bir kısmı bu tarihe yetişmeyebilir — önceliklendirme kararı gerekiyor.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Boya &amp; Fosfat Hücreleri — Veri Boşluğu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Bekliyor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Mayıs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kayıtlı üretim/duruş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verisi tarihi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 ay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girişi olmayan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Boya ve Fosfat hücrelerinde 7 Mayıs 2026'dan bu yana günlük üretim formuna veri girişi yapılmamış. Sebep netleştirilmedi: hat mı durdu, veri girişi mi kesildi, sorumlu değişikliği mi yaşandı bilinmiyor.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GEREKLİ KARAR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 yönetimden bu iki hücrenin güncel operasyonel durumu ve veri girişinin neden kesildiğine dair yönlendirme isteniyor.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 Madde — Genel Durum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37160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7889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MADDE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18872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Tamamlandı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029200" y="416052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 döneminde tamamlanan madde sayısı sıfırdı; 14 maddenin tamamı Haziran-Temmuz'da kapatıldı.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Haziran–Temmuz'da Kapanan Öne Çıkan Maddeler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0789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6809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Kapatılan Madde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İndüksiyon fırını coil yükseltme plaka çapı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Diş tazeleme masası oluşturuldu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kalite konveyörü parça ilerletme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HFP dişi kalıp oringleri yedeklendi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Ejektör offset plakası dış çapı düzeltildi (164 mm)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Hadde asansörü tufal birikimi giderildi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 kalıp yıkama hattı eklenerek cycle time düşürüldü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Ejektör tam strok titreşim/ses sorunu giderildi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AMR montürlerine parça binmesi sorunu giderildi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Ejektör yağ tavaları eklendi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Yatırım Talepleri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07899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D8DEEC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868680" y="187452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947672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16152" y="18745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Bekliyor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23774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bölümün madde listesi henüz kesinleşmedi. Sunum hazırlığı sırasında ilgili paydaşlarla birlikte netleştirilecek.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0175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DOLDURULACAK ŞABLON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3337560"/>
            <a:ext cx="10149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[Ekipman / Sistem Adı]  —  Gerekçe (hangi veri/vaka destekliyor)  —  Tahmini Etki  —  Tahmini Bütçe / Süre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adaylar (bu oturumda netleşmedi): Quench hattı operatör eğitim/SOP güncellemesi, Pres açık madde yükünün azaltılması için ek kapasite, ROB109 darboğazına yönelik inceleme.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Müşteriden Talep Edilecekler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07899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D8DEEC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868680" y="187452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947672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16152" y="18745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Bekliyor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23774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bölümün madde listesi henüz kesinleşmedi. Sunum hazırlığı sırasında ilgili paydaşlarla birlikte netleştirilecek.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0175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DOLDURULACAK ŞABLON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3337560"/>
            <a:ext cx="10149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[Talep Konusu]  —  Gerekçe  —  Beklenen Katkı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aday (bu oturumda netleşmedi): Boya ve Fosfat hücrelerindeki operasyonel durumun ve veri girişi kesintisinin netleştirilmesi için müşteri/saha koordinasyonu.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Sonraki Adımlar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34440" y="16002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 için aksiyon planı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234440" y="196596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 SOP/eğitim gözden geçirmesi ve Boya/Fosfat veri boşluğunun nedeni netleştirilecek.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34440" y="265176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listesinin kesinleştirilmesi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1234440" y="301752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Yatırım ve müşteri talebi maddeleri ilgili sorumlularla birlikte tamamlanacak.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37490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34440" y="37033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 kapanış takvimine göre önceliklendirme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1234440" y="406908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Temmuz öncesi Pres hücresindeki 29 açık maddenin önceliklendirilmesi.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800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34440" y="47548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 yönetim sunumu ve karar toplantısı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1234440" y="5120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Netleşen talep listesiyle birlikte nihai sunumun üst yönetime iletilmesi.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Repkon HF901 Seri Üretim — Performans Raporu ve Aksiyon Talebi</dc:title>
  <dc:subject>PptxGenJS Presentation</dc:subject>
  <dc:creator>Repkon HF901</dc:creator>
  <cp:lastModifiedBy>Repkon HF901</cp:lastModifiedBy>
  <cp:revision>1</cp:revision>
  <dcterms:created xsi:type="dcterms:W3CDTF">2026-07-02T08:54:42Z</dcterms:created>
  <dcterms:modified xsi:type="dcterms:W3CDTF">2026-07-02T08:54:42Z</dcterms:modified>
</cp:coreProperties>
</file>