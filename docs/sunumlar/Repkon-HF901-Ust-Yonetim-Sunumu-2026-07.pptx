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8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10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Üretim (adet)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ROB110-111</c:v>
                  </c:pt>
                  <c:pt idx="1">
                    <c:v>Quench</c:v>
                  </c:pt>
                  <c:pt idx="2">
                    <c:v>ROB109</c:v>
                  </c:pt>
                  <c:pt idx="3">
                    <c:v>N602-N603</c:v>
                  </c:pt>
                  <c:pt idx="4">
                    <c:v>ROB104</c:v>
                  </c:pt>
                  <c:pt idx="5">
                    <c:v>Flowform</c:v>
                  </c:pt>
                  <c:pt idx="6">
                    <c:v>ROB108</c:v>
                  </c:pt>
                  <c:pt idx="7">
                    <c:v>ETM</c:v>
                  </c:pt>
                  <c:pt idx="8">
                    <c:v>Pres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878</c:v>
                </c:pt>
                <c:pt idx="1">
                  <c:v>1453</c:v>
                </c:pt>
                <c:pt idx="2">
                  <c:v>1472</c:v>
                </c:pt>
                <c:pt idx="3">
                  <c:v>1533</c:v>
                </c:pt>
                <c:pt idx="4">
                  <c:v>1694</c:v>
                </c:pt>
                <c:pt idx="5">
                  <c:v>1746</c:v>
                </c:pt>
                <c:pt idx="6">
                  <c:v>1769</c:v>
                </c:pt>
                <c:pt idx="7">
                  <c:v>2014</c:v>
                </c:pt>
                <c:pt idx="8">
                  <c:v>2028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adet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Ortalama Üretim (adet/gün)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Sheet1!$A$2:$A$44</c:f>
              <c:multiLvlStrCache>
                <c:ptCount val="43"/>
                <c:lvl>
                  <c:pt idx="0">
                    <c:v>02.04</c:v>
                  </c:pt>
                  <c:pt idx="1">
                    <c:v>04.04</c:v>
                  </c:pt>
                  <c:pt idx="2">
                    <c:v>05.04</c:v>
                  </c:pt>
                  <c:pt idx="3">
                    <c:v>06.04</c:v>
                  </c:pt>
                  <c:pt idx="4">
                    <c:v>07.04</c:v>
                  </c:pt>
                  <c:pt idx="5">
                    <c:v>08.04</c:v>
                  </c:pt>
                  <c:pt idx="6">
                    <c:v>09.04</c:v>
                  </c:pt>
                  <c:pt idx="7">
                    <c:v>10.04</c:v>
                  </c:pt>
                  <c:pt idx="8">
                    <c:v>12.04</c:v>
                  </c:pt>
                  <c:pt idx="9">
                    <c:v>13.04</c:v>
                  </c:pt>
                  <c:pt idx="10">
                    <c:v>14.04</c:v>
                  </c:pt>
                  <c:pt idx="11">
                    <c:v>15.04</c:v>
                  </c:pt>
                  <c:pt idx="12">
                    <c:v>16.04</c:v>
                  </c:pt>
                  <c:pt idx="13">
                    <c:v>17.04</c:v>
                  </c:pt>
                  <c:pt idx="14">
                    <c:v>18.04</c:v>
                  </c:pt>
                  <c:pt idx="15">
                    <c:v>19.04</c:v>
                  </c:pt>
                  <c:pt idx="16">
                    <c:v>20.04</c:v>
                  </c:pt>
                  <c:pt idx="17">
                    <c:v>21.04</c:v>
                  </c:pt>
                  <c:pt idx="18">
                    <c:v>22.04</c:v>
                  </c:pt>
                  <c:pt idx="19">
                    <c:v>23.04</c:v>
                  </c:pt>
                  <c:pt idx="20">
                    <c:v>24.04</c:v>
                  </c:pt>
                  <c:pt idx="21">
                    <c:v>25.04</c:v>
                  </c:pt>
                  <c:pt idx="22">
                    <c:v>26.04</c:v>
                  </c:pt>
                  <c:pt idx="23">
                    <c:v>27.04</c:v>
                  </c:pt>
                  <c:pt idx="24">
                    <c:v>28.04</c:v>
                  </c:pt>
                  <c:pt idx="25">
                    <c:v>29.04</c:v>
                  </c:pt>
                  <c:pt idx="26">
                    <c:v>30.04</c:v>
                  </c:pt>
                  <c:pt idx="27">
                    <c:v>02.05</c:v>
                  </c:pt>
                  <c:pt idx="28">
                    <c:v>03.05</c:v>
                  </c:pt>
                  <c:pt idx="29">
                    <c:v>04.05</c:v>
                  </c:pt>
                  <c:pt idx="30">
                    <c:v>05.05</c:v>
                  </c:pt>
                  <c:pt idx="31">
                    <c:v>06.05</c:v>
                  </c:pt>
                  <c:pt idx="32">
                    <c:v>07.05</c:v>
                  </c:pt>
                  <c:pt idx="33">
                    <c:v>09.05</c:v>
                  </c:pt>
                  <c:pt idx="34">
                    <c:v>10.05</c:v>
                  </c:pt>
                  <c:pt idx="35">
                    <c:v>11.05</c:v>
                  </c:pt>
                  <c:pt idx="36">
                    <c:v>12.05</c:v>
                  </c:pt>
                  <c:pt idx="37">
                    <c:v>13.05</c:v>
                  </c:pt>
                  <c:pt idx="38">
                    <c:v>14.05</c:v>
                  </c:pt>
                  <c:pt idx="39">
                    <c:v>17.05</c:v>
                  </c:pt>
                  <c:pt idx="40">
                    <c:v>18.05</c:v>
                  </c:pt>
                  <c:pt idx="41">
                    <c:v>19.05</c:v>
                  </c:pt>
                  <c:pt idx="42">
                    <c:v>20.05</c:v>
                  </c:pt>
                </c:lvl>
              </c:multiLvlStrCache>
            </c:multiLvlStrRef>
          </c:cat>
          <c:val>
            <c:numRef>
              <c:f>Sheet1!$B$2:$B$44</c:f>
              <c:numCache>
                <c:formatCode>General</c:formatCode>
                <c:ptCount val="43"/>
                <c:pt idx="0">
                  <c:v>34.4</c:v>
                </c:pt>
                <c:pt idx="1">
                  <c:v>33.3</c:v>
                </c:pt>
                <c:pt idx="2">
                  <c:v>36.4</c:v>
                </c:pt>
                <c:pt idx="3">
                  <c:v>37.9</c:v>
                </c:pt>
                <c:pt idx="4">
                  <c:v>60.2</c:v>
                </c:pt>
                <c:pt idx="5">
                  <c:v>43.8</c:v>
                </c:pt>
                <c:pt idx="6">
                  <c:v>34.8</c:v>
                </c:pt>
                <c:pt idx="7">
                  <c:v>100</c:v>
                </c:pt>
                <c:pt idx="8">
                  <c:v>21.3</c:v>
                </c:pt>
                <c:pt idx="9">
                  <c:v>67</c:v>
                </c:pt>
                <c:pt idx="10">
                  <c:v>45.5</c:v>
                </c:pt>
                <c:pt idx="11">
                  <c:v>55.7</c:v>
                </c:pt>
                <c:pt idx="12">
                  <c:v>56.8</c:v>
                </c:pt>
                <c:pt idx="13">
                  <c:v>84</c:v>
                </c:pt>
                <c:pt idx="14">
                  <c:v>55</c:v>
                </c:pt>
                <c:pt idx="15">
                  <c:v>55</c:v>
                </c:pt>
                <c:pt idx="16">
                  <c:v>51.3</c:v>
                </c:pt>
                <c:pt idx="17">
                  <c:v>36.4</c:v>
                </c:pt>
                <c:pt idx="18">
                  <c:v>38.5</c:v>
                </c:pt>
                <c:pt idx="19">
                  <c:v>35.8</c:v>
                </c:pt>
                <c:pt idx="20">
                  <c:v>40</c:v>
                </c:pt>
                <c:pt idx="21">
                  <c:v>20</c:v>
                </c:pt>
                <c:pt idx="22">
                  <c:v>47</c:v>
                </c:pt>
                <c:pt idx="23">
                  <c:v>64.5</c:v>
                </c:pt>
                <c:pt idx="24">
                  <c:v>36.6</c:v>
                </c:pt>
                <c:pt idx="25">
                  <c:v>33.6</c:v>
                </c:pt>
                <c:pt idx="26">
                  <c:v>36.2</c:v>
                </c:pt>
                <c:pt idx="27">
                  <c:v>28</c:v>
                </c:pt>
                <c:pt idx="28">
                  <c:v>31.4</c:v>
                </c:pt>
                <c:pt idx="29">
                  <c:v>52.3</c:v>
                </c:pt>
                <c:pt idx="30">
                  <c:v>33.1</c:v>
                </c:pt>
                <c:pt idx="31">
                  <c:v>36.8</c:v>
                </c:pt>
                <c:pt idx="32">
                  <c:v>54.2</c:v>
                </c:pt>
                <c:pt idx="33">
                  <c:v>75</c:v>
                </c:pt>
                <c:pt idx="34">
                  <c:v>68.2</c:v>
                </c:pt>
                <c:pt idx="35">
                  <c:v>53.9</c:v>
                </c:pt>
                <c:pt idx="36">
                  <c:v>51.5</c:v>
                </c:pt>
                <c:pt idx="37">
                  <c:v>57.3</c:v>
                </c:pt>
                <c:pt idx="38">
                  <c:v>62.3</c:v>
                </c:pt>
                <c:pt idx="39">
                  <c:v>37.7</c:v>
                </c:pt>
                <c:pt idx="40">
                  <c:v>50.8</c:v>
                </c:pt>
                <c:pt idx="41">
                  <c:v>42.5</c:v>
                </c:pt>
                <c:pt idx="42">
                  <c:v>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Sheet1!$A$2:$A$44</c:f>
              <c:multiLvlStrCache>
                <c:ptCount val="43"/>
                <c:lvl>
                  <c:pt idx="0">
                    <c:v>02.04</c:v>
                  </c:pt>
                  <c:pt idx="1">
                    <c:v>04.04</c:v>
                  </c:pt>
                  <c:pt idx="2">
                    <c:v>05.04</c:v>
                  </c:pt>
                  <c:pt idx="3">
                    <c:v>06.04</c:v>
                  </c:pt>
                  <c:pt idx="4">
                    <c:v>07.04</c:v>
                  </c:pt>
                  <c:pt idx="5">
                    <c:v>08.04</c:v>
                  </c:pt>
                  <c:pt idx="6">
                    <c:v>09.04</c:v>
                  </c:pt>
                  <c:pt idx="7">
                    <c:v>10.04</c:v>
                  </c:pt>
                  <c:pt idx="8">
                    <c:v>12.04</c:v>
                  </c:pt>
                  <c:pt idx="9">
                    <c:v>13.04</c:v>
                  </c:pt>
                  <c:pt idx="10">
                    <c:v>14.04</c:v>
                  </c:pt>
                  <c:pt idx="11">
                    <c:v>15.04</c:v>
                  </c:pt>
                  <c:pt idx="12">
                    <c:v>16.04</c:v>
                  </c:pt>
                  <c:pt idx="13">
                    <c:v>17.04</c:v>
                  </c:pt>
                  <c:pt idx="14">
                    <c:v>18.04</c:v>
                  </c:pt>
                  <c:pt idx="15">
                    <c:v>19.04</c:v>
                  </c:pt>
                  <c:pt idx="16">
                    <c:v>20.04</c:v>
                  </c:pt>
                  <c:pt idx="17">
                    <c:v>21.04</c:v>
                  </c:pt>
                  <c:pt idx="18">
                    <c:v>22.04</c:v>
                  </c:pt>
                  <c:pt idx="19">
                    <c:v>23.04</c:v>
                  </c:pt>
                  <c:pt idx="20">
                    <c:v>24.04</c:v>
                  </c:pt>
                  <c:pt idx="21">
                    <c:v>25.04</c:v>
                  </c:pt>
                  <c:pt idx="22">
                    <c:v>26.04</c:v>
                  </c:pt>
                  <c:pt idx="23">
                    <c:v>27.04</c:v>
                  </c:pt>
                  <c:pt idx="24">
                    <c:v>28.04</c:v>
                  </c:pt>
                  <c:pt idx="25">
                    <c:v>29.04</c:v>
                  </c:pt>
                  <c:pt idx="26">
                    <c:v>30.04</c:v>
                  </c:pt>
                  <c:pt idx="27">
                    <c:v>02.05</c:v>
                  </c:pt>
                  <c:pt idx="28">
                    <c:v>03.05</c:v>
                  </c:pt>
                  <c:pt idx="29">
                    <c:v>04.05</c:v>
                  </c:pt>
                  <c:pt idx="30">
                    <c:v>05.05</c:v>
                  </c:pt>
                  <c:pt idx="31">
                    <c:v>06.05</c:v>
                  </c:pt>
                  <c:pt idx="32">
                    <c:v>07.05</c:v>
                  </c:pt>
                  <c:pt idx="33">
                    <c:v>09.05</c:v>
                  </c:pt>
                  <c:pt idx="34">
                    <c:v>10.05</c:v>
                  </c:pt>
                  <c:pt idx="35">
                    <c:v>11.05</c:v>
                  </c:pt>
                  <c:pt idx="36">
                    <c:v>12.05</c:v>
                  </c:pt>
                  <c:pt idx="37">
                    <c:v>13.05</c:v>
                  </c:pt>
                  <c:pt idx="38">
                    <c:v>14.05</c:v>
                  </c:pt>
                  <c:pt idx="39">
                    <c:v>17.05</c:v>
                  </c:pt>
                  <c:pt idx="40">
                    <c:v>18.05</c:v>
                  </c:pt>
                  <c:pt idx="41">
                    <c:v>19.05</c:v>
                  </c:pt>
                  <c:pt idx="42">
                    <c:v>20.05</c:v>
                  </c:pt>
                </c:lvl>
              </c:multiLvlStrCache>
            </c:multiLvlStrRef>
          </c:cat>
          <c:val>
            <c:numRef>
              <c:f>Sheet1!$C$2:$C$44</c:f>
              <c:numCache>
                <c:formatCode>General</c:formatCode>
                <c:ptCount val="43"/>
                <c:pt idx="0">
                  <c:v>46.4</c:v>
                </c:pt>
                <c:pt idx="1">
                  <c:v>46.4</c:v>
                </c:pt>
                <c:pt idx="2">
                  <c:v>46.5</c:v>
                </c:pt>
                <c:pt idx="3">
                  <c:v>46.6</c:v>
                </c:pt>
                <c:pt idx="4">
                  <c:v>46.6</c:v>
                </c:pt>
                <c:pt idx="5">
                  <c:v>46.7</c:v>
                </c:pt>
                <c:pt idx="6">
                  <c:v>46.7</c:v>
                </c:pt>
                <c:pt idx="7">
                  <c:v>46.8</c:v>
                </c:pt>
                <c:pt idx="8">
                  <c:v>46.8</c:v>
                </c:pt>
                <c:pt idx="9">
                  <c:v>46.9</c:v>
                </c:pt>
                <c:pt idx="10">
                  <c:v>46.9</c:v>
                </c:pt>
                <c:pt idx="11">
                  <c:v>47</c:v>
                </c:pt>
                <c:pt idx="12">
                  <c:v>47</c:v>
                </c:pt>
                <c:pt idx="13">
                  <c:v>47.1</c:v>
                </c:pt>
                <c:pt idx="14">
                  <c:v>47.1</c:v>
                </c:pt>
                <c:pt idx="15">
                  <c:v>47.2</c:v>
                </c:pt>
                <c:pt idx="16">
                  <c:v>47.2</c:v>
                </c:pt>
                <c:pt idx="17">
                  <c:v>47.3</c:v>
                </c:pt>
                <c:pt idx="18">
                  <c:v>47.3</c:v>
                </c:pt>
                <c:pt idx="19">
                  <c:v>47.4</c:v>
                </c:pt>
                <c:pt idx="20">
                  <c:v>47.4</c:v>
                </c:pt>
                <c:pt idx="21">
                  <c:v>47.5</c:v>
                </c:pt>
                <c:pt idx="22">
                  <c:v>47.5</c:v>
                </c:pt>
                <c:pt idx="23">
                  <c:v>47.6</c:v>
                </c:pt>
                <c:pt idx="24">
                  <c:v>47.6</c:v>
                </c:pt>
                <c:pt idx="25">
                  <c:v>47.7</c:v>
                </c:pt>
                <c:pt idx="26">
                  <c:v>47.7</c:v>
                </c:pt>
                <c:pt idx="27">
                  <c:v>47.8</c:v>
                </c:pt>
                <c:pt idx="28">
                  <c:v>47.9</c:v>
                </c:pt>
                <c:pt idx="29">
                  <c:v>47.9</c:v>
                </c:pt>
                <c:pt idx="30">
                  <c:v>48</c:v>
                </c:pt>
                <c:pt idx="31">
                  <c:v>48</c:v>
                </c:pt>
                <c:pt idx="32">
                  <c:v>48.1</c:v>
                </c:pt>
                <c:pt idx="33">
                  <c:v>48.1</c:v>
                </c:pt>
                <c:pt idx="34">
                  <c:v>48.2</c:v>
                </c:pt>
                <c:pt idx="35">
                  <c:v>48.2</c:v>
                </c:pt>
                <c:pt idx="36">
                  <c:v>48.3</c:v>
                </c:pt>
                <c:pt idx="37">
                  <c:v>48.3</c:v>
                </c:pt>
                <c:pt idx="38">
                  <c:v>48.4</c:v>
                </c:pt>
                <c:pt idx="39">
                  <c:v>48.4</c:v>
                </c:pt>
                <c:pt idx="40">
                  <c:v>48.5</c:v>
                </c:pt>
                <c:pt idx="41">
                  <c:v>48.5</c:v>
                </c:pt>
                <c:pt idx="42">
                  <c:v>48.6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adet/gün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Ortalama Üretim (adet/gün)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13.06</c:v>
                  </c:pt>
                  <c:pt idx="1">
                    <c:v>14.06</c:v>
                  </c:pt>
                  <c:pt idx="2">
                    <c:v>15.06</c:v>
                  </c:pt>
                  <c:pt idx="3">
                    <c:v>16.06</c:v>
                  </c:pt>
                  <c:pt idx="4">
                    <c:v>17.06</c:v>
                  </c:pt>
                  <c:pt idx="5">
                    <c:v>18.06</c:v>
                  </c:pt>
                  <c:pt idx="6">
                    <c:v>21.06</c:v>
                  </c:pt>
                  <c:pt idx="7">
                    <c:v>22.06</c:v>
                  </c:pt>
                  <c:pt idx="8">
                    <c:v>23.06</c:v>
                  </c:pt>
                  <c:pt idx="9">
                    <c:v>24.06</c:v>
                  </c:pt>
                  <c:pt idx="10">
                    <c:v>25.06</c:v>
                  </c:pt>
                  <c:pt idx="11">
                    <c:v>26.06</c:v>
                  </c:pt>
                  <c:pt idx="12">
                    <c:v>28.06</c:v>
                  </c:pt>
                  <c:pt idx="13">
                    <c:v>29.06</c:v>
                  </c:pt>
                  <c:pt idx="14">
                    <c:v>30.06</c:v>
                  </c:pt>
                  <c:pt idx="15">
                    <c:v>01.07</c:v>
                  </c:pt>
                  <c:pt idx="16">
                    <c:v>02.07</c:v>
                  </c:pt>
                  <c:pt idx="17">
                    <c:v>04.07</c:v>
                  </c:pt>
                  <c:pt idx="18">
                    <c:v>05.07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80</c:v>
                </c:pt>
                <c:pt idx="1">
                  <c:v>112.7</c:v>
                </c:pt>
                <c:pt idx="2">
                  <c:v>72.8</c:v>
                </c:pt>
                <c:pt idx="3">
                  <c:v>85.1</c:v>
                </c:pt>
                <c:pt idx="4">
                  <c:v>80.4</c:v>
                </c:pt>
                <c:pt idx="5">
                  <c:v>125.4</c:v>
                </c:pt>
                <c:pt idx="6">
                  <c:v>114.4</c:v>
                </c:pt>
                <c:pt idx="7">
                  <c:v>119.4</c:v>
                </c:pt>
                <c:pt idx="8">
                  <c:v>98.5</c:v>
                </c:pt>
                <c:pt idx="9">
                  <c:v>107.8</c:v>
                </c:pt>
                <c:pt idx="10">
                  <c:v>117.1</c:v>
                </c:pt>
                <c:pt idx="11">
                  <c:v>107</c:v>
                </c:pt>
                <c:pt idx="12">
                  <c:v>126.4</c:v>
                </c:pt>
                <c:pt idx="13">
                  <c:v>108.6</c:v>
                </c:pt>
                <c:pt idx="14">
                  <c:v>115.9</c:v>
                </c:pt>
                <c:pt idx="15">
                  <c:v>117.8</c:v>
                </c:pt>
                <c:pt idx="16">
                  <c:v>130.8</c:v>
                </c:pt>
                <c:pt idx="17">
                  <c:v>93</c:v>
                </c:pt>
                <c:pt idx="18">
                  <c:v>116.6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13.06</c:v>
                  </c:pt>
                  <c:pt idx="1">
                    <c:v>14.06</c:v>
                  </c:pt>
                  <c:pt idx="2">
                    <c:v>15.06</c:v>
                  </c:pt>
                  <c:pt idx="3">
                    <c:v>16.06</c:v>
                  </c:pt>
                  <c:pt idx="4">
                    <c:v>17.06</c:v>
                  </c:pt>
                  <c:pt idx="5">
                    <c:v>18.06</c:v>
                  </c:pt>
                  <c:pt idx="6">
                    <c:v>21.06</c:v>
                  </c:pt>
                  <c:pt idx="7">
                    <c:v>22.06</c:v>
                  </c:pt>
                  <c:pt idx="8">
                    <c:v>23.06</c:v>
                  </c:pt>
                  <c:pt idx="9">
                    <c:v>24.06</c:v>
                  </c:pt>
                  <c:pt idx="10">
                    <c:v>25.06</c:v>
                  </c:pt>
                  <c:pt idx="11">
                    <c:v>26.06</c:v>
                  </c:pt>
                  <c:pt idx="12">
                    <c:v>28.06</c:v>
                  </c:pt>
                  <c:pt idx="13">
                    <c:v>29.06</c:v>
                  </c:pt>
                  <c:pt idx="14">
                    <c:v>30.06</c:v>
                  </c:pt>
                  <c:pt idx="15">
                    <c:v>01.07</c:v>
                  </c:pt>
                  <c:pt idx="16">
                    <c:v>02.07</c:v>
                  </c:pt>
                  <c:pt idx="17">
                    <c:v>04.07</c:v>
                  </c:pt>
                  <c:pt idx="18">
                    <c:v>05.07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92.4</c:v>
                </c:pt>
                <c:pt idx="1">
                  <c:v>94</c:v>
                </c:pt>
                <c:pt idx="2">
                  <c:v>95.6</c:v>
                </c:pt>
                <c:pt idx="3">
                  <c:v>97.2</c:v>
                </c:pt>
                <c:pt idx="4">
                  <c:v>98.8</c:v>
                </c:pt>
                <c:pt idx="5">
                  <c:v>100.4</c:v>
                </c:pt>
                <c:pt idx="6">
                  <c:v>102</c:v>
                </c:pt>
                <c:pt idx="7">
                  <c:v>103.6</c:v>
                </c:pt>
                <c:pt idx="8">
                  <c:v>105.2</c:v>
                </c:pt>
                <c:pt idx="9">
                  <c:v>106.8</c:v>
                </c:pt>
                <c:pt idx="10">
                  <c:v>108.4</c:v>
                </c:pt>
                <c:pt idx="11">
                  <c:v>110</c:v>
                </c:pt>
                <c:pt idx="12">
                  <c:v>111.6</c:v>
                </c:pt>
                <c:pt idx="13">
                  <c:v>113.2</c:v>
                </c:pt>
                <c:pt idx="14">
                  <c:v>114.8</c:v>
                </c:pt>
                <c:pt idx="15">
                  <c:v>116.4</c:v>
                </c:pt>
                <c:pt idx="16">
                  <c:v>118.1</c:v>
                </c:pt>
                <c:pt idx="17">
                  <c:v>119.7</c:v>
                </c:pt>
                <c:pt idx="18">
                  <c:v>121.3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adet/gün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OEE %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Quench</c:v>
                  </c:pt>
                  <c:pt idx="1">
                    <c:v>ETM</c:v>
                  </c:pt>
                  <c:pt idx="2">
                    <c:v>N602-N603</c:v>
                  </c:pt>
                  <c:pt idx="3">
                    <c:v>ROB108</c:v>
                  </c:pt>
                  <c:pt idx="4">
                    <c:v>Pres</c:v>
                  </c:pt>
                  <c:pt idx="5">
                    <c:v>ROB104</c:v>
                  </c:pt>
                  <c:pt idx="6">
                    <c:v>Flowform</c:v>
                  </c:pt>
                  <c:pt idx="7">
                    <c:v>ROB109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86.5</c:v>
                </c:pt>
                <c:pt idx="1">
                  <c:v>82</c:v>
                </c:pt>
                <c:pt idx="2">
                  <c:v>76.2</c:v>
                </c:pt>
                <c:pt idx="3">
                  <c:v>72.3</c:v>
                </c:pt>
                <c:pt idx="4">
                  <c:v>71.6</c:v>
                </c:pt>
                <c:pt idx="5">
                  <c:v>71.6</c:v>
                </c:pt>
                <c:pt idx="6">
                  <c:v>68</c:v>
                </c:pt>
                <c:pt idx="7">
                  <c:v>65.4</c:v>
                </c:pt>
                <c:pt idx="8">
                  <c:v>57.2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OEE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Arıza</c:v>
                </c:pt>
              </c:strCache>
            </c:strRef>
          </c:tx>
          <c:spPr>
            <a:solidFill>
              <a:srgbClr val="B91C1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1544</c:v>
                </c:pt>
                <c:pt idx="1">
                  <c:v>917</c:v>
                </c:pt>
                <c:pt idx="2">
                  <c:v>939</c:v>
                </c:pt>
                <c:pt idx="3">
                  <c:v>849</c:v>
                </c:pt>
                <c:pt idx="4">
                  <c:v>869</c:v>
                </c:pt>
                <c:pt idx="5">
                  <c:v>1481</c:v>
                </c:pt>
                <c:pt idx="6">
                  <c:v>707</c:v>
                </c:pt>
                <c:pt idx="7">
                  <c:v>1080</c:v>
                </c:pt>
                <c:pt idx="8">
                  <c:v>1224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Planlı Duruş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750</c:v>
                </c:pt>
                <c:pt idx="1">
                  <c:v>89</c:v>
                </c:pt>
                <c:pt idx="2">
                  <c:v>729</c:v>
                </c:pt>
                <c:pt idx="3">
                  <c:v>633</c:v>
                </c:pt>
                <c:pt idx="4">
                  <c:v>1018</c:v>
                </c:pt>
                <c:pt idx="5">
                  <c:v>352</c:v>
                </c:pt>
                <c:pt idx="6">
                  <c:v>291</c:v>
                </c:pt>
                <c:pt idx="7">
                  <c:v>0</c:v>
                </c:pt>
                <c:pt idx="8">
                  <c:v>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Setup / Hazırlık</c:v>
                </c:pt>
              </c:strCache>
            </c:strRef>
          </c:tx>
          <c:spPr>
            <a:solidFill>
              <a:srgbClr val="4755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454</c:v>
                </c:pt>
                <c:pt idx="1">
                  <c:v>136</c:v>
                </c:pt>
                <c:pt idx="2">
                  <c:v>442</c:v>
                </c:pt>
                <c:pt idx="3">
                  <c:v>973</c:v>
                </c:pt>
                <c:pt idx="4">
                  <c:v>235</c:v>
                </c:pt>
                <c:pt idx="5">
                  <c:v>6</c:v>
                </c:pt>
                <c:pt idx="6">
                  <c:v>15</c:v>
                </c:pt>
                <c:pt idx="7">
                  <c:v>0</c:v>
                </c:pt>
                <c:pt idx="8">
                  <c:v>50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Takım / Kalıp</c:v>
                </c:pt>
              </c:strCache>
            </c:strRef>
          </c:tx>
          <c:spPr>
            <a:solidFill>
              <a:srgbClr val="8590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858</c:v>
                </c:pt>
                <c:pt idx="1">
                  <c:v>56</c:v>
                </c:pt>
                <c:pt idx="2">
                  <c:v>495</c:v>
                </c:pt>
                <c:pt idx="3">
                  <c:v>256</c:v>
                </c:pt>
                <c:pt idx="4">
                  <c:v>336</c:v>
                </c:pt>
                <c:pt idx="5">
                  <c:v>0</c:v>
                </c:pt>
                <c:pt idx="6">
                  <c:v>631</c:v>
                </c:pt>
                <c:pt idx="7">
                  <c:v>0</c:v>
                </c:pt>
                <c:pt idx="8">
                  <c:v>73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Önc. İst. Bekleme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0</c:v>
                </c:pt>
                <c:pt idx="1">
                  <c:v>2012</c:v>
                </c:pt>
                <c:pt idx="2">
                  <c:v>551</c:v>
                </c:pt>
                <c:pt idx="3">
                  <c:v>1658</c:v>
                </c:pt>
                <c:pt idx="4">
                  <c:v>1112</c:v>
                </c:pt>
                <c:pt idx="5">
                  <c:v>1137</c:v>
                </c:pt>
                <c:pt idx="6">
                  <c:v>1182</c:v>
                </c:pt>
                <c:pt idx="7">
                  <c:v>0</c:v>
                </c:pt>
                <c:pt idx="8">
                  <c:v>160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Mola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Sheet1!$G$2:$G$10</c:f>
              <c:numCache>
                <c:formatCode>General</c:formatCode>
                <c:ptCount val="9"/>
                <c:pt idx="0">
                  <c:v>0</c:v>
                </c:pt>
                <c:pt idx="1">
                  <c:v>585</c:v>
                </c:pt>
                <c:pt idx="2">
                  <c:v>1107</c:v>
                </c:pt>
                <c:pt idx="3">
                  <c:v>640</c:v>
                </c:pt>
                <c:pt idx="4">
                  <c:v>965</c:v>
                </c:pt>
                <c:pt idx="5">
                  <c:v>764</c:v>
                </c:pt>
                <c:pt idx="6">
                  <c:v>925</c:v>
                </c:pt>
                <c:pt idx="7">
                  <c:v>0</c:v>
                </c:pt>
                <c:pt idx="8">
                  <c:v>302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Müşteri / Kalite</c:v>
                </c:pt>
              </c:strCache>
            </c:strRef>
          </c:tx>
          <c:spPr>
            <a:solidFill>
              <a:srgbClr val="6B7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Sheet1!$H$2:$H$10</c:f>
              <c:numCache>
                <c:formatCode>General</c:formatCode>
                <c:ptCount val="9"/>
                <c:pt idx="0">
                  <c:v>30</c:v>
                </c:pt>
                <c:pt idx="1">
                  <c:v>70</c:v>
                </c:pt>
                <c:pt idx="2">
                  <c:v>60</c:v>
                </c:pt>
                <c:pt idx="3">
                  <c:v>220</c:v>
                </c:pt>
                <c:pt idx="4">
                  <c:v>0</c:v>
                </c:pt>
                <c:pt idx="5">
                  <c:v>55</c:v>
                </c:pt>
                <c:pt idx="6">
                  <c:v>134</c:v>
                </c:pt>
                <c:pt idx="7">
                  <c:v>480</c:v>
                </c:pt>
                <c:pt idx="8">
                  <c:v>326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dk (Haziran-Temmuz toplamı)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Arıza Süresi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Mekanik</c:v>
                  </c:pt>
                  <c:pt idx="1">
                    <c:v>Belirsiz</c:v>
                  </c:pt>
                  <c:pt idx="2">
                    <c:v>Elektrik</c:v>
                  </c:pt>
                  <c:pt idx="3">
                    <c:v>Akışkan</c:v>
                  </c:pt>
                  <c:pt idx="4">
                    <c:v>Pres (Lokasyon)</c:v>
                  </c:pt>
                  <c:pt idx="5">
                    <c:v>Robot</c:v>
                  </c:pt>
                  <c:pt idx="6">
                    <c:v>Bor Yağı Bitti</c:v>
                  </c:pt>
                  <c:pt idx="7">
                    <c:v>Ortak</c:v>
                  </c:pt>
                  <c:pt idx="8">
                    <c:v>Diğer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2119</c:v>
                </c:pt>
                <c:pt idx="1">
                  <c:v>1836</c:v>
                </c:pt>
                <c:pt idx="2">
                  <c:v>1367</c:v>
                </c:pt>
                <c:pt idx="3">
                  <c:v>1061</c:v>
                </c:pt>
                <c:pt idx="4">
                  <c:v>894</c:v>
                </c:pt>
                <c:pt idx="5">
                  <c:v>462</c:v>
                </c:pt>
                <c:pt idx="6">
                  <c:v>325</c:v>
                </c:pt>
                <c:pt idx="7">
                  <c:v>278</c:v>
                </c:pt>
                <c:pt idx="8">
                  <c:v>1268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50" b="0" i="0" u="none" strike="noStrike">
                    <a:solidFill>
                      <a:srgbClr val="8590A6"/>
                    </a:solidFill>
                    <a:latin typeface="Arial"/>
                  </a:rPr>
                  <a:t>dk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Duruş Süresi (dk)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Pres</c:v>
                  </c:pt>
                  <c:pt idx="1">
                    <c:v>N602</c:v>
                  </c:pt>
                  <c:pt idx="2">
                    <c:v>ROB108</c:v>
                  </c:pt>
                  <c:pt idx="3">
                    <c:v>ROB110-111</c:v>
                  </c:pt>
                  <c:pt idx="4">
                    <c:v>ROB104</c:v>
                  </c:pt>
                  <c:pt idx="5">
                    <c:v>Flowform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ETM</c:v>
                  </c:pt>
                  <c:pt idx="9">
                    <c:v>N603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2748</c:v>
                </c:pt>
                <c:pt idx="1">
                  <c:v>2112</c:v>
                </c:pt>
                <c:pt idx="2">
                  <c:v>2060</c:v>
                </c:pt>
                <c:pt idx="3">
                  <c:v>2022</c:v>
                </c:pt>
                <c:pt idx="4">
                  <c:v>2000</c:v>
                </c:pt>
                <c:pt idx="5">
                  <c:v>1865</c:v>
                </c:pt>
                <c:pt idx="6">
                  <c:v>1654</c:v>
                </c:pt>
                <c:pt idx="7">
                  <c:v>1080</c:v>
                </c:pt>
                <c:pt idx="8">
                  <c:v>604</c:v>
                </c:pt>
                <c:pt idx="9">
                  <c:v>296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Olay Sayısı</c:v>
                </c:pt>
              </c:strCache>
            </c:strRef>
          </c:tx>
          <c:spPr>
            <a:solidFill>
              <a:srgbClr val="B45309"/>
            </a:solidFill>
            <a:ln w="2540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Pres</c:v>
                  </c:pt>
                  <c:pt idx="1">
                    <c:v>N602</c:v>
                  </c:pt>
                  <c:pt idx="2">
                    <c:v>ROB108</c:v>
                  </c:pt>
                  <c:pt idx="3">
                    <c:v>ROB110-111</c:v>
                  </c:pt>
                  <c:pt idx="4">
                    <c:v>ROB104</c:v>
                  </c:pt>
                  <c:pt idx="5">
                    <c:v>Flowform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ETM</c:v>
                  </c:pt>
                  <c:pt idx="9">
                    <c:v>N603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84</c:v>
                </c:pt>
                <c:pt idx="1">
                  <c:v>84</c:v>
                </c:pt>
                <c:pt idx="2">
                  <c:v>83</c:v>
                </c:pt>
                <c:pt idx="3">
                  <c:v>68</c:v>
                </c:pt>
                <c:pt idx="4">
                  <c:v>71</c:v>
                </c:pt>
                <c:pt idx="5">
                  <c:v>74</c:v>
                </c:pt>
                <c:pt idx="6">
                  <c:v>98</c:v>
                </c:pt>
                <c:pt idx="7">
                  <c:v>4</c:v>
                </c:pt>
                <c:pt idx="8">
                  <c:v>34</c:v>
                </c:pt>
                <c:pt idx="9">
                  <c:v>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Duruş Süresi (dk)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Olay Sayısı (Adet)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Kayıp Süresi (dk)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B45309"/>
              </a:solidFill>
              <a:effectLst/>
            </c:spPr>
          </c:dPt>
          <c:dPt>
            <c:idx val="2"/>
            <c:bubble3D val="0"/>
            <c:spPr>
              <a:solidFill>
                <a:srgbClr val="15803D"/>
              </a:solidFill>
              <a:effectLst/>
            </c:spPr>
          </c:dPt>
          <c:dPt>
            <c:idx val="3"/>
            <c:bubble3D val="0"/>
            <c:spPr>
              <a:solidFill>
                <a:srgbClr val="475569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bubble3D val="0"/>
            <c:spPr>
              <a:solidFill>
                <a:srgbClr val="CBD5E1"/>
              </a:solidFill>
              <a:effectLst/>
            </c:spPr>
          </c:dPt>
          <c:dPt>
            <c:idx val="6"/>
            <c:bubble3D val="0"/>
            <c:spPr>
              <a:solidFill>
                <a:srgbClr val="E2E8F0"/>
              </a:solidFill>
              <a:effectLst/>
            </c:spPr>
          </c:dPt>
          <c:dPt>
            <c:idx val="7"/>
            <c:bubble3D val="0"/>
            <c:spPr>
              <a:solidFill>
                <a:srgbClr val="B45309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Mekanik Arıza</c:v>
                </c:pt>
                <c:pt idx="1">
                  <c:v>Takım / Kalıp Değişimi</c:v>
                </c:pt>
                <c:pt idx="2">
                  <c:v>Setup / Ayar</c:v>
                </c:pt>
                <c:pt idx="3">
                  <c:v>Akışkan Arıza</c:v>
                </c:pt>
                <c:pt idx="4">
                  <c:v>Elektrik Arıza</c:v>
                </c:pt>
                <c:pt idx="5">
                  <c:v>Diğer</c:v>
                </c:pt>
                <c:pt idx="6">
                  <c:v>Müşteri / Kalite</c:v>
                </c:pt>
                <c:pt idx="7">
                  <c:v>Yardımcı Süreç Kayıpları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6150</c:v>
                </c:pt>
                <c:pt idx="1">
                  <c:v>2840</c:v>
                </c:pt>
                <c:pt idx="2">
                  <c:v>1915</c:v>
                </c:pt>
                <c:pt idx="3">
                  <c:v>1718</c:v>
                </c:pt>
                <c:pt idx="4">
                  <c:v>1240</c:v>
                </c:pt>
                <c:pt idx="5">
                  <c:v>1166</c:v>
                </c:pt>
                <c:pt idx="6">
                  <c:v>804</c:v>
                </c:pt>
                <c:pt idx="7">
                  <c:v>608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590A6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İşaretlenmemiş</c:v>
                </c:pt>
                <c:pt idx="1">
                  <c:v>Giderildi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295</c:v>
                </c:pt>
                <c:pt idx="1">
                  <c:v>23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45309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Açık</c:v>
                </c:pt>
                <c:pt idx="1">
                  <c:v>Tamamlandı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14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image-2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image-2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4572000" cy="45720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22960" cy="822960"/>
          </a:xfrm>
          <a:prstGeom prst="ellipse">
            <a:avLst/>
          </a:prstGeom>
          <a:solidFill>
            <a:srgbClr val="CADCFC">
              <a:alpha val="9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115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REPKON HF901 · SERİ ÜRETİM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5146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Performans Raporu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4343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 – Temmuz 2026 Değerlendirmesi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48920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Sunumun Amacı ve Kapsamı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874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Aylık Performans Özeti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237744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 – Temmuz döneminde 10 üretim hücresinin üretim adedi, duruş süreleri ve darboğaz göstergeleri veriye dayalı olarak özetlenir.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1874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Somut Aksiyon / Yatırım Talebi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492240" y="237744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durum raporu değil; açık aksiyon maddeleri, yatırım ihtiyaçları ve müşteriden talep edilecek konular için karar talebi içerir.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3886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 KURGUSU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4206240"/>
            <a:ext cx="10515600" cy="868680"/>
          </a:xfrm>
          <a:prstGeom prst="roundRect">
            <a:avLst>
              <a:gd name="adj" fmla="val 8421"/>
            </a:avLst>
          </a:prstGeom>
          <a:solidFill>
            <a:srgbClr val="EEF2FC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420624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 – Mayıs: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başlangıç seviyesi ve tespit edilen kök sorunlar kısaca özetlenir. 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 – Temmuz: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atılan aksiyonların sonuçları detaylı işlenir. Sunumun ağırlığı Haziran sonrası ilerlemededir — veri bu kurguyu destekliyor.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5257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KAPSAM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</a:t>
            </a:r>
            <a:endParaRPr lang="en-US" sz="870" dirty="0"/>
          </a:p>
        </p:txBody>
      </p:sp>
      <p:sp>
        <p:nvSpPr>
          <p:cNvPr id="18" name="Shape 15"/>
          <p:cNvSpPr/>
          <p:nvPr/>
        </p:nvSpPr>
        <p:spPr>
          <a:xfrm>
            <a:off x="1444752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1444752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</a:t>
            </a:r>
            <a:endParaRPr lang="en-US" sz="870" dirty="0"/>
          </a:p>
        </p:txBody>
      </p:sp>
      <p:sp>
        <p:nvSpPr>
          <p:cNvPr id="20" name="Shape 17"/>
          <p:cNvSpPr/>
          <p:nvPr/>
        </p:nvSpPr>
        <p:spPr>
          <a:xfrm>
            <a:off x="2340864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1" name="Text 18"/>
          <p:cNvSpPr/>
          <p:nvPr/>
        </p:nvSpPr>
        <p:spPr>
          <a:xfrm>
            <a:off x="2340864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</a:t>
            </a:r>
            <a:endParaRPr lang="en-US" sz="870" dirty="0"/>
          </a:p>
        </p:txBody>
      </p:sp>
      <p:sp>
        <p:nvSpPr>
          <p:cNvPr id="22" name="Shape 19"/>
          <p:cNvSpPr/>
          <p:nvPr/>
        </p:nvSpPr>
        <p:spPr>
          <a:xfrm>
            <a:off x="3236976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3" name="Text 20"/>
          <p:cNvSpPr/>
          <p:nvPr/>
        </p:nvSpPr>
        <p:spPr>
          <a:xfrm>
            <a:off x="3236976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</a:t>
            </a:r>
            <a:endParaRPr lang="en-US" sz="870" dirty="0"/>
          </a:p>
        </p:txBody>
      </p:sp>
      <p:sp>
        <p:nvSpPr>
          <p:cNvPr id="24" name="Shape 21"/>
          <p:cNvSpPr/>
          <p:nvPr/>
        </p:nvSpPr>
        <p:spPr>
          <a:xfrm>
            <a:off x="4133088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5" name="Text 22"/>
          <p:cNvSpPr/>
          <p:nvPr/>
        </p:nvSpPr>
        <p:spPr>
          <a:xfrm>
            <a:off x="4133088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</a:t>
            </a:r>
            <a:endParaRPr lang="en-US" sz="870" dirty="0"/>
          </a:p>
        </p:txBody>
      </p:sp>
      <p:sp>
        <p:nvSpPr>
          <p:cNvPr id="26" name="Shape 23"/>
          <p:cNvSpPr/>
          <p:nvPr/>
        </p:nvSpPr>
        <p:spPr>
          <a:xfrm>
            <a:off x="5029200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5029200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</a:t>
            </a:r>
            <a:endParaRPr lang="en-US" sz="870" dirty="0"/>
          </a:p>
        </p:txBody>
      </p:sp>
      <p:sp>
        <p:nvSpPr>
          <p:cNvPr id="28" name="Shape 25"/>
          <p:cNvSpPr/>
          <p:nvPr/>
        </p:nvSpPr>
        <p:spPr>
          <a:xfrm>
            <a:off x="5925312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9" name="Text 26"/>
          <p:cNvSpPr/>
          <p:nvPr/>
        </p:nvSpPr>
        <p:spPr>
          <a:xfrm>
            <a:off x="5925312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N603</a:t>
            </a:r>
            <a:endParaRPr lang="en-US" sz="870" dirty="0"/>
          </a:p>
        </p:txBody>
      </p:sp>
      <p:sp>
        <p:nvSpPr>
          <p:cNvPr id="30" name="Shape 27"/>
          <p:cNvSpPr/>
          <p:nvPr/>
        </p:nvSpPr>
        <p:spPr>
          <a:xfrm>
            <a:off x="6821424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1" name="Text 28"/>
          <p:cNvSpPr/>
          <p:nvPr/>
        </p:nvSpPr>
        <p:spPr>
          <a:xfrm>
            <a:off x="6821424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</a:t>
            </a:r>
            <a:endParaRPr lang="en-US" sz="870" dirty="0"/>
          </a:p>
        </p:txBody>
      </p:sp>
      <p:sp>
        <p:nvSpPr>
          <p:cNvPr id="32" name="Shape 29"/>
          <p:cNvSpPr/>
          <p:nvPr/>
        </p:nvSpPr>
        <p:spPr>
          <a:xfrm>
            <a:off x="7717536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3" name="Text 30"/>
          <p:cNvSpPr/>
          <p:nvPr/>
        </p:nvSpPr>
        <p:spPr>
          <a:xfrm>
            <a:off x="7717536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</a:t>
            </a:r>
            <a:endParaRPr lang="en-US" sz="870" dirty="0"/>
          </a:p>
        </p:txBody>
      </p:sp>
      <p:sp>
        <p:nvSpPr>
          <p:cNvPr id="34" name="Shape 31"/>
          <p:cNvSpPr/>
          <p:nvPr/>
        </p:nvSpPr>
        <p:spPr>
          <a:xfrm>
            <a:off x="8613648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5" name="Text 32"/>
          <p:cNvSpPr/>
          <p:nvPr/>
        </p:nvSpPr>
        <p:spPr>
          <a:xfrm>
            <a:off x="8613648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</a:t>
            </a:r>
            <a:endParaRPr lang="en-US" sz="870" dirty="0"/>
          </a:p>
        </p:txBody>
      </p:sp>
      <p:sp>
        <p:nvSpPr>
          <p:cNvPr id="36" name="Text 3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Ortalama Üretim Adedi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389120" y="1298448"/>
            <a:ext cx="109728" cy="10972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0" y="124358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Nisan–Mayıs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217920" y="1298448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0" y="124358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Haziran–Temmuz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743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377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029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63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315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49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9601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869680" y="5623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adet/gün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48640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469380" y="1828800"/>
            <a:ext cx="2071116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05372" y="176479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1" name="Shape 18"/>
          <p:cNvSpPr/>
          <p:nvPr/>
        </p:nvSpPr>
        <p:spPr>
          <a:xfrm>
            <a:off x="8476488" y="176479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19"/>
          <p:cNvSpPr/>
          <p:nvPr/>
        </p:nvSpPr>
        <p:spPr>
          <a:xfrm>
            <a:off x="8677656" y="1719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+56%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48640" y="20665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ETM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093208" y="2176272"/>
            <a:ext cx="3790188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029200" y="211226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Shape 23"/>
          <p:cNvSpPr/>
          <p:nvPr/>
        </p:nvSpPr>
        <p:spPr>
          <a:xfrm>
            <a:off x="8819388" y="211226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9020556" y="20665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+161%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48640" y="24140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773168" y="2523744"/>
            <a:ext cx="3026664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709160" y="245973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1" name="Shape 28"/>
          <p:cNvSpPr/>
          <p:nvPr/>
        </p:nvSpPr>
        <p:spPr>
          <a:xfrm>
            <a:off x="7735824" y="245973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29"/>
          <p:cNvSpPr/>
          <p:nvPr/>
        </p:nvSpPr>
        <p:spPr>
          <a:xfrm>
            <a:off x="7936992" y="241401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+149%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48640" y="2761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Flowform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832604" y="2871216"/>
            <a:ext cx="2898648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768596" y="280720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6" name="Shape 33"/>
          <p:cNvSpPr/>
          <p:nvPr/>
        </p:nvSpPr>
        <p:spPr>
          <a:xfrm>
            <a:off x="7667244" y="280720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7" name="Text 34"/>
          <p:cNvSpPr/>
          <p:nvPr/>
        </p:nvSpPr>
        <p:spPr>
          <a:xfrm>
            <a:off x="7868412" y="27614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+139%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5486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ROB104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750308" y="3218688"/>
            <a:ext cx="28346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686300" y="3154680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1" name="Shape 38"/>
          <p:cNvSpPr/>
          <p:nvPr/>
        </p:nvSpPr>
        <p:spPr>
          <a:xfrm>
            <a:off x="7520940" y="315468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39"/>
          <p:cNvSpPr/>
          <p:nvPr/>
        </p:nvSpPr>
        <p:spPr>
          <a:xfrm>
            <a:off x="7722108" y="3108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+141%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548640" y="34564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N602-603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681728" y="3566160"/>
            <a:ext cx="2441448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617720" y="350215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6" name="Shape 43"/>
          <p:cNvSpPr/>
          <p:nvPr/>
        </p:nvSpPr>
        <p:spPr>
          <a:xfrm>
            <a:off x="7059168" y="350215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7" name="Text 44"/>
          <p:cNvSpPr/>
          <p:nvPr/>
        </p:nvSpPr>
        <p:spPr>
          <a:xfrm>
            <a:off x="7260336" y="3456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+126%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548640" y="38039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ROB109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4521708" y="3913632"/>
            <a:ext cx="2706624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4457700" y="384962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1" name="Shape 48"/>
          <p:cNvSpPr/>
          <p:nvPr/>
        </p:nvSpPr>
        <p:spPr>
          <a:xfrm>
            <a:off x="7164324" y="384962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2" name="Text 49"/>
          <p:cNvSpPr/>
          <p:nvPr/>
        </p:nvSpPr>
        <p:spPr>
          <a:xfrm>
            <a:off x="7365492" y="38039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+152%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48640" y="41513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Quench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668012" y="4261104"/>
            <a:ext cx="2505456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604004" y="419709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6" name="Shape 53"/>
          <p:cNvSpPr/>
          <p:nvPr/>
        </p:nvSpPr>
        <p:spPr>
          <a:xfrm>
            <a:off x="7109460" y="419709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7" name="Text 54"/>
          <p:cNvSpPr/>
          <p:nvPr/>
        </p:nvSpPr>
        <p:spPr>
          <a:xfrm>
            <a:off x="7310628" y="4151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+130%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54864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ROB110-111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411980" y="4608576"/>
            <a:ext cx="2793492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347972" y="454456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1" name="Shape 58"/>
          <p:cNvSpPr/>
          <p:nvPr/>
        </p:nvSpPr>
        <p:spPr>
          <a:xfrm>
            <a:off x="7141464" y="454456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2" name="Text 59"/>
          <p:cNvSpPr/>
          <p:nvPr/>
        </p:nvSpPr>
        <p:spPr>
          <a:xfrm>
            <a:off x="7342632" y="4498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+167%</a:t>
            </a:r>
            <a:endParaRPr lang="en-US" sz="1100" dirty="0"/>
          </a:p>
        </p:txBody>
      </p:sp>
      <p:sp>
        <p:nvSpPr>
          <p:cNvPr id="63" name="Text 60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64" name="Text 6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Üretim Adetleri (Haziran–Temmuz)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17320"/>
          <a:ext cx="67665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459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Haziran–Temmuz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Üretim (adet)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HAT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14.587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EEC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Hattaki Ortalama Üretim Miktarının Zamana Bağlı Değişimi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5720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NİSAN – MAYIS TRENDİ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Takip: 43 Gün  ·  En Yüksek Ort: 100.0  ·  Dönem Ort: 47.5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30936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HAZİRAN – TEMMUZ TRENDİ (13 HAZİRAN SONRASI)</a:t>
            </a:r>
            <a:endParaRPr lang="en-US" sz="13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30936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630936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Takip: 19 Gün  ·  En Yüksek Ort: 130.8  ·  Dönem Ort: 106.8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OEE — Ekipman Etkinliği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 = Availability × Performance. Kalite bileşeni dahil edilmedi — 12 üretim hücresinin hiçbirinde satır bazlı ret/fire verisi tutulmuyor (sadece FF Preform ve Final Ölçüm istasyonlarında var, bu 12 hücreden bağımsız ölçüm noktaları). Nisan-Mayıs karşılaştırması yok çünkü Hedef Üretim Adeti hücre bazında Haziran ortasına kadar kademeli devreye alındı.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66751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463040"/>
                <a:gridCol w="14630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498080" y="205740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1E2761"/>
          </a:solidFill>
          <a:ln/>
        </p:spPr>
      </p:sp>
      <p:sp>
        <p:nvSpPr>
          <p:cNvPr id="9" name="Text 5"/>
          <p:cNvSpPr/>
          <p:nvPr/>
        </p:nvSpPr>
        <p:spPr>
          <a:xfrm>
            <a:off x="7726680" y="2148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72.3%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7726680" y="26791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 ortalaması OEE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(Haz-Tem, 9 hücre)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498080" y="342900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1E2761"/>
          </a:solidFill>
          <a:ln/>
        </p:spPr>
      </p:sp>
      <p:sp>
        <p:nvSpPr>
          <p:cNvPr id="12" name="Text 8"/>
          <p:cNvSpPr/>
          <p:nvPr/>
        </p:nvSpPr>
        <p:spPr>
          <a:xfrm>
            <a:off x="7726680" y="35204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86.5%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7726680" y="40507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 OEE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498080" y="480060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1E2761"/>
          </a:solidFill>
          <a:ln/>
        </p:spPr>
      </p:sp>
      <p:sp>
        <p:nvSpPr>
          <p:cNvPr id="15" name="Text 11"/>
          <p:cNvSpPr/>
          <p:nvPr/>
        </p:nvSpPr>
        <p:spPr>
          <a:xfrm>
            <a:off x="7726680" y="4892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57.2%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7726680" y="54223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düşük OEE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48640" y="5989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Quench'te Haziran-Temmuz'da hedefli üretim verisi yetersiz olduğundan Performance/OEE hesaplanamadı.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MTBF ve MTTR — Arıza Bazlı Güvenilirlik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 = (Planlı Süre − Arıza Dakikası) / Arıza Kaydı Sayısı  ·  MTTR = Arıza Dakikası / Arıza Kaydı Sayısı. Sadece "Arıza" (breakdown) kolonuna dayanır; planlı duruş, setup, mola vb. diğer duruş türleri dahil değildir.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377440"/>
                <a:gridCol w="23774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MTBF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MTTR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Arıza Kaydı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1019.3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303.1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56235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Örnek sayısı azdır (&lt;5 arıza kaydı) — Quench (3 kayıt) için MTBF/MTTR yorumlanırken dikkatli olunmalı.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Güvenilirlik Özeti — Hücre Kıyaslaması (Haz-Tem)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6583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269480" y="1463040"/>
            <a:ext cx="4023360" cy="44805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589520" y="1691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GÖZLEM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589520" y="2011680"/>
            <a:ext cx="33832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düşük MTBF (106,9 dk) — sık arıza pattern'i sürüyor (bkz. Duruş Analizi, arıza yoğunluğu +204%).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N602-N603: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çok arıza kaydı (61 olay) ama MTTR düşük (24,8 dk) — hızlı müdahale ediliyor.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 MTTR (38,2 dk, Quench'in az örnekli 270 dk'sı hariç) — giderilme süresi kök neden incelemesi için fırsat.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 ve ROB104: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Hattın en düşük OEE'si (%22,9 / %23,8) — hem availability hem performance tarafında iyileştirme alanı var.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Hücreler Arası Akış Sırası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272284" y="1828800"/>
            <a:ext cx="256032" cy="25603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414016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2414016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046220" y="1828800"/>
            <a:ext cx="256032" cy="25603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187952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3" name="Text 8"/>
          <p:cNvSpPr/>
          <p:nvPr/>
        </p:nvSpPr>
        <p:spPr>
          <a:xfrm>
            <a:off x="4187952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</a:t>
            </a:r>
            <a:endParaRPr lang="en-US" sz="12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5820156" y="1828800"/>
            <a:ext cx="256032" cy="25603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5961888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6" name="Text 10"/>
          <p:cNvSpPr/>
          <p:nvPr/>
        </p:nvSpPr>
        <p:spPr>
          <a:xfrm>
            <a:off x="5961888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</a:t>
            </a:r>
            <a:endParaRPr lang="en-US" sz="12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7594092" y="1828800"/>
            <a:ext cx="256032" cy="256032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7735824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9" name="Text 12"/>
          <p:cNvSpPr/>
          <p:nvPr/>
        </p:nvSpPr>
        <p:spPr>
          <a:xfrm>
            <a:off x="7735824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</a:t>
            </a:r>
            <a:endParaRPr lang="en-US" sz="12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9368028" y="1828800"/>
            <a:ext cx="256032" cy="256032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9509760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8590A6"/>
          </a:solidFill>
          <a:ln/>
        </p:spPr>
      </p:sp>
      <p:sp>
        <p:nvSpPr>
          <p:cNvPr id="22" name="Text 14"/>
          <p:cNvSpPr/>
          <p:nvPr/>
        </p:nvSpPr>
        <p:spPr>
          <a:xfrm>
            <a:off x="9509760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 / N603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640080" y="2386584"/>
            <a:ext cx="10497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 ve N603 paralel çalışır; ikisi de ROB104'ten beslenir, ikisi de ROB109'a gönderir.</a:t>
            </a:r>
            <a:endParaRPr lang="en-US" sz="95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9544" y="2834640"/>
            <a:ext cx="292608" cy="292608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40080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6" name="Text 17"/>
          <p:cNvSpPr/>
          <p:nvPr/>
        </p:nvSpPr>
        <p:spPr>
          <a:xfrm>
            <a:off x="640080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</a:t>
            </a:r>
            <a:endParaRPr lang="en-US" sz="120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6200000">
            <a:off x="2386584" y="3584448"/>
            <a:ext cx="256032" cy="256032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2715768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9" name="Text 19"/>
          <p:cNvSpPr/>
          <p:nvPr/>
        </p:nvSpPr>
        <p:spPr>
          <a:xfrm>
            <a:off x="2715768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</a:t>
            </a:r>
            <a:endParaRPr lang="en-US" sz="1200" dirty="0"/>
          </a:p>
        </p:txBody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6200000">
            <a:off x="4462272" y="3584448"/>
            <a:ext cx="256032" cy="256032"/>
          </a:xfrm>
          <a:prstGeom prst="rect">
            <a:avLst/>
          </a:prstGeom>
        </p:spPr>
      </p:pic>
      <p:sp>
        <p:nvSpPr>
          <p:cNvPr id="31" name="Shape 20"/>
          <p:cNvSpPr/>
          <p:nvPr/>
        </p:nvSpPr>
        <p:spPr>
          <a:xfrm>
            <a:off x="4791456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8590A6"/>
          </a:solidFill>
          <a:ln/>
        </p:spPr>
      </p:sp>
      <p:sp>
        <p:nvSpPr>
          <p:cNvPr id="32" name="Text 21"/>
          <p:cNvSpPr/>
          <p:nvPr/>
        </p:nvSpPr>
        <p:spPr>
          <a:xfrm>
            <a:off x="4791456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</a:t>
            </a:r>
            <a:endParaRPr lang="en-US" sz="1200" dirty="0"/>
          </a:p>
        </p:txBody>
      </p:sp>
      <p:sp>
        <p:nvSpPr>
          <p:cNvPr id="33" name="Shape 22"/>
          <p:cNvSpPr/>
          <p:nvPr/>
        </p:nvSpPr>
        <p:spPr>
          <a:xfrm>
            <a:off x="640080" y="4498848"/>
            <a:ext cx="10332720" cy="777240"/>
          </a:xfrm>
          <a:prstGeom prst="roundRect">
            <a:avLst>
              <a:gd name="adj" fmla="val 9412"/>
            </a:avLst>
          </a:prstGeom>
          <a:solidFill>
            <a:srgbClr val="EEF2FC"/>
          </a:solidFill>
          <a:ln/>
        </p:spPr>
      </p:sp>
      <p:sp>
        <p:nvSpPr>
          <p:cNvPr id="34" name="Text 23"/>
          <p:cNvSpPr/>
          <p:nvPr/>
        </p:nvSpPr>
        <p:spPr>
          <a:xfrm>
            <a:off x="914400" y="449884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 ve ROB108,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Pres'in hemen ardından gelen istasyonlar olarak en yüksek upstream bekleme baskısını taşıyordu. Bu analizde odak buradadır.</a:t>
            </a:r>
            <a:endParaRPr lang="en-US" sz="1250" dirty="0"/>
          </a:p>
        </p:txBody>
      </p:sp>
      <p:sp>
        <p:nvSpPr>
          <p:cNvPr id="35" name="Text 2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Analizi</a:t>
            </a:r>
            <a:endParaRPr lang="en-US" sz="900" dirty="0"/>
          </a:p>
        </p:txBody>
      </p:sp>
      <p:sp>
        <p:nvSpPr>
          <p:cNvPr id="36" name="Text 2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Kök Neden Özeti ve Alınan Aksiyonlar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53492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7830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Kök Nedenler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402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Hücreler arası hız/hazırlık dengesizliği (Pres sonrası istasyonlarda birikme)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Tekrarlayan ekipman arızaları — özellikle N603 titreşim problemi (Nisan)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Flowform'da yağlama ve ejektör kaynaklı mekanik duruşlar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508760"/>
            <a:ext cx="53492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17830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Alınan Aksiyonlar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22402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N602-N603 indüksiyon fırını coil yükseltme plakası revize edildi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 çalışan makine sayısına göre dinamik hedef sistemi kuruldu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Flowform'da 6 mekanik madde (ejektör, yağlama, kalıp yıkama) Haziran sonunda kapatıldı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4983480"/>
            <a:ext cx="1042416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4983480"/>
            <a:ext cx="9875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Sonuç: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bekleme, ortalama hücre bazında %46 azaldı; üretim adetleri günlük ortalamada yaklaşık 3 katına çıktı. ROB109 istisnası hariç, darboğaz baskısı hattın geneline yayılmış durumdan tekil noktalara geriledi.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Analizi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Toplam Duruş Yükü — Genel Görünüm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önceki istasyon bekleme değil; arıza, planlı duruş, setup/hazırlık, takım-kalıp değişimi, mola ve müşteri/kalite kaynaklı duruşların tamamı bu bölümde derinlemesine incelenir.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9.610 dk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31520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Haziran–Temmuz toplam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arıza süresi (~160 saat, 11 hücre)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27832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3410712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-51,7%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410712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Nisan-Mayıs'a göre toplam arıza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dakikası değişimi (19.899 → 9.610 dk)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07024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4" name="Text 11"/>
          <p:cNvSpPr/>
          <p:nvPr/>
        </p:nvSpPr>
        <p:spPr>
          <a:xfrm>
            <a:off x="6089904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Belirsiz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089904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sık arıza nedeni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(1.836 dk / 78 olay)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586216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/>
          <p:nvPr/>
        </p:nvSpPr>
        <p:spPr>
          <a:xfrm>
            <a:off x="8769096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%7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769096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Arıza olaylarının 'giderildi' olarak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işaretlenme oranı (23 / 318 olay)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43434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Aşağıdaki sayfalarda: duruş kategorilerinin hücrelere dağılımı, üretim hacmine göre normalize edilmiş arıza yoğunluğu, en sık nedenler (Pareto), hücre bazlı baskın neden ve tekrarlayan somut sorunlar ele alınır.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Duruş Kategorileri — Zaman Nereye Gidiyor?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371600"/>
          <a:ext cx="112471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56235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dakikadır (hücrelerin kayıtlı gün sayısı farklı olduğundan günlük ortalama değildir — yoğunluk karşılaştırması için bir sonraki sayfaya bakınız).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Arıza Yoğunluğu — Üretime Oranlı Karşılaştırma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Mutlak arıza dakikası, üretim hacmi arttıkça doğal olarak artabilir. Bu tablo arızayı üretilen 100 adet başına dakika olarak normalize eder; böylece hücreler arası ve dönemler arası karşılaştırma daha adil olur.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07899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651760"/>
                <a:gridCol w="2651760"/>
                <a:gridCol w="173736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Nisan–Mayıs (dk/100 adet)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Haziran–Temmuz (dk/100 adet)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sorun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623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 ve ROB110-111'de arıza yoğunluğu belirgin arttı — üretim artışıyla açıklanamayacak kadar büyük (+444% / +204%). Quench'te Haziran-Temmuz'da yeni bir arıza kaynağı ortaya çıktı (bkz. 29 Haziran olayı).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Sık Arıza Nedenleri — Tüm Hat (Haz-Tem)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10789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"Belirsiz" kategorisi 1.836 dk (%19) ile 2. sırada — kök nedeni etiketlenmemiş arızaların payı yüksek. "Diğer" grubu: Talaş Arabası Dolu, Pres Öncesi/Sonrası, Çıkış Konveyörü Dolu ve hiç neden kodu girilmemiş kayıtların (251 dk) toplamıdır.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(Pareto) — 13.06.2026 ve Sonrası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11064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Grafik: Pareto duruş süresi (bar, sol eksen) ve Duruş sıklığı (turuncu çizgi, sağ eksen), ilk 3 neden vurgulu. İlk 3 neden toplam duruş süresinin %42'ini oluşturmaktadır. Veriler 13.06.2026 sonrası seçili hücrelerin kategorize edilmiş duruş verileridir.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(Aksiyon Planı) — 13.06.2026 ve Sonrası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40080"/>
                <a:gridCol w="457200"/>
                <a:gridCol w="548640"/>
                <a:gridCol w="3657600"/>
                <a:gridCol w="365760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Sayısı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Küm.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Baskın Kök Neden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Önleyici Aksiyon Planı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2.060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2.022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Tablo: Pareto analizine göre en yüksek kayba yol açan ilk 5 hücrenin baskın kök nedenleri ve önleyici faaliyetleri listelenmiştir.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Baskın Arıza Nedeni (Haz-Tem)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2011680"/>
                <a:gridCol w="16459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Baskın Neden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Olay Sayısı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(lokasyon bazlı)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Belirsiz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Akışkan (hidrolik yağ sıcaklığı)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Titreşim — Çözüldü (bkz. Öne Çıkan Sorunlar)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6.810 → 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Belirsiz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N602'deki hidrolik yağ sıcaklığı sorunu N603'ün titreşim probleminin de kaynağıydı; kök nedeni ortak (bkz. Slayt — N603 Titreşim vakası).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Türlerine Göre Dağılım — 13.06.2026 ve Sonrası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463040"/>
          <a:ext cx="5394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097280"/>
                <a:gridCol w="914400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Kayıp Türü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Sayısı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(%)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6.150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/ Kalıp Değişimi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2.840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/ Ayar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1.915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Akışkan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Müşteri / Kalite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Yardımcı Süreç Kayıpları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48640" y="54864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Grafik: Kayıp kategorilerinin toplam duruş sürelerine göre yüzde dağılımı. Veriler 13.06.2026 sonrası seçili hücrelerin kategorize edilmiş duruş verileridir.</a:t>
            </a:r>
            <a:endParaRPr lang="en-US" sz="1050" dirty="0"/>
          </a:p>
        </p:txBody>
      </p:sp>
      <p:sp>
        <p:nvSpPr>
          <p:cNvPr id="9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Aynı Açıklamayla ≥3 Kez Tekrarlanan Duruşlar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  <a:gridCol w="118872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Tekrar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+ 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"Fabrikada elektrik yok" — tesis geneli kesinti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+ 4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[Hidrolik Yağ Sıcaklık Alarmı]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Hidrolik yağ sıcaklığı yükselmesi (N603 titreşim kökeni)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Haberleşme hatası / problemi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Shuttle motor mili arızası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+ 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Cnc tezgah takım kırılması ve yatak ayarı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+ 3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074920"/>
            <a:ext cx="1078992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8" name="Text 4"/>
          <p:cNvSpPr/>
          <p:nvPr/>
        </p:nvSpPr>
        <p:spPr>
          <a:xfrm>
            <a:off x="868680" y="5074920"/>
            <a:ext cx="10149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bulgu: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ROB110-111'deki tekrarlayan haberleşme hatası (6 olay, 236 dk) hiçbir aksiyon maddesinde henüz ele alınmamış. "Fabrikada elektrik yok" kaydı aynı gün iki ayrı hücrede girilmiş — tek bir tesis geneli kesinti, çift kayıt değil.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Arıza Kayıtlarında Çözüm Takibi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880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318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429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ARIZA OLAYI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029200" y="1463040"/>
            <a:ext cx="63093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5349240" y="1691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GÖZLEM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349240" y="20116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Sistemde "arıza giderildi" alanı mevcut ancak sahada tutarlı doldurulmuyor: 318 arıza olayının sadece 23'ü (%7) çözüm olarak işaretlenmiş (957 / 9.610 dk). Bu, arızaların çözülmediği anlamına gelmiyor — takip alanının disiplinli kullanılmadığını gösteriyor.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029200" y="3474720"/>
            <a:ext cx="6309360" cy="1005840"/>
          </a:xfrm>
          <a:prstGeom prst="roundRect">
            <a:avLst>
              <a:gd name="adj" fmla="val 7273"/>
            </a:avLst>
          </a:prstGeom>
          <a:solidFill>
            <a:srgbClr val="EEF2FC"/>
          </a:solidFill>
          <a:ln/>
        </p:spPr>
      </p:sp>
      <p:sp>
        <p:nvSpPr>
          <p:cNvPr id="13" name="Text 9"/>
          <p:cNvSpPr/>
          <p:nvPr/>
        </p:nvSpPr>
        <p:spPr>
          <a:xfrm>
            <a:off x="5349240" y="36850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ÖNERİ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349240" y="39776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Belirli bir süre üzerindeki arızalarda "giderildi" alanı ve çözüm açıklaması zorunlu hale getirilebilir; bu hem takip disiplinini hem de kök neden veri kalitesini artırır.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N603 Hücresi — Titreşim Problemi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Çözüldü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6.810 → 70 dk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arıza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(Nisan-Mayıs → Haziran-Temmuz)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-99%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Azalış oranı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16–28 Nisan arasında art arda günlerde 400–540 dk/gün arıza kaynaklı duruş yaşandı. Kök neden olarak X ekseni pozisyon kaybı, makara grubu ve sürücü/enkoder kaynaklı titreşim tespit edildi.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ALINAN AKSİYON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İndüksiyon fırını coil yükseltme plakası ve ejektör yağ tavası ile ilgili 3 madde 29 Haziran – 1 Temmuz arasında kapatıldı. Sorun tekrarlamadı.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Quench Hücresi — 29 Haziran Olayı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Bekliyor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 dk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(29 Haziran olayı)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parça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Hasarlı V-bükümü,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parça bekletildi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Gece vardiyasında operatör parçayı fırın çıkışındaki dişli-zincir arasına sıkıştırdı, 20 dakika bu şekilde çalıştırdı: 6 adet V Büküm parça hasar gördü, 5 saatlik müdahale gerekti. Ayrıca 18 Haziran'da ayrı bir valf contası arızası 480 dk'lık duruşa yol açtı.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GEREKLİ KARAR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Operatör prosedürü (SOP) ve eğitim gözden geçirmesi gerekiyor. Aksiyon takibinde bu hücre için sadece 1 açık madde kayıtlı — kapsam genişletilmeli.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Flowform Hücresi — Mekanik İyileştirme Paketi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Kısmen Çözüldü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4.025 → 849 dk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arıza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(Nisan-Mayıs → Haziran-Temmuz)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16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Madde kapatıldı,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madde hâlâ açık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Ejektör titreşimi, boryağı kaçağı, yağlama sensörü üzerinde pasta birikimi, AMR montür çarpışması ve HS mandrel kovan için yedek kalıp eksikliği gibi çoklu mekanik sorun kaynağı vardı.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ALINAN AKSİYON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Haziran'da 6 madde birden kapatıldı (ejektör, yağlama sensörü braketi, kalıp yıkama hattı dahil). Kalan 10 açık madde ile çalışma devam ediyor.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 Hücresi — En Yüksek Açık Madde Yükü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FEF3C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Devam Ediyor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/ 32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 aksiyon maddesi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(tüm hücreler içinde en yüksek)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1.526 dk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Haziran-Temmuz arıza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(Nisan-Mayıs: 2.880 dk)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Pres, hattaki en yüksek açık madde yüküne sahip hücre. Üretim hacmi artmasına rağmen (33,2 → 102,1 adet/gün) mutlak arıza süresi hâlâ yüksek seyrediyor.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 BASKISI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Pres, mevcut planla 9 Temmuz'da üretimi durduracak (bkz. Hat Kapanış Tahmini). Açık 29 maddenin bir kısmı bu tarihe yetişmeyebilir — önceliklendirme kararı gerekiyor.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AKSİYON TAKİBİ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 Madde — Genel Durum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37160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7889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MADDE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88720"/>
                <a:gridCol w="118872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Tamamlandı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029200" y="416052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Nisan-Mayıs döneminde tamamlanan madde sayısı sıfırdı; 14 maddenin tamamı Haziran-Temmuz'da kapatıldı.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Takibi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AKSİYON TAKİBİ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Haziran–Temmuz'da Kapanan Öne Çıkan Maddeler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0789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6809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Kapatılan Madde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İndüksiyon fırını coil yükseltme plaka çapı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Diş tazeleme masası oluşturuldu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kalite konveyörü parça ilerletme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HFP dişi kalıp oringleri yedeklendi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Ejektör offset plakası dış çapı düzeltildi (164 mm)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Hadde asansörü tufal birikimi giderildi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 kalıp yıkama hattı eklenerek cycle time düşürüldü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Ejektör tam strok titreşim/ses sorunu giderildi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AMR montürlerine parça binmesi sorunu giderildi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Ejektör yağ tavaları eklendi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Takibi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Yatırım Talepleri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07899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D8DEEC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868680" y="187452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947672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16152" y="18745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Bekliyor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68680" y="23774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bölümün madde listesi henüz kesinleşmedi. Sunum hazırlığı sırasında ilgili paydaşlarla birlikte netleştirilecek.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0175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DOLDURULACAK ŞABLON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68680" y="3337560"/>
            <a:ext cx="10149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[Ekipman / Sistem Adı]  —  Gerekçe (hangi veri/vaka destekliyor)  —  Tahmini Etki  —  Tahmini Bütçe / Süre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adaylar (bu oturumda netleşmedi): Quench hattı operatör eğitim/SOP güncellemesi, Pres açık madde yükünün azaltılması için ek kapasite, ROB109 darboğazına yönelik inceleme.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Müşteriden Talep Edilecekler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07899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D8DEEC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868680" y="187452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947672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16152" y="18745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Bekliyor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68680" y="23774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bölümün madde listesi henüz kesinleşmedi. Sunum hazırlığı sırasında ilgili paydaşlarla birlikte netleştirilecek.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0175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DOLDURULACAK ŞABLON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68680" y="3337560"/>
            <a:ext cx="10149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[Talep Konusu]  —  Gerekçe  —  Beklenen Katkı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aday (bu oturumda netleşmedi): sunum hazırlığı sırasında ilgili paydaşlarla netleştirilecek.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Sonraki Adımlar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34440" y="16002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 için aksiyon planı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234440" y="196596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 SOP/eğitim gözden geçirmesi yapılacak.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34440" y="265176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listesinin kesinleştirilmesi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1234440" y="301752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Yatırım ve müşteri talebi maddeleri ilgili sorumlularla birlikte tamamlanacak.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37490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34440" y="370332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 kapanış takvimine göre önceliklendirme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1234440" y="406908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Temmuz öncesi Pres hücresindeki 29 açık maddenin önceliklendirilmesi.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800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234440" y="47548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Üst yönetim sunumu ve karar toplantısı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1234440" y="5120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Netleşen talep listesiyle birlikte nihai sunumun üst yönetime iletilmesi.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Repkon HF901 Seri Üretim — Performans Raporu ve Aksiyon Talebi</dc:title>
  <dc:subject>PptxGenJS Presentation</dc:subject>
  <dc:creator>Repkon HF901</dc:creator>
  <cp:lastModifiedBy>Repkon HF901</cp:lastModifiedBy>
  <cp:revision>1</cp:revision>
  <dcterms:created xsi:type="dcterms:W3CDTF">2026-07-06T14:00:29Z</dcterms:created>
  <dcterms:modified xsi:type="dcterms:W3CDTF">2026-07-06T14:00:29Z</dcterms:modified>
</cp:coreProperties>
</file>