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5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6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Üretim (adet)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ROB110-111</c:v>
                  </c:pt>
                  <c:pt idx="1">
                    <c:v>Quench</c:v>
                  </c:pt>
                  <c:pt idx="2">
                    <c:v>ROB109</c:v>
                  </c:pt>
                  <c:pt idx="3">
                    <c:v>N602-N603</c:v>
                  </c:pt>
                  <c:pt idx="4">
                    <c:v>ROB104</c:v>
                  </c:pt>
                  <c:pt idx="5">
                    <c:v>Flowform</c:v>
                  </c:pt>
                  <c:pt idx="6">
                    <c:v>ROB108</c:v>
                  </c:pt>
                  <c:pt idx="7">
                    <c:v>ETM</c:v>
                  </c:pt>
                  <c:pt idx="8">
                    <c:v>Pres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821</c:v>
                </c:pt>
                <c:pt idx="1">
                  <c:v>1462</c:v>
                </c:pt>
                <c:pt idx="2">
                  <c:v>1450</c:v>
                </c:pt>
                <c:pt idx="3">
                  <c:v>1521</c:v>
                </c:pt>
                <c:pt idx="4">
                  <c:v>1644</c:v>
                </c:pt>
                <c:pt idx="5">
                  <c:v>1680</c:v>
                </c:pt>
                <c:pt idx="6">
                  <c:v>1823</c:v>
                </c:pt>
                <c:pt idx="7">
                  <c:v>2003</c:v>
                </c:pt>
                <c:pt idx="8">
                  <c:v>2107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adet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OEE %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ETM</c:v>
                  </c:pt>
                  <c:pt idx="1">
                    <c:v>N602-N603</c:v>
                  </c:pt>
                  <c:pt idx="2">
                    <c:v>Quench</c:v>
                  </c:pt>
                  <c:pt idx="3">
                    <c:v>Pres</c:v>
                  </c:pt>
                  <c:pt idx="4">
                    <c:v>ROB104</c:v>
                  </c:pt>
                  <c:pt idx="5">
                    <c:v>ROB108</c:v>
                  </c:pt>
                  <c:pt idx="6">
                    <c:v>Flowform</c:v>
                  </c:pt>
                  <c:pt idx="7">
                    <c:v>ROB109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81.4</c:v>
                </c:pt>
                <c:pt idx="1">
                  <c:v>77</c:v>
                </c:pt>
                <c:pt idx="2">
                  <c:v>75.9</c:v>
                </c:pt>
                <c:pt idx="3">
                  <c:v>73.6</c:v>
                </c:pt>
                <c:pt idx="4">
                  <c:v>70.4</c:v>
                </c:pt>
                <c:pt idx="5">
                  <c:v>70.1</c:v>
                </c:pt>
                <c:pt idx="6">
                  <c:v>66.6</c:v>
                </c:pt>
                <c:pt idx="7">
                  <c:v>64</c:v>
                </c:pt>
                <c:pt idx="8">
                  <c:v>54.3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OEE 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Arıza</c:v>
                </c:pt>
              </c:strCache>
            </c:strRef>
          </c:tx>
          <c:spPr>
            <a:solidFill>
              <a:srgbClr val="B91C1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1544</c:v>
                </c:pt>
                <c:pt idx="1">
                  <c:v>917</c:v>
                </c:pt>
                <c:pt idx="2">
                  <c:v>939</c:v>
                </c:pt>
                <c:pt idx="3">
                  <c:v>849</c:v>
                </c:pt>
                <c:pt idx="4">
                  <c:v>869</c:v>
                </c:pt>
                <c:pt idx="5">
                  <c:v>1481</c:v>
                </c:pt>
                <c:pt idx="6">
                  <c:v>707</c:v>
                </c:pt>
                <c:pt idx="7">
                  <c:v>1080</c:v>
                </c:pt>
                <c:pt idx="8">
                  <c:v>1224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Planlı Duruş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750</c:v>
                </c:pt>
                <c:pt idx="1">
                  <c:v>89</c:v>
                </c:pt>
                <c:pt idx="2">
                  <c:v>729</c:v>
                </c:pt>
                <c:pt idx="3">
                  <c:v>633</c:v>
                </c:pt>
                <c:pt idx="4">
                  <c:v>1018</c:v>
                </c:pt>
                <c:pt idx="5">
                  <c:v>352</c:v>
                </c:pt>
                <c:pt idx="6">
                  <c:v>291</c:v>
                </c:pt>
                <c:pt idx="7">
                  <c:v>0</c:v>
                </c:pt>
                <c:pt idx="8">
                  <c:v>93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Setup / Hazırlık</c:v>
                </c:pt>
              </c:strCache>
            </c:strRef>
          </c:tx>
          <c:spPr>
            <a:solidFill>
              <a:srgbClr val="4755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454</c:v>
                </c:pt>
                <c:pt idx="1">
                  <c:v>136</c:v>
                </c:pt>
                <c:pt idx="2">
                  <c:v>442</c:v>
                </c:pt>
                <c:pt idx="3">
                  <c:v>973</c:v>
                </c:pt>
                <c:pt idx="4">
                  <c:v>235</c:v>
                </c:pt>
                <c:pt idx="5">
                  <c:v>6</c:v>
                </c:pt>
                <c:pt idx="6">
                  <c:v>15</c:v>
                </c:pt>
                <c:pt idx="7">
                  <c:v>0</c:v>
                </c:pt>
                <c:pt idx="8">
                  <c:v>50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Takım / Kalıp</c:v>
                </c:pt>
              </c:strCache>
            </c:strRef>
          </c:tx>
          <c:spPr>
            <a:solidFill>
              <a:srgbClr val="8590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Sheet1!$E$2:$E$10</c:f>
              <c:numCache>
                <c:formatCode>General</c:formatCode>
                <c:ptCount val="9"/>
                <c:pt idx="0">
                  <c:v>858</c:v>
                </c:pt>
                <c:pt idx="1">
                  <c:v>56</c:v>
                </c:pt>
                <c:pt idx="2">
                  <c:v>495</c:v>
                </c:pt>
                <c:pt idx="3">
                  <c:v>256</c:v>
                </c:pt>
                <c:pt idx="4">
                  <c:v>336</c:v>
                </c:pt>
                <c:pt idx="5">
                  <c:v>0</c:v>
                </c:pt>
                <c:pt idx="6">
                  <c:v>631</c:v>
                </c:pt>
                <c:pt idx="7">
                  <c:v>0</c:v>
                </c:pt>
                <c:pt idx="8">
                  <c:v>73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Önc. İst. Bekleme</c:v>
                </c:pt>
              </c:strCache>
            </c:strRef>
          </c:tx>
          <c:spPr>
            <a:solidFill>
              <a:srgbClr val="B4530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Sheet1!$F$2:$F$10</c:f>
              <c:numCache>
                <c:formatCode>General</c:formatCode>
                <c:ptCount val="9"/>
                <c:pt idx="0">
                  <c:v>0</c:v>
                </c:pt>
                <c:pt idx="1">
                  <c:v>2012</c:v>
                </c:pt>
                <c:pt idx="2">
                  <c:v>551</c:v>
                </c:pt>
                <c:pt idx="3">
                  <c:v>1658</c:v>
                </c:pt>
                <c:pt idx="4">
                  <c:v>1112</c:v>
                </c:pt>
                <c:pt idx="5">
                  <c:v>1137</c:v>
                </c:pt>
                <c:pt idx="6">
                  <c:v>1182</c:v>
                </c:pt>
                <c:pt idx="7">
                  <c:v>0</c:v>
                </c:pt>
                <c:pt idx="8">
                  <c:v>160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Mola</c:v>
                </c:pt>
              </c:strCache>
            </c:strRef>
          </c:tx>
          <c:spPr>
            <a:solidFill>
              <a:srgbClr val="CADCF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Sheet1!$G$2:$G$10</c:f>
              <c:numCache>
                <c:formatCode>General</c:formatCode>
                <c:ptCount val="9"/>
                <c:pt idx="0">
                  <c:v>0</c:v>
                </c:pt>
                <c:pt idx="1">
                  <c:v>585</c:v>
                </c:pt>
                <c:pt idx="2">
                  <c:v>1107</c:v>
                </c:pt>
                <c:pt idx="3">
                  <c:v>640</c:v>
                </c:pt>
                <c:pt idx="4">
                  <c:v>965</c:v>
                </c:pt>
                <c:pt idx="5">
                  <c:v>764</c:v>
                </c:pt>
                <c:pt idx="6">
                  <c:v>925</c:v>
                </c:pt>
                <c:pt idx="7">
                  <c:v>0</c:v>
                </c:pt>
                <c:pt idx="8">
                  <c:v>302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Müşteri / Kalite</c:v>
                </c:pt>
              </c:strCache>
            </c:strRef>
          </c:tx>
          <c:spPr>
            <a:solidFill>
              <a:srgbClr val="6B7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Pres</c:v>
                  </c:pt>
                  <c:pt idx="1">
                    <c:v>ETM</c:v>
                  </c:pt>
                  <c:pt idx="2">
                    <c:v>ROB108</c:v>
                  </c:pt>
                  <c:pt idx="3">
                    <c:v>Flowform</c:v>
                  </c:pt>
                  <c:pt idx="4">
                    <c:v>ROB104</c:v>
                  </c:pt>
                  <c:pt idx="5">
                    <c:v>N602-N603</c:v>
                  </c:pt>
                  <c:pt idx="6">
                    <c:v>ROB109</c:v>
                  </c:pt>
                  <c:pt idx="7">
                    <c:v>Quench</c:v>
                  </c:pt>
                  <c:pt idx="8">
                    <c:v>ROB110-111</c:v>
                  </c:pt>
                </c:lvl>
              </c:multiLvlStrCache>
            </c:multiLvlStrRef>
          </c:cat>
          <c:val>
            <c:numRef>
              <c:f>Sheet1!$H$2:$H$10</c:f>
              <c:numCache>
                <c:formatCode>General</c:formatCode>
                <c:ptCount val="9"/>
                <c:pt idx="0">
                  <c:v>30</c:v>
                </c:pt>
                <c:pt idx="1">
                  <c:v>70</c:v>
                </c:pt>
                <c:pt idx="2">
                  <c:v>60</c:v>
                </c:pt>
                <c:pt idx="3">
                  <c:v>220</c:v>
                </c:pt>
                <c:pt idx="4">
                  <c:v>0</c:v>
                </c:pt>
                <c:pt idx="5">
                  <c:v>55</c:v>
                </c:pt>
                <c:pt idx="6">
                  <c:v>134</c:v>
                </c:pt>
                <c:pt idx="7">
                  <c:v>480</c:v>
                </c:pt>
                <c:pt idx="8">
                  <c:v>326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dk (Haziran-Temmuz toplamı)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Arıza Süresi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Mekanik</c:v>
                  </c:pt>
                  <c:pt idx="1">
                    <c:v>Belirsiz</c:v>
                  </c:pt>
                  <c:pt idx="2">
                    <c:v>Elektrik</c:v>
                  </c:pt>
                  <c:pt idx="3">
                    <c:v>Akışkan</c:v>
                  </c:pt>
                  <c:pt idx="4">
                    <c:v>Pres (Lokasyon)</c:v>
                  </c:pt>
                  <c:pt idx="5">
                    <c:v>Robot</c:v>
                  </c:pt>
                  <c:pt idx="6">
                    <c:v>Bor Yağı Bitti</c:v>
                  </c:pt>
                  <c:pt idx="7">
                    <c:v>Ortak</c:v>
                  </c:pt>
                  <c:pt idx="8">
                    <c:v>Diğer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2119</c:v>
                </c:pt>
                <c:pt idx="1">
                  <c:v>1836</c:v>
                </c:pt>
                <c:pt idx="2">
                  <c:v>1367</c:v>
                </c:pt>
                <c:pt idx="3">
                  <c:v>1061</c:v>
                </c:pt>
                <c:pt idx="4">
                  <c:v>894</c:v>
                </c:pt>
                <c:pt idx="5">
                  <c:v>462</c:v>
                </c:pt>
                <c:pt idx="6">
                  <c:v>325</c:v>
                </c:pt>
                <c:pt idx="7">
                  <c:v>278</c:v>
                </c:pt>
                <c:pt idx="8">
                  <c:v>1268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50" b="0" i="0" u="none" strike="noStrike">
                    <a:solidFill>
                      <a:srgbClr val="8590A6"/>
                    </a:solidFill>
                    <a:latin typeface="Arial"/>
                  </a:rPr>
                  <a:t>dk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8590A6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İşaretlenmemiş</c:v>
                </c:pt>
                <c:pt idx="1">
                  <c:v>Giderildi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295</c:v>
                </c:pt>
                <c:pt idx="1">
                  <c:v>23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45309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Açık</c:v>
                </c:pt>
                <c:pt idx="1">
                  <c:v>Tamamlandı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14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2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572000" cy="45720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CADCFC">
              <a:alpha val="9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115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REPKON HF901 · SERİ ÜRETİM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146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Performans Raporu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822960" y="4343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Temmuz 2026 Değerlendirmesi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Sunumun Amacı ve Kapsamı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874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Aylık Performans Özeti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237744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Temmuz döneminde 10 üretim hücresinin üretim adedi, duruş süreleri ve darboğaz göstergeleri veriye dayalı olarak özetlenir.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172200" y="1600200"/>
            <a:ext cx="53492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874520"/>
            <a:ext cx="4709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Somut Aksiyon / Yatırım Talebi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492240" y="2377440"/>
            <a:ext cx="4709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durum raporu değil; açık aksiyon maddeleri, yatırım ihtiyaçları ve müşteriden talep edilecek konular için karar talebi içerir.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3886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KURGUSU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206240"/>
            <a:ext cx="10515600" cy="868680"/>
          </a:xfrm>
          <a:prstGeom prst="roundRect">
            <a:avLst>
              <a:gd name="adj" fmla="val 8421"/>
            </a:avLst>
          </a:prstGeom>
          <a:solidFill>
            <a:srgbClr val="EEF2FC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420624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 – Mayıs: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başlangıç seviyesi ve tespit edilen kök sorunlar kısaca özetlenir. 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 – Temmuz: 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atılan aksiyonların sonuçları detaylı işlenir. Sunumun ağırlığı Haziran sonrası ilerlemededir — veri bu kurguyu destekliyor.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48640" y="5257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KAPSAM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4864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54864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</a:t>
            </a:r>
            <a:endParaRPr lang="en-US" sz="870" dirty="0"/>
          </a:p>
        </p:txBody>
      </p:sp>
      <p:sp>
        <p:nvSpPr>
          <p:cNvPr id="18" name="Shape 15"/>
          <p:cNvSpPr/>
          <p:nvPr/>
        </p:nvSpPr>
        <p:spPr>
          <a:xfrm>
            <a:off x="144475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144475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</a:t>
            </a:r>
            <a:endParaRPr lang="en-US" sz="870" dirty="0"/>
          </a:p>
        </p:txBody>
      </p:sp>
      <p:sp>
        <p:nvSpPr>
          <p:cNvPr id="20" name="Shape 17"/>
          <p:cNvSpPr/>
          <p:nvPr/>
        </p:nvSpPr>
        <p:spPr>
          <a:xfrm>
            <a:off x="2340864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1" name="Text 18"/>
          <p:cNvSpPr/>
          <p:nvPr/>
        </p:nvSpPr>
        <p:spPr>
          <a:xfrm>
            <a:off x="2340864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</a:t>
            </a:r>
            <a:endParaRPr lang="en-US" sz="870" dirty="0"/>
          </a:p>
        </p:txBody>
      </p:sp>
      <p:sp>
        <p:nvSpPr>
          <p:cNvPr id="22" name="Shape 19"/>
          <p:cNvSpPr/>
          <p:nvPr/>
        </p:nvSpPr>
        <p:spPr>
          <a:xfrm>
            <a:off x="3236976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3" name="Text 20"/>
          <p:cNvSpPr/>
          <p:nvPr/>
        </p:nvSpPr>
        <p:spPr>
          <a:xfrm>
            <a:off x="3236976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</a:t>
            </a:r>
            <a:endParaRPr lang="en-US" sz="870" dirty="0"/>
          </a:p>
        </p:txBody>
      </p:sp>
      <p:sp>
        <p:nvSpPr>
          <p:cNvPr id="24" name="Shape 21"/>
          <p:cNvSpPr/>
          <p:nvPr/>
        </p:nvSpPr>
        <p:spPr>
          <a:xfrm>
            <a:off x="4133088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5" name="Text 22"/>
          <p:cNvSpPr/>
          <p:nvPr/>
        </p:nvSpPr>
        <p:spPr>
          <a:xfrm>
            <a:off x="4133088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</a:t>
            </a:r>
            <a:endParaRPr lang="en-US" sz="870" dirty="0"/>
          </a:p>
        </p:txBody>
      </p:sp>
      <p:sp>
        <p:nvSpPr>
          <p:cNvPr id="26" name="Shape 23"/>
          <p:cNvSpPr/>
          <p:nvPr/>
        </p:nvSpPr>
        <p:spPr>
          <a:xfrm>
            <a:off x="5029200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5029200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</a:t>
            </a:r>
            <a:endParaRPr lang="en-US" sz="870" dirty="0"/>
          </a:p>
        </p:txBody>
      </p:sp>
      <p:sp>
        <p:nvSpPr>
          <p:cNvPr id="28" name="Shape 25"/>
          <p:cNvSpPr/>
          <p:nvPr/>
        </p:nvSpPr>
        <p:spPr>
          <a:xfrm>
            <a:off x="5925312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9" name="Text 26"/>
          <p:cNvSpPr/>
          <p:nvPr/>
        </p:nvSpPr>
        <p:spPr>
          <a:xfrm>
            <a:off x="5925312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N603</a:t>
            </a:r>
            <a:endParaRPr lang="en-US" sz="870" dirty="0"/>
          </a:p>
        </p:txBody>
      </p:sp>
      <p:sp>
        <p:nvSpPr>
          <p:cNvPr id="30" name="Shape 27"/>
          <p:cNvSpPr/>
          <p:nvPr/>
        </p:nvSpPr>
        <p:spPr>
          <a:xfrm>
            <a:off x="6821424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1" name="Text 28"/>
          <p:cNvSpPr/>
          <p:nvPr/>
        </p:nvSpPr>
        <p:spPr>
          <a:xfrm>
            <a:off x="6821424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</a:t>
            </a:r>
            <a:endParaRPr lang="en-US" sz="870" dirty="0"/>
          </a:p>
        </p:txBody>
      </p:sp>
      <p:sp>
        <p:nvSpPr>
          <p:cNvPr id="32" name="Shape 29"/>
          <p:cNvSpPr/>
          <p:nvPr/>
        </p:nvSpPr>
        <p:spPr>
          <a:xfrm>
            <a:off x="7717536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3" name="Text 30"/>
          <p:cNvSpPr/>
          <p:nvPr/>
        </p:nvSpPr>
        <p:spPr>
          <a:xfrm>
            <a:off x="7717536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</a:t>
            </a:r>
            <a:endParaRPr lang="en-US" sz="870" dirty="0"/>
          </a:p>
        </p:txBody>
      </p:sp>
      <p:sp>
        <p:nvSpPr>
          <p:cNvPr id="34" name="Shape 31"/>
          <p:cNvSpPr/>
          <p:nvPr/>
        </p:nvSpPr>
        <p:spPr>
          <a:xfrm>
            <a:off x="8613648" y="5577840"/>
            <a:ext cx="804672" cy="38404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35" name="Text 32"/>
          <p:cNvSpPr/>
          <p:nvPr/>
        </p:nvSpPr>
        <p:spPr>
          <a:xfrm>
            <a:off x="8613648" y="5577840"/>
            <a:ext cx="804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7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870" dirty="0"/>
          </a:p>
        </p:txBody>
      </p:sp>
      <p:sp>
        <p:nvSpPr>
          <p:cNvPr id="36" name="Text 3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Üretim Adedi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4389120" y="1298448"/>
            <a:ext cx="109728" cy="10972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0" y="1243584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Nisan–Mayıs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217920" y="1298448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0" y="1243584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2743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377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5029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63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315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949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9601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869680" y="5623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adet/gün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48640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6469380" y="1828800"/>
            <a:ext cx="2148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05372" y="176479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1" name="Shape 18"/>
          <p:cNvSpPr/>
          <p:nvPr/>
        </p:nvSpPr>
        <p:spPr>
          <a:xfrm>
            <a:off x="8554212" y="176479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2" name="Text 19"/>
          <p:cNvSpPr/>
          <p:nvPr/>
        </p:nvSpPr>
        <p:spPr>
          <a:xfrm>
            <a:off x="8755380" y="171907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+58%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48640" y="20665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093208" y="2176272"/>
            <a:ext cx="3963924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029200" y="211226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Shape 23"/>
          <p:cNvSpPr/>
          <p:nvPr/>
        </p:nvSpPr>
        <p:spPr>
          <a:xfrm>
            <a:off x="8993124" y="211226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9194292" y="20665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+169%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548640" y="24140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ROB108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4773168" y="2523744"/>
            <a:ext cx="293065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709160" y="245973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1" name="Shape 28"/>
          <p:cNvSpPr/>
          <p:nvPr/>
        </p:nvSpPr>
        <p:spPr>
          <a:xfrm>
            <a:off x="7639812" y="245973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2" name="Text 29"/>
          <p:cNvSpPr/>
          <p:nvPr/>
        </p:nvSpPr>
        <p:spPr>
          <a:xfrm>
            <a:off x="7840980" y="241401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+144%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548640" y="2761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4832604" y="2871216"/>
            <a:ext cx="2825496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768596" y="280720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6" name="Shape 33"/>
          <p:cNvSpPr/>
          <p:nvPr/>
        </p:nvSpPr>
        <p:spPr>
          <a:xfrm>
            <a:off x="7594092" y="280720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7" name="Text 34"/>
          <p:cNvSpPr/>
          <p:nvPr/>
        </p:nvSpPr>
        <p:spPr>
          <a:xfrm>
            <a:off x="7795260" y="27614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+135%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5486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ROB104</a:t>
            </a:r>
            <a:endParaRPr lang="en-US" sz="1200" dirty="0"/>
          </a:p>
        </p:txBody>
      </p:sp>
      <p:sp>
        <p:nvSpPr>
          <p:cNvPr id="39" name="Shape 36"/>
          <p:cNvSpPr/>
          <p:nvPr/>
        </p:nvSpPr>
        <p:spPr>
          <a:xfrm>
            <a:off x="4750308" y="3218688"/>
            <a:ext cx="2820924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4686300" y="3154680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1" name="Shape 38"/>
          <p:cNvSpPr/>
          <p:nvPr/>
        </p:nvSpPr>
        <p:spPr>
          <a:xfrm>
            <a:off x="7507224" y="315468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2" name="Text 39"/>
          <p:cNvSpPr/>
          <p:nvPr/>
        </p:nvSpPr>
        <p:spPr>
          <a:xfrm>
            <a:off x="7708392" y="3108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+141%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548640" y="34564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N602-603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4681728" y="3566160"/>
            <a:ext cx="238201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617720" y="350215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6" name="Shape 43"/>
          <p:cNvSpPr/>
          <p:nvPr/>
        </p:nvSpPr>
        <p:spPr>
          <a:xfrm>
            <a:off x="6999732" y="350215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7" name="Text 44"/>
          <p:cNvSpPr/>
          <p:nvPr/>
        </p:nvSpPr>
        <p:spPr>
          <a:xfrm>
            <a:off x="7200900" y="34564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+123%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548640" y="38039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ROB109</a:t>
            </a:r>
            <a:endParaRPr lang="en-US" sz="1200" dirty="0"/>
          </a:p>
        </p:txBody>
      </p:sp>
      <p:sp>
        <p:nvSpPr>
          <p:cNvPr id="49" name="Shape 46"/>
          <p:cNvSpPr/>
          <p:nvPr/>
        </p:nvSpPr>
        <p:spPr>
          <a:xfrm>
            <a:off x="4521708" y="3913632"/>
            <a:ext cx="2715768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4457700" y="384962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1" name="Shape 48"/>
          <p:cNvSpPr/>
          <p:nvPr/>
        </p:nvSpPr>
        <p:spPr>
          <a:xfrm>
            <a:off x="7173468" y="384962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2" name="Text 49"/>
          <p:cNvSpPr/>
          <p:nvPr/>
        </p:nvSpPr>
        <p:spPr>
          <a:xfrm>
            <a:off x="7374636" y="38039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+153%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548640" y="41513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668012" y="4261104"/>
            <a:ext cx="2199132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604004" y="419709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6" name="Shape 53"/>
          <p:cNvSpPr/>
          <p:nvPr/>
        </p:nvSpPr>
        <p:spPr>
          <a:xfrm>
            <a:off x="6803136" y="419709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7" name="Text 54"/>
          <p:cNvSpPr/>
          <p:nvPr/>
        </p:nvSpPr>
        <p:spPr>
          <a:xfrm>
            <a:off x="7004304" y="415137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+114%</a:t>
            </a:r>
            <a:endParaRPr lang="en-US" sz="1100" dirty="0"/>
          </a:p>
        </p:txBody>
      </p:sp>
      <p:sp>
        <p:nvSpPr>
          <p:cNvPr id="58" name="Text 55"/>
          <p:cNvSpPr/>
          <p:nvPr/>
        </p:nvSpPr>
        <p:spPr>
          <a:xfrm>
            <a:off x="54864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ROB110-111</a:t>
            </a:r>
            <a:endParaRPr lang="en-US" sz="1200" dirty="0"/>
          </a:p>
        </p:txBody>
      </p:sp>
      <p:sp>
        <p:nvSpPr>
          <p:cNvPr id="59" name="Shape 56"/>
          <p:cNvSpPr/>
          <p:nvPr/>
        </p:nvSpPr>
        <p:spPr>
          <a:xfrm>
            <a:off x="4411980" y="4608576"/>
            <a:ext cx="233172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4347972" y="454456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1" name="Shape 58"/>
          <p:cNvSpPr/>
          <p:nvPr/>
        </p:nvSpPr>
        <p:spPr>
          <a:xfrm>
            <a:off x="6679692" y="454456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2" name="Text 59"/>
          <p:cNvSpPr/>
          <p:nvPr/>
        </p:nvSpPr>
        <p:spPr>
          <a:xfrm>
            <a:off x="6880860" y="44988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+140%</a:t>
            </a:r>
            <a:endParaRPr lang="en-US" sz="1100" dirty="0"/>
          </a:p>
        </p:txBody>
      </p:sp>
      <p:sp>
        <p:nvSpPr>
          <p:cNvPr id="63" name="Text 60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64" name="Text 6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Üretim Adetleri (Haziran–Temmuz)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17320"/>
          <a:ext cx="676656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417320"/>
          <a:ext cx="4023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64592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Haziran–Temmuz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Üretim (adet)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1.462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HAT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E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DEEC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9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OEE — Ekipman Etkinliği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= Availability × Performance. Kalite bileşeni dahil edilmedi — 12 üretim hücresinin hiçbirinde satır bazlı ret/fire verisi tutulmuyor (sadece FF Preform ve Final Ölçüm istasyonlarında var, bu 12 hücreden bağımsız ölçüm noktaları). Nisan-Mayıs karşılaştırması yok çünkü Hedef Üretim Adeti hücre bazında Haziran ortasına kadar kademeli devreye alındı.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66751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463040"/>
                <a:gridCol w="1463040"/>
                <a:gridCol w="12801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7498080" y="20574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</p:spPr>
      </p:sp>
      <p:sp>
        <p:nvSpPr>
          <p:cNvPr id="9" name="Text 5"/>
          <p:cNvSpPr/>
          <p:nvPr/>
        </p:nvSpPr>
        <p:spPr>
          <a:xfrm>
            <a:off x="7726680" y="2148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70.4%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7726680" y="26791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 ortalaması OEE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(Haz-Tem, 9 hücre)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7498080" y="34290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</p:spPr>
      </p:sp>
      <p:sp>
        <p:nvSpPr>
          <p:cNvPr id="12" name="Text 8"/>
          <p:cNvSpPr/>
          <p:nvPr/>
        </p:nvSpPr>
        <p:spPr>
          <a:xfrm>
            <a:off x="7726680" y="35204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81.4%</a:t>
            </a:r>
            <a:endParaRPr lang="en-US" sz="2600" dirty="0"/>
          </a:p>
        </p:txBody>
      </p:sp>
      <p:sp>
        <p:nvSpPr>
          <p:cNvPr id="13" name="Text 9"/>
          <p:cNvSpPr/>
          <p:nvPr/>
        </p:nvSpPr>
        <p:spPr>
          <a:xfrm>
            <a:off x="7726680" y="40507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OEE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498080" y="4800600"/>
            <a:ext cx="3840480" cy="1143000"/>
          </a:xfrm>
          <a:prstGeom prst="roundRect">
            <a:avLst>
              <a:gd name="adj" fmla="val 6400"/>
            </a:avLst>
          </a:prstGeom>
          <a:solidFill>
            <a:srgbClr val="1E2761"/>
          </a:solidFill>
          <a:ln/>
        </p:spPr>
      </p:sp>
      <p:sp>
        <p:nvSpPr>
          <p:cNvPr id="15" name="Text 11"/>
          <p:cNvSpPr/>
          <p:nvPr/>
        </p:nvSpPr>
        <p:spPr>
          <a:xfrm>
            <a:off x="7726680" y="48920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54.3%</a:t>
            </a:r>
            <a:endParaRPr lang="en-US" sz="2600" dirty="0"/>
          </a:p>
        </p:txBody>
      </p:sp>
      <p:sp>
        <p:nvSpPr>
          <p:cNvPr id="16" name="Text 12"/>
          <p:cNvSpPr/>
          <p:nvPr/>
        </p:nvSpPr>
        <p:spPr>
          <a:xfrm>
            <a:off x="7726680" y="542239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düşük OEE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48640" y="59893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Quench'te Haziran-Temmuz'da hedefli üretim verisi yetersiz olduğundan Performance/OEE hesaplanamadı.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MTBF ve MTTR — Arıza Bazlı Güvenilirlik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 = (Planlı Süre − Arıza Dakikası) / Arıza Kaydı Sayısı  ·  MTTR = Arıza Dakikası / Arıza Kaydı Sayısı. Sadece "Arıza" (breakdown) kolonuna dayanır; planlı duruş, setup, mola vb. diğer duruş türleri dahil değildir.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377440"/>
                <a:gridCol w="23774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MTBF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MTTR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Arıza Kaydı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378.2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338.7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460.1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102.2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62356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Örnek sayısı azdır (&lt;5 arıza kaydı) — Quench (4 kayıt) için MTBF/MTTR yorumlanırken dikkatli olunmalı.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Güvenilirlik Özeti — Hücre Kıyaslaması (Haz-Tem)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658368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269480" y="1463040"/>
            <a:ext cx="4023360" cy="44805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589520" y="16916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7589520" y="2011680"/>
            <a:ext cx="338328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düşük MTBF (106,9 dk) — sık arıza pattern'i sürüyor (bkz. Duruş Analizi, arıza yoğunluğu +204%).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N602-N603: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çok arıza kaydı (61 olay) ama MTTR düşük (24,8 dk) — hızlı müdahale ediliyor.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MTTR (38,2 dk, Quench'in az örnekli 270 dk'sı hariç) — giderilme süresi kök neden incelemesi için fırsat.
</a:t>
            </a:r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 ve ROB104: </a:t>
            </a:r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Hattın en düşük OEE'si (%22,9 / %23,8) — hem availability hem performance tarafında iyileştirme alanı var.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Hücreler Arası Akış Sırası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</a:t>
            </a:r>
            <a:endParaRPr lang="en-US" sz="12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2272284" y="1828800"/>
            <a:ext cx="256032" cy="25603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414016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2414016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</a:t>
            </a:r>
            <a:endParaRPr lang="en-US" sz="1200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4046220" y="1828800"/>
            <a:ext cx="256032" cy="25603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4187952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3" name="Text 8"/>
          <p:cNvSpPr/>
          <p:nvPr/>
        </p:nvSpPr>
        <p:spPr>
          <a:xfrm>
            <a:off x="4187952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</a:t>
            </a:r>
            <a:endParaRPr lang="en-US" sz="1200" dirty="0"/>
          </a:p>
        </p:txBody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6200000">
            <a:off x="5820156" y="1828800"/>
            <a:ext cx="256032" cy="25603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5961888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6" name="Text 10"/>
          <p:cNvSpPr/>
          <p:nvPr/>
        </p:nvSpPr>
        <p:spPr>
          <a:xfrm>
            <a:off x="5961888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</a:t>
            </a:r>
            <a:endParaRPr lang="en-US" sz="1200" dirty="0"/>
          </a:p>
        </p:txBody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7594092" y="1828800"/>
            <a:ext cx="256032" cy="256032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7735824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19" name="Text 12"/>
          <p:cNvSpPr/>
          <p:nvPr/>
        </p:nvSpPr>
        <p:spPr>
          <a:xfrm>
            <a:off x="7735824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</a:t>
            </a:r>
            <a:endParaRPr lang="en-US" sz="1200" dirty="0"/>
          </a:p>
        </p:txBody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16200000">
            <a:off x="9368028" y="1828800"/>
            <a:ext cx="256032" cy="256032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9509760" y="1600200"/>
            <a:ext cx="1627632" cy="731520"/>
          </a:xfrm>
          <a:prstGeom prst="roundRect">
            <a:avLst>
              <a:gd name="adj" fmla="val 8750"/>
            </a:avLst>
          </a:prstGeom>
          <a:solidFill>
            <a:srgbClr val="8590A6"/>
          </a:solidFill>
          <a:ln/>
        </p:spPr>
      </p:sp>
      <p:sp>
        <p:nvSpPr>
          <p:cNvPr id="22" name="Text 14"/>
          <p:cNvSpPr/>
          <p:nvPr/>
        </p:nvSpPr>
        <p:spPr>
          <a:xfrm>
            <a:off x="9509760" y="1600200"/>
            <a:ext cx="16276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 / N603</a:t>
            </a:r>
            <a:endParaRPr lang="en-US" sz="1200" dirty="0"/>
          </a:p>
        </p:txBody>
      </p:sp>
      <p:sp>
        <p:nvSpPr>
          <p:cNvPr id="23" name="Text 15"/>
          <p:cNvSpPr/>
          <p:nvPr/>
        </p:nvSpPr>
        <p:spPr>
          <a:xfrm>
            <a:off x="640080" y="2386584"/>
            <a:ext cx="10497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 ve N603 paralel çalışır; ikisi de ROB104'ten beslenir, ikisi de ROB109'a gönderir.</a:t>
            </a:r>
            <a:endParaRPr lang="en-US" sz="950" dirty="0"/>
          </a:p>
        </p:txBody>
      </p:sp>
      <p:pic>
        <p:nvPicPr>
          <p:cNvPr id="2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9544" y="2834640"/>
            <a:ext cx="292608" cy="292608"/>
          </a:xfrm>
          <a:prstGeom prst="rect">
            <a:avLst/>
          </a:prstGeom>
        </p:spPr>
      </p:pic>
      <p:sp>
        <p:nvSpPr>
          <p:cNvPr id="25" name="Shape 16"/>
          <p:cNvSpPr/>
          <p:nvPr/>
        </p:nvSpPr>
        <p:spPr>
          <a:xfrm>
            <a:off x="640080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6" name="Text 17"/>
          <p:cNvSpPr/>
          <p:nvPr/>
        </p:nvSpPr>
        <p:spPr>
          <a:xfrm>
            <a:off x="640080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ROB109</a:t>
            </a:r>
            <a:endParaRPr lang="en-US" sz="1200" dirty="0"/>
          </a:p>
        </p:txBody>
      </p:sp>
      <p:pic>
        <p:nvPicPr>
          <p:cNvPr id="2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16200000">
            <a:off x="2386584" y="3584448"/>
            <a:ext cx="256032" cy="256032"/>
          </a:xfrm>
          <a:prstGeom prst="rect">
            <a:avLst/>
          </a:prstGeom>
        </p:spPr>
      </p:pic>
      <p:sp>
        <p:nvSpPr>
          <p:cNvPr id="28" name="Shape 18"/>
          <p:cNvSpPr/>
          <p:nvPr/>
        </p:nvSpPr>
        <p:spPr>
          <a:xfrm>
            <a:off x="2715768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1E2761"/>
          </a:solidFill>
          <a:ln/>
        </p:spPr>
      </p:sp>
      <p:sp>
        <p:nvSpPr>
          <p:cNvPr id="29" name="Text 19"/>
          <p:cNvSpPr/>
          <p:nvPr/>
        </p:nvSpPr>
        <p:spPr>
          <a:xfrm>
            <a:off x="2715768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</a:t>
            </a:r>
            <a:endParaRPr lang="en-US" sz="1200" dirty="0"/>
          </a:p>
        </p:txBody>
      </p:sp>
      <p:pic>
        <p:nvPicPr>
          <p:cNvPr id="3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16200000">
            <a:off x="4462272" y="3584448"/>
            <a:ext cx="256032" cy="256032"/>
          </a:xfrm>
          <a:prstGeom prst="rect">
            <a:avLst/>
          </a:prstGeom>
        </p:spPr>
      </p:pic>
      <p:sp>
        <p:nvSpPr>
          <p:cNvPr id="31" name="Shape 20"/>
          <p:cNvSpPr/>
          <p:nvPr/>
        </p:nvSpPr>
        <p:spPr>
          <a:xfrm>
            <a:off x="4791456" y="3355848"/>
            <a:ext cx="1691640" cy="731520"/>
          </a:xfrm>
          <a:prstGeom prst="roundRect">
            <a:avLst>
              <a:gd name="adj" fmla="val 8750"/>
            </a:avLst>
          </a:prstGeom>
          <a:solidFill>
            <a:srgbClr val="8590A6"/>
          </a:solidFill>
          <a:ln/>
        </p:spPr>
      </p:sp>
      <p:sp>
        <p:nvSpPr>
          <p:cNvPr id="32" name="Text 21"/>
          <p:cNvSpPr/>
          <p:nvPr/>
        </p:nvSpPr>
        <p:spPr>
          <a:xfrm>
            <a:off x="4791456" y="3355848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</a:t>
            </a:r>
            <a:endParaRPr lang="en-US" sz="1200" dirty="0"/>
          </a:p>
        </p:txBody>
      </p:sp>
      <p:sp>
        <p:nvSpPr>
          <p:cNvPr id="33" name="Shape 22"/>
          <p:cNvSpPr/>
          <p:nvPr/>
        </p:nvSpPr>
        <p:spPr>
          <a:xfrm>
            <a:off x="640080" y="4498848"/>
            <a:ext cx="10332720" cy="777240"/>
          </a:xfrm>
          <a:prstGeom prst="roundRect">
            <a:avLst>
              <a:gd name="adj" fmla="val 9412"/>
            </a:avLst>
          </a:prstGeom>
          <a:solidFill>
            <a:srgbClr val="EEF2FC"/>
          </a:solidFill>
          <a:ln/>
        </p:spPr>
      </p:sp>
      <p:sp>
        <p:nvSpPr>
          <p:cNvPr id="34" name="Text 23"/>
          <p:cNvSpPr/>
          <p:nvPr/>
        </p:nvSpPr>
        <p:spPr>
          <a:xfrm>
            <a:off x="914400" y="4498848"/>
            <a:ext cx="9784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ETM ve ROB108,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Pres'in hemen ardından gelen istasyonlar olarak en yüksek upstream bekleme baskısını taşıyordu. Bu analizde odak buradadır.</a:t>
            </a:r>
            <a:endParaRPr lang="en-US" sz="1250" dirty="0"/>
          </a:p>
        </p:txBody>
      </p:sp>
      <p:sp>
        <p:nvSpPr>
          <p:cNvPr id="35" name="Text 2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36" name="Text 2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Kök Neden Özeti ve Alınan Aksiyonlar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53492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868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Kök Nedenler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2402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Hücreler arası hız/hazırlık dengesizliği (Pres sonrası istasyonlarda birikme)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Tekrarlayan ekipman arızaları — özellikle N603 titreşim problemi (Nisan)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Flowform'da yağlama ve ejektör kaynaklı mekanik duruşlar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72200" y="1508760"/>
            <a:ext cx="5349240" cy="3246120"/>
          </a:xfrm>
          <a:prstGeom prst="roundRect">
            <a:avLst>
              <a:gd name="adj" fmla="val 225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492240" y="1783080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Alınan Aksiyonlar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92240" y="2240280"/>
            <a:ext cx="4709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N602-N603 indüksiyon fırını coil yükseltme plakası revize edildi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ROB108 çalışan makine sayısına göre dinamik hedef sistemi kuruldu</a:t>
            </a:r>
            <a:endParaRPr lang="en-US" sz="1300" dirty="0"/>
          </a:p>
          <a:p>
            <a:pPr marL="342900" indent="-3429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Flowform'da 6 mekanik madde (ejektör, yağlama, kalıp yıkama) Haziran sonunda kapatıldı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48640" y="4983480"/>
            <a:ext cx="10424160" cy="1051560"/>
          </a:xfrm>
          <a:prstGeom prst="roundRect">
            <a:avLst>
              <a:gd name="adj" fmla="val 6957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4983480"/>
            <a:ext cx="9875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Sonuç:  </a:t>
            </a:r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bekleme, ortalama hücre bazında %46 azaldı; üretim adetleri günlük ortalamada yaklaşık 3 katına çıktı. ROB109 istisnası hariç, darboğaz baskısı hattın geneline yayılmış durumdan tekil noktalara geriledi.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Darboğaz ve Kök Neden Analizi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Toplam Duruş Yükü — Genel Görünüm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önceki istasyon bekleme değil; arıza, planlı duruş, setup/hazırlık, takım-kalıp değişimi, mola ve müşteri/kalite kaynaklı duruşların tamamı bu bölümde derinlemesine incelenir.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8" name="Text 5"/>
          <p:cNvSpPr/>
          <p:nvPr/>
        </p:nvSpPr>
        <p:spPr>
          <a:xfrm>
            <a:off x="731520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9.610 dk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31520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 toplam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arıza süresi (~160 saat, 11 hücre)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27832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3410712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-51,7%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410712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Nisan-Mayıs'a göre toplam arıza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dakikası değişimi (19.899 → 9.610 dk)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907024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4" name="Text 11"/>
          <p:cNvSpPr/>
          <p:nvPr/>
        </p:nvSpPr>
        <p:spPr>
          <a:xfrm>
            <a:off x="6089904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Belirsiz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089904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sık arıza nedeni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(1.836 dk / 78 olay)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586216" y="2103120"/>
            <a:ext cx="2468880" cy="1920240"/>
          </a:xfrm>
          <a:prstGeom prst="roundRect">
            <a:avLst>
              <a:gd name="adj" fmla="val 3810"/>
            </a:avLst>
          </a:prstGeom>
          <a:solidFill>
            <a:srgbClr val="1E2761"/>
          </a:solidFill>
          <a:ln/>
        </p:spPr>
      </p:sp>
      <p:sp>
        <p:nvSpPr>
          <p:cNvPr id="17" name="Text 14"/>
          <p:cNvSpPr/>
          <p:nvPr/>
        </p:nvSpPr>
        <p:spPr>
          <a:xfrm>
            <a:off x="8769096" y="233172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%7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769096" y="30175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Arıza olaylarının 'giderildi' olarak</a:t>
            </a:r>
            <a:endParaRPr lang="en-US" sz="1050" dirty="0"/>
          </a:p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işaretlenme oranı (23 / 318 olay)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434340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Aşağıdaki sayfalarda: duruş kategorilerinin hücrelere dağılımı, üretim hacmine göre normalize edilmiş arıza yoğunluğu, en sık nedenler (Pareto), hücre bazlı baskın neden ve tekrarlayan somut sorunlar ele alınır.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Duruş Kategorileri — Zaman Nereye Gidiyor?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112471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56235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dakikadır (hücrelerin kayıtlı gün sayısı farklı olduğundan günlük ortalama değildir — yoğunluk karşılaştırması için bir sonraki sayfaya bakınız).</a:t>
            </a:r>
            <a:endParaRPr lang="en-US" sz="100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Arıza Yoğunluğu — Üretime Oranlı Karşılaştırma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7160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Mutlak arıza dakikası, üretim hacmi arttıkça doğal olarak artabilir. Bu tablo arızayı üretilen 100 adet başına dakika olarak normalize eder; böylece hücreler arası ve dönemler arası karşılaştırma daha adil olur.</a:t>
            </a:r>
            <a:endParaRPr lang="en-US" sz="10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07899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651760"/>
                <a:gridCol w="2651760"/>
                <a:gridCol w="1737360"/>
              </a:tblGrid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Nisan–Mayıs (dk/100 adet)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Haziran–Temmuz (dk/100 adet)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Değişim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694.5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yeni sorun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063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+204%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623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ROB104 ve ROB110-111'de arıza yoğunluğu belirgin arttı — üretim artışıyla açıklanamayacak kadar büyük (+444% / +204%). Quench'te Haziran-Temmuz'da yeni bir arıza kaynağı ortaya çıktı (bkz. 29 Haziran olayı).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Sık Arıza Nedenleri — Tüm Hat (Haz-Tem)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1078992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"Belirsiz" kategorisi 1.836 dk (%19) ile 2. sırada — kök nedeni etiketlenmemiş arızaların payı yüksek. "Diğer" grubu: Talaş Arabası Dolu, Pres Öncesi/Sonrası, Çıkış Konveyörü Dolu ve hiç neden kodu girilmemiş kayıtların (251 dk) toplamıdır.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Baskın Arıza Nedeni (Haz-Tem)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754880"/>
                <a:gridCol w="2011680"/>
                <a:gridCol w="1645920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Baskın Neden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Olay Sayısı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(lokasyon bazlı)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Belirsiz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529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Akışkan (hidrolik yağ sıcaklığı)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1.061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Titreşim — Çözüldü (bkz. Öne Çıkan Sorunlar)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6.810 → 70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Belirsiz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N602'deki hidrolik yağ sıcaklığı sorunu N603'ün titreşim probleminin de kaynağıydı; kök nedeni ortak (bkz. Slayt — N603 Titreşim vakası).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Aynı Açıklamayla ≥3 Kez Tekrarlanan Duruşlar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07899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5852160"/>
                <a:gridCol w="11887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Tekrar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+ 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"Fabrikada elektrik yok" — tesis geneli kesinti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+ 4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[Hidrolik Yağ Sıcaklık Alarmı]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yükselmesi (N603 titreşim kökeni)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Haberleşme hatası / problemi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Shuttle motor mili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 + 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Cnc tezgah takım kırılması ve yatak ayarı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+ 3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5074920"/>
            <a:ext cx="1078992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8" name="Text 4"/>
          <p:cNvSpPr/>
          <p:nvPr/>
        </p:nvSpPr>
        <p:spPr>
          <a:xfrm>
            <a:off x="868680" y="5074920"/>
            <a:ext cx="10149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Yeni bulgu: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ROB110-111'deki tekrarlayan haberleşme hatası (6 olay, 236 dk) hiçbir aksiyon maddesinde henüz ele alınmamış. "Fabrikada elektrik yok" kaydı aynı gün iki ayrı hücrede girilmiş — tek bir tesis geneli kesinti, çift kayıt değil.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Arıza Kayıtlarında Çözüm Takibi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318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ARIZA OLAYI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029200" y="1463040"/>
            <a:ext cx="630936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5349240" y="16916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GÖZLEM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5349240" y="20116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Sistemde "arıza giderildi" alanı mevcut ancak sahada tutarlı doldurulmuyor: 318 arıza olayının sadece 23'ü (%7) çözüm olarak işaretlenmiş (957 / 9.610 dk). Bu, arızaların çözülmediği anlamına gelmiyor — takip alanının disiplinli kullanılmadığını gösteriyor.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029200" y="3474720"/>
            <a:ext cx="6309360" cy="1005840"/>
          </a:xfrm>
          <a:prstGeom prst="roundRect">
            <a:avLst>
              <a:gd name="adj" fmla="val 7273"/>
            </a:avLst>
          </a:prstGeom>
          <a:solidFill>
            <a:srgbClr val="EEF2FC"/>
          </a:solidFill>
          <a:ln/>
        </p:spPr>
      </p:sp>
      <p:sp>
        <p:nvSpPr>
          <p:cNvPr id="13" name="Text 9"/>
          <p:cNvSpPr/>
          <p:nvPr/>
        </p:nvSpPr>
        <p:spPr>
          <a:xfrm>
            <a:off x="5349240" y="36850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ÖNERİ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5349240" y="397764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Belirli bir süre üzerindeki arızalarda "giderildi" alanı ve çözüm açıklaması zorunlu hale getirilebilir; bu hem takip disiplinini hem de kök neden veri kalitesini artırır.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N603 Hücresi — Titreşim Problemi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Çözüldü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6.810 → 70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 → Haziran-Temmuz)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-99%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Azalış oranı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16–28 Nisan arasında art arda günlerde 400–540 dk/gün arıza kaynaklı duruş yaşandı. Kök neden olarak X ekseni pozisyon kaybı, makara grubu ve sürücü/enkoder kaynaklı titreşim tespit edildi.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ALINAN AKSİYON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İndüksiyon fırını coil yükseltme plakası ve ejektör yağ tavası ile ilgili 3 madde 29 Haziran – 1 Temmuz arasında kapatıldı. Sorun tekrarlamadı.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 Hücresi — 29 Haziran Olayı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Karar Bekliyor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300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(29 Haziran olayı)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parça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Hasarlı V-bükümü,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parça bekletildi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Gece vardiyasında operatör parçayı fırın çıkışındaki dişli-zincir arasına sıkıştırdı, 20 dakika bu şekilde çalıştırdı: 6 adet V Büküm parça hasar gördü, 5 saatlik müdahale gerekti. Ayrıca 18 Haziran'da ayrı bir valf contası arızası 480 dk'lık duruşa yol açtı.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GEREKLİ KARAR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Operatör prosedürü (SOP) ve eğitim gözden geçirmesi gerekiyor. Aksiyon takibinde bu hücre için sadece 1 açık madde kayıtlı — kapsam genişletilmeli.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 Hücresi — Mekanik İyileştirme Paketi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DCFCE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Kısmen Çözüldü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4.025 → 849 dk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 → Haziran-Temmuz)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16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Madde kapatıldı,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madde hâlâ açık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Ejektör titreşimi, boryağı kaçağı, yağlama sensörü üzerinde pasta birikimi, AMR montür çarpışması ve HS mandrel kovan için yedek kalıp eksikliği gibi çoklu mekanik sorun kaynağı vardı.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ALINAN AKSİYON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Haziran'da 6 madde birden kapatıldı (ejektör, yağlama sensörü braketi, kalıp yıkama hattı dahil). Kalan 10 açık madde ile çalışma devam ediyor.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ÇIKAN SORUNLAR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7223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 Hücresi — En Yüksek Açık Madde Yükü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9052560" y="621792"/>
            <a:ext cx="2286000" cy="329184"/>
          </a:xfrm>
          <a:prstGeom prst="roundRect">
            <a:avLst>
              <a:gd name="adj" fmla="val 22222"/>
            </a:avLst>
          </a:prstGeom>
          <a:solidFill>
            <a:srgbClr val="FEF3C7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2288" y="694944"/>
            <a:ext cx="182880" cy="182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9400032" y="621792"/>
            <a:ext cx="1901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Devam Ediyor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48640" y="1645920"/>
            <a:ext cx="3291840" cy="3108960"/>
          </a:xfrm>
          <a:prstGeom prst="roundRect">
            <a:avLst>
              <a:gd name="adj" fmla="val 2353"/>
            </a:avLst>
          </a:prstGeom>
          <a:solidFill>
            <a:srgbClr val="1E2761"/>
          </a:solidFill>
          <a:ln/>
        </p:spPr>
      </p:sp>
      <p:sp>
        <p:nvSpPr>
          <p:cNvPr id="10" name="Text 6"/>
          <p:cNvSpPr/>
          <p:nvPr/>
        </p:nvSpPr>
        <p:spPr>
          <a:xfrm>
            <a:off x="82296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KANITI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822960" y="22860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/ 32</a:t>
            </a:r>
            <a:endParaRPr lang="en-US" sz="2400" dirty="0"/>
          </a:p>
        </p:txBody>
      </p:sp>
      <p:sp>
        <p:nvSpPr>
          <p:cNvPr id="12" name="Text 8"/>
          <p:cNvSpPr/>
          <p:nvPr/>
        </p:nvSpPr>
        <p:spPr>
          <a:xfrm>
            <a:off x="822960" y="274320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Açık aksiyon maddesi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(tüm hücreler içinde en yüksek)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822960" y="32918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1.526 dk</a:t>
            </a:r>
            <a:endParaRPr lang="en-US" sz="2400" dirty="0"/>
          </a:p>
        </p:txBody>
      </p:sp>
      <p:sp>
        <p:nvSpPr>
          <p:cNvPr id="14" name="Text 10"/>
          <p:cNvSpPr/>
          <p:nvPr/>
        </p:nvSpPr>
        <p:spPr>
          <a:xfrm>
            <a:off x="822960" y="374904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Haziran-Temmuz arıza süresi</a:t>
            </a:r>
            <a:endParaRPr lang="en-US" sz="105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(Nisan-Mayıs: 2.880 dk)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4114800" y="1645920"/>
            <a:ext cx="676656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89120" y="18745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SORUN TANIMI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4389120" y="2194560"/>
            <a:ext cx="6309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Pres, hattaki en yüksek açık madde yüküne sahip hücre. Üretim hacmi artmasına rağmen (33,2 → 102,1 adet/gün) mutlak arıza süresi hâlâ yüksek seyrediyor.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4114800" y="3703320"/>
            <a:ext cx="6766560" cy="1051560"/>
          </a:xfrm>
          <a:prstGeom prst="roundRect">
            <a:avLst>
              <a:gd name="adj" fmla="val 6957"/>
            </a:avLst>
          </a:prstGeom>
          <a:solidFill>
            <a:srgbClr val="EEF2FC"/>
          </a:solidFill>
          <a:ln/>
        </p:spPr>
      </p:sp>
      <p:sp>
        <p:nvSpPr>
          <p:cNvPr id="19" name="Text 15"/>
          <p:cNvSpPr/>
          <p:nvPr/>
        </p:nvSpPr>
        <p:spPr>
          <a:xfrm>
            <a:off x="4389120" y="391363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ZAMAN BASKISI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89120" y="4206240"/>
            <a:ext cx="630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Pres, mevcut planla 9 Temmuz'da üretimi durduracak (bkz. Hat Kapanış Tahmini). Açık 29 maddenin bir kısmı bu tarihe yetişmeyebilir — önceliklendirme kararı gerekiyor.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 Madde — Genel Durum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7889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MADDE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Tamamlandı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029200" y="416052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 döneminde tamamlanan madde sayısı sıfırdı; 14 maddenin tamamı Haziran-Temmuz'da kapatıldı.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Haziran–Temmuz'da Kapanan Öne Çıkan Maddeler</a:t>
            </a:r>
            <a:endParaRPr lang="en-US" sz="26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07899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680960"/>
                <a:gridCol w="10972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Kapatılan Madde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İndüksiyon fırını coil yükseltme plaka çapı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Diş tazeleme masası oluşturuldu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kalite konveyörü parça ilerletme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Tem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HFP dişi kalıp oringleri yedeklendi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offset plakası dış çapı düzeltildi (164 mm)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Hadde asansörü tufal birikimi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FF kalıp yıkama hattı eklenerek cycle time düşürüldü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tam strok titreşim/ses sorunu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AMR montürlerine parça binmesi sorunu giderildi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Ejektör yağ tavaları eklendi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 Haz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Yatırım Talepleri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[Ekipman / Sistem Adı]  —  Gerekçe (hangi veri/vaka destekliyor)  —  Tahmini Etki  —  Tahmini Bütçe / Süre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adaylar (bu oturumda netleşmedi): Quench hattı operatör eğitim/SOP güncellemesi, Pres açık madde yükünün azaltılması için ek kapasite, ROB109 darboğazına yönelik inceleme.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Müşteriden Talep Edilecekler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[Talep Konusu]  —  Gerekçe  —  Beklenen Katkı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 (bu oturumda netleşmedi): sunum hazırlığı sırasında ilgili paydaşlarla netleştirilecek.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Sonraki Adımlar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4592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6459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234440" y="160020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Öne çıkan sorunlar için aksiyon planı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234440" y="196596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Quench SOP/eğitim gözden geçirmesi yapılacak.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48640" y="26974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1234440" y="265176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listesinin kesinleştirilmesi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1234440" y="301752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Yatırım ve müşteri talebi maddeleri ilgili sorumlularla birlikte tamamlanacak.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374904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7490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234440" y="370332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 kapanış takvimine göre önceliklendirme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1234440" y="406908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Temmuz öncesi Pres hücresindeki 29 açık maddenin önceliklendirilmesi.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480060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8006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1234440" y="4754880"/>
            <a:ext cx="9692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yönetim sunumu ve karar toplantısı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1234440" y="512064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Netleşen talep listesiyle birlikte nihai sunumun üst yönetime iletilmesi.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Repkon HF901 Seri Üretim — Performans Raporu ve Aksiyon Talebi</dc:title>
  <dc:subject>PptxGenJS Presentation</dc:subject>
  <dc:creator>Repkon HF901</dc:creator>
  <cp:lastModifiedBy>Repkon HF901</cp:lastModifiedBy>
  <cp:revision>1</cp:revision>
  <dcterms:created xsi:type="dcterms:W3CDTF">2026-07-05T12:53:23Z</dcterms:created>
  <dcterms:modified xsi:type="dcterms:W3CDTF">2026-07-05T12:53:23Z</dcterms:modified>
</cp:coreProperties>
</file>