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Üretim (adet)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ROB110-111</c:v>
                  </c:pt>
                  <c:pt idx="1">
                    <c:v>Quench</c:v>
                  </c:pt>
                  <c:pt idx="2">
                    <c:v>ROB109</c:v>
                  </c:pt>
                  <c:pt idx="3">
                    <c:v>N602-N603</c:v>
                  </c:pt>
                  <c:pt idx="4">
                    <c:v>ROB104</c:v>
                  </c:pt>
                  <c:pt idx="5">
                    <c:v>Flowform</c:v>
                  </c:pt>
                  <c:pt idx="6">
                    <c:v>ROB108</c:v>
                  </c:pt>
                  <c:pt idx="7">
                    <c:v>ETM</c:v>
                  </c:pt>
                  <c:pt idx="8">
                    <c:v>Pres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1131</c:v>
                </c:pt>
                <c:pt idx="1">
                  <c:v>1561</c:v>
                </c:pt>
                <c:pt idx="2">
                  <c:v>1682</c:v>
                </c:pt>
                <c:pt idx="3">
                  <c:v>1742</c:v>
                </c:pt>
                <c:pt idx="4">
                  <c:v>1853</c:v>
                </c:pt>
                <c:pt idx="5">
                  <c:v>1948</c:v>
                </c:pt>
                <c:pt idx="6">
                  <c:v>2038</c:v>
                </c:pt>
                <c:pt idx="7">
                  <c:v>2054</c:v>
                </c:pt>
                <c:pt idx="8">
                  <c:v>2060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adet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Günlük Kayıp Süresi (dk)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14.06</c:v>
                  </c:pt>
                  <c:pt idx="1">
                    <c:v>15.06</c:v>
                  </c:pt>
                  <c:pt idx="2">
                    <c:v>16.06</c:v>
                  </c:pt>
                  <c:pt idx="3">
                    <c:v>17.06</c:v>
                  </c:pt>
                  <c:pt idx="4">
                    <c:v>18.06</c:v>
                  </c:pt>
                  <c:pt idx="5">
                    <c:v>21.06</c:v>
                  </c:pt>
                  <c:pt idx="6">
                    <c:v>22.06</c:v>
                  </c:pt>
                  <c:pt idx="7">
                    <c:v>23.06</c:v>
                  </c:pt>
                  <c:pt idx="8">
                    <c:v>24.06</c:v>
                  </c:pt>
                  <c:pt idx="9">
                    <c:v>25.06</c:v>
                  </c:pt>
                  <c:pt idx="10">
                    <c:v>28.06</c:v>
                  </c:pt>
                  <c:pt idx="11">
                    <c:v>29.06</c:v>
                  </c:pt>
                  <c:pt idx="12">
                    <c:v>30.06</c:v>
                  </c:pt>
                  <c:pt idx="13">
                    <c:v>01.07</c:v>
                  </c:pt>
                  <c:pt idx="14">
                    <c:v>02.07</c:v>
                  </c:pt>
                  <c:pt idx="15">
                    <c:v>04.07</c:v>
                  </c:pt>
                  <c:pt idx="16">
                    <c:v>05.07</c:v>
                  </c:pt>
                  <c:pt idx="17">
                    <c:v>06.07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140</c:v>
                </c:pt>
                <c:pt idx="1">
                  <c:v>784</c:v>
                </c:pt>
                <c:pt idx="2">
                  <c:v>1527</c:v>
                </c:pt>
                <c:pt idx="3">
                  <c:v>1669</c:v>
                </c:pt>
                <c:pt idx="4">
                  <c:v>1673</c:v>
                </c:pt>
                <c:pt idx="5">
                  <c:v>919</c:v>
                </c:pt>
                <c:pt idx="6">
                  <c:v>1086</c:v>
                </c:pt>
                <c:pt idx="7">
                  <c:v>942</c:v>
                </c:pt>
                <c:pt idx="8">
                  <c:v>1061</c:v>
                </c:pt>
                <c:pt idx="9">
                  <c:v>903</c:v>
                </c:pt>
                <c:pt idx="10">
                  <c:v>526</c:v>
                </c:pt>
                <c:pt idx="11">
                  <c:v>1327</c:v>
                </c:pt>
                <c:pt idx="12">
                  <c:v>1056</c:v>
                </c:pt>
                <c:pt idx="13">
                  <c:v>986</c:v>
                </c:pt>
                <c:pt idx="14">
                  <c:v>744</c:v>
                </c:pt>
                <c:pt idx="15">
                  <c:v>492</c:v>
                </c:pt>
                <c:pt idx="16">
                  <c:v>475</c:v>
                </c:pt>
                <c:pt idx="17">
                  <c:v>753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14.06</c:v>
                  </c:pt>
                  <c:pt idx="1">
                    <c:v>15.06</c:v>
                  </c:pt>
                  <c:pt idx="2">
                    <c:v>16.06</c:v>
                  </c:pt>
                  <c:pt idx="3">
                    <c:v>17.06</c:v>
                  </c:pt>
                  <c:pt idx="4">
                    <c:v>18.06</c:v>
                  </c:pt>
                  <c:pt idx="5">
                    <c:v>21.06</c:v>
                  </c:pt>
                  <c:pt idx="6">
                    <c:v>22.06</c:v>
                  </c:pt>
                  <c:pt idx="7">
                    <c:v>23.06</c:v>
                  </c:pt>
                  <c:pt idx="8">
                    <c:v>24.06</c:v>
                  </c:pt>
                  <c:pt idx="9">
                    <c:v>25.06</c:v>
                  </c:pt>
                  <c:pt idx="10">
                    <c:v>28.06</c:v>
                  </c:pt>
                  <c:pt idx="11">
                    <c:v>29.06</c:v>
                  </c:pt>
                  <c:pt idx="12">
                    <c:v>30.06</c:v>
                  </c:pt>
                  <c:pt idx="13">
                    <c:v>01.07</c:v>
                  </c:pt>
                  <c:pt idx="14">
                    <c:v>02.07</c:v>
                  </c:pt>
                  <c:pt idx="15">
                    <c:v>04.07</c:v>
                  </c:pt>
                  <c:pt idx="16">
                    <c:v>05.07</c:v>
                  </c:pt>
                  <c:pt idx="17">
                    <c:v>06.07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1152.1</c:v>
                </c:pt>
                <c:pt idx="1">
                  <c:v>1128</c:v>
                </c:pt>
                <c:pt idx="2">
                  <c:v>1104</c:v>
                </c:pt>
                <c:pt idx="3">
                  <c:v>1080</c:v>
                </c:pt>
                <c:pt idx="4">
                  <c:v>1056</c:v>
                </c:pt>
                <c:pt idx="5">
                  <c:v>1032</c:v>
                </c:pt>
                <c:pt idx="6">
                  <c:v>1008</c:v>
                </c:pt>
                <c:pt idx="7">
                  <c:v>984</c:v>
                </c:pt>
                <c:pt idx="8">
                  <c:v>960</c:v>
                </c:pt>
                <c:pt idx="9">
                  <c:v>935.9</c:v>
                </c:pt>
                <c:pt idx="10">
                  <c:v>911.9</c:v>
                </c:pt>
                <c:pt idx="11">
                  <c:v>887.9</c:v>
                </c:pt>
                <c:pt idx="12">
                  <c:v>863.9</c:v>
                </c:pt>
                <c:pt idx="13">
                  <c:v>839.9</c:v>
                </c:pt>
                <c:pt idx="14">
                  <c:v>815.9</c:v>
                </c:pt>
                <c:pt idx="15">
                  <c:v>791.9</c:v>
                </c:pt>
                <c:pt idx="16">
                  <c:v>767.8</c:v>
                </c:pt>
                <c:pt idx="17">
                  <c:v>743.8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8590A6"/>
                    </a:solidFill>
                    <a:latin typeface="Arial"/>
                  </a:rPr>
                  <a:t>dk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Ortalama Üretim (adet/gün)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13.06</c:v>
                  </c:pt>
                  <c:pt idx="1">
                    <c:v>14.06</c:v>
                  </c:pt>
                  <c:pt idx="2">
                    <c:v>15.06</c:v>
                  </c:pt>
                  <c:pt idx="3">
                    <c:v>16.06</c:v>
                  </c:pt>
                  <c:pt idx="4">
                    <c:v>17.06</c:v>
                  </c:pt>
                  <c:pt idx="5">
                    <c:v>18.06</c:v>
                  </c:pt>
                  <c:pt idx="6">
                    <c:v>21.06</c:v>
                  </c:pt>
                  <c:pt idx="7">
                    <c:v>22.06</c:v>
                  </c:pt>
                  <c:pt idx="8">
                    <c:v>23.06</c:v>
                  </c:pt>
                  <c:pt idx="9">
                    <c:v>24.06</c:v>
                  </c:pt>
                  <c:pt idx="10">
                    <c:v>25.06</c:v>
                  </c:pt>
                  <c:pt idx="11">
                    <c:v>26.06</c:v>
                  </c:pt>
                  <c:pt idx="12">
                    <c:v>28.06</c:v>
                  </c:pt>
                  <c:pt idx="13">
                    <c:v>29.06</c:v>
                  </c:pt>
                  <c:pt idx="14">
                    <c:v>30.06</c:v>
                  </c:pt>
                  <c:pt idx="15">
                    <c:v>01.07</c:v>
                  </c:pt>
                  <c:pt idx="16">
                    <c:v>02.07</c:v>
                  </c:pt>
                  <c:pt idx="17">
                    <c:v>04.07</c:v>
                  </c:pt>
                  <c:pt idx="18">
                    <c:v>05.07</c:v>
                  </c:pt>
                  <c:pt idx="19">
                    <c:v>06.07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80</c:v>
                </c:pt>
                <c:pt idx="1">
                  <c:v>112.7</c:v>
                </c:pt>
                <c:pt idx="2">
                  <c:v>72.8</c:v>
                </c:pt>
                <c:pt idx="3">
                  <c:v>85.1</c:v>
                </c:pt>
                <c:pt idx="4">
                  <c:v>80.4</c:v>
                </c:pt>
                <c:pt idx="5">
                  <c:v>125.4</c:v>
                </c:pt>
                <c:pt idx="6">
                  <c:v>114.4</c:v>
                </c:pt>
                <c:pt idx="7">
                  <c:v>119.4</c:v>
                </c:pt>
                <c:pt idx="8">
                  <c:v>98.5</c:v>
                </c:pt>
                <c:pt idx="9">
                  <c:v>107.8</c:v>
                </c:pt>
                <c:pt idx="10">
                  <c:v>117.1</c:v>
                </c:pt>
                <c:pt idx="11">
                  <c:v>107</c:v>
                </c:pt>
                <c:pt idx="12">
                  <c:v>126.4</c:v>
                </c:pt>
                <c:pt idx="13">
                  <c:v>108.6</c:v>
                </c:pt>
                <c:pt idx="14">
                  <c:v>115.9</c:v>
                </c:pt>
                <c:pt idx="15">
                  <c:v>117.8</c:v>
                </c:pt>
                <c:pt idx="16">
                  <c:v>130.8</c:v>
                </c:pt>
                <c:pt idx="17">
                  <c:v>93</c:v>
                </c:pt>
                <c:pt idx="18">
                  <c:v>116.6</c:v>
                </c:pt>
                <c:pt idx="19">
                  <c:v>110.3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13.06</c:v>
                  </c:pt>
                  <c:pt idx="1">
                    <c:v>14.06</c:v>
                  </c:pt>
                  <c:pt idx="2">
                    <c:v>15.06</c:v>
                  </c:pt>
                  <c:pt idx="3">
                    <c:v>16.06</c:v>
                  </c:pt>
                  <c:pt idx="4">
                    <c:v>17.06</c:v>
                  </c:pt>
                  <c:pt idx="5">
                    <c:v>18.06</c:v>
                  </c:pt>
                  <c:pt idx="6">
                    <c:v>21.06</c:v>
                  </c:pt>
                  <c:pt idx="7">
                    <c:v>22.06</c:v>
                  </c:pt>
                  <c:pt idx="8">
                    <c:v>23.06</c:v>
                  </c:pt>
                  <c:pt idx="9">
                    <c:v>24.06</c:v>
                  </c:pt>
                  <c:pt idx="10">
                    <c:v>25.06</c:v>
                  </c:pt>
                  <c:pt idx="11">
                    <c:v>26.06</c:v>
                  </c:pt>
                  <c:pt idx="12">
                    <c:v>28.06</c:v>
                  </c:pt>
                  <c:pt idx="13">
                    <c:v>29.06</c:v>
                  </c:pt>
                  <c:pt idx="14">
                    <c:v>30.06</c:v>
                  </c:pt>
                  <c:pt idx="15">
                    <c:v>01.07</c:v>
                  </c:pt>
                  <c:pt idx="16">
                    <c:v>02.07</c:v>
                  </c:pt>
                  <c:pt idx="17">
                    <c:v>04.07</c:v>
                  </c:pt>
                  <c:pt idx="18">
                    <c:v>05.07</c:v>
                  </c:pt>
                  <c:pt idx="19">
                    <c:v>06.07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93.5</c:v>
                </c:pt>
                <c:pt idx="1">
                  <c:v>94.9</c:v>
                </c:pt>
                <c:pt idx="2">
                  <c:v>96.3</c:v>
                </c:pt>
                <c:pt idx="3">
                  <c:v>97.7</c:v>
                </c:pt>
                <c:pt idx="4">
                  <c:v>99.2</c:v>
                </c:pt>
                <c:pt idx="5">
                  <c:v>100.6</c:v>
                </c:pt>
                <c:pt idx="6">
                  <c:v>102</c:v>
                </c:pt>
                <c:pt idx="7">
                  <c:v>103.4</c:v>
                </c:pt>
                <c:pt idx="8">
                  <c:v>104.9</c:v>
                </c:pt>
                <c:pt idx="9">
                  <c:v>106.3</c:v>
                </c:pt>
                <c:pt idx="10">
                  <c:v>107.7</c:v>
                </c:pt>
                <c:pt idx="11">
                  <c:v>109.1</c:v>
                </c:pt>
                <c:pt idx="12">
                  <c:v>110.6</c:v>
                </c:pt>
                <c:pt idx="13">
                  <c:v>112</c:v>
                </c:pt>
                <c:pt idx="14">
                  <c:v>113.4</c:v>
                </c:pt>
                <c:pt idx="15">
                  <c:v>114.8</c:v>
                </c:pt>
                <c:pt idx="16">
                  <c:v>116.3</c:v>
                </c:pt>
                <c:pt idx="17">
                  <c:v>117.7</c:v>
                </c:pt>
                <c:pt idx="18">
                  <c:v>119.1</c:v>
                </c:pt>
                <c:pt idx="19">
                  <c:v>120.5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8590A6"/>
                    </a:solidFill>
                    <a:latin typeface="Arial"/>
                  </a:rPr>
                  <a:t>adet/gün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Duruş Süresi (dk)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Pres</c:v>
                  </c:pt>
                  <c:pt idx="1">
                    <c:v>N602</c:v>
                  </c:pt>
                  <c:pt idx="2">
                    <c:v>ROB110-111</c:v>
                  </c:pt>
                  <c:pt idx="3">
                    <c:v>Flowform</c:v>
                  </c:pt>
                  <c:pt idx="4">
                    <c:v>ROB108</c:v>
                  </c:pt>
                  <c:pt idx="5">
                    <c:v>ROB104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ETM</c:v>
                  </c:pt>
                  <c:pt idx="9">
                    <c:v>N603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2832</c:v>
                </c:pt>
                <c:pt idx="1">
                  <c:v>2467</c:v>
                </c:pt>
                <c:pt idx="2">
                  <c:v>2331</c:v>
                </c:pt>
                <c:pt idx="3">
                  <c:v>2126</c:v>
                </c:pt>
                <c:pt idx="4">
                  <c:v>2094</c:v>
                </c:pt>
                <c:pt idx="5">
                  <c:v>2046</c:v>
                </c:pt>
                <c:pt idx="6">
                  <c:v>1980</c:v>
                </c:pt>
                <c:pt idx="7">
                  <c:v>1560</c:v>
                </c:pt>
                <c:pt idx="8">
                  <c:v>672</c:v>
                </c:pt>
                <c:pt idx="9">
                  <c:v>544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Olay Sayısı</c:v>
                </c:pt>
              </c:strCache>
            </c:strRef>
          </c:tx>
          <c:spPr>
            <a:solidFill>
              <a:srgbClr val="B45309"/>
            </a:solidFill>
            <a:ln w="2540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Pres</c:v>
                  </c:pt>
                  <c:pt idx="1">
                    <c:v>N602</c:v>
                  </c:pt>
                  <c:pt idx="2">
                    <c:v>ROB110-111</c:v>
                  </c:pt>
                  <c:pt idx="3">
                    <c:v>Flowform</c:v>
                  </c:pt>
                  <c:pt idx="4">
                    <c:v>ROB108</c:v>
                  </c:pt>
                  <c:pt idx="5">
                    <c:v>ROB104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ETM</c:v>
                  </c:pt>
                  <c:pt idx="9">
                    <c:v>N603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87</c:v>
                </c:pt>
                <c:pt idx="1">
                  <c:v>102</c:v>
                </c:pt>
                <c:pt idx="2">
                  <c:v>85</c:v>
                </c:pt>
                <c:pt idx="3">
                  <c:v>83</c:v>
                </c:pt>
                <c:pt idx="4">
                  <c:v>87</c:v>
                </c:pt>
                <c:pt idx="5">
                  <c:v>77</c:v>
                </c:pt>
                <c:pt idx="6">
                  <c:v>132</c:v>
                </c:pt>
                <c:pt idx="7">
                  <c:v>5</c:v>
                </c:pt>
                <c:pt idx="8">
                  <c:v>42</c:v>
                </c:pt>
                <c:pt idx="9">
                  <c:v>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8590A6"/>
                    </a:solidFill>
                    <a:latin typeface="Arial"/>
                  </a:rPr>
                  <a:t>Duruş Süresi (dk)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8590A6"/>
                    </a:solidFill>
                    <a:latin typeface="Arial"/>
                  </a:rPr>
                  <a:t>Olay Sayısı (Adet)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Kayıp Süresi (dk)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B45309"/>
              </a:solidFill>
              <a:effectLst/>
            </c:spPr>
          </c:dPt>
          <c:dPt>
            <c:idx val="2"/>
            <c:bubble3D val="0"/>
            <c:spPr>
              <a:solidFill>
                <a:srgbClr val="15803D"/>
              </a:solidFill>
              <a:effectLst/>
            </c:spPr>
          </c:dPt>
          <c:dPt>
            <c:idx val="3"/>
            <c:bubble3D val="0"/>
            <c:spPr>
              <a:solidFill>
                <a:srgbClr val="475569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bubble3D val="0"/>
            <c:spPr>
              <a:solidFill>
                <a:srgbClr val="CBD5E1"/>
              </a:solidFill>
              <a:effectLst/>
            </c:spPr>
          </c:dPt>
          <c:dPt>
            <c:idx val="6"/>
            <c:bubble3D val="0"/>
            <c:spPr>
              <a:solidFill>
                <a:srgbClr val="E2E8F0"/>
              </a:solidFill>
              <a:effectLst/>
            </c:spPr>
          </c:dPt>
          <c:dPt>
            <c:idx val="7"/>
            <c:bubble3D val="0"/>
            <c:spPr>
              <a:solidFill>
                <a:srgbClr val="94A3B8"/>
              </a:solidFill>
              <a:effectLst/>
            </c:spPr>
          </c:dPt>
          <c:dPt>
            <c:idx val="8"/>
            <c:bubble3D val="0"/>
            <c:spPr>
              <a:solidFill>
                <a:srgbClr val="1E2761"/>
              </a:solidFill>
              <a:effectLst/>
            </c:spPr>
          </c:dPt>
          <c:dPt>
            <c:idx val="9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Mekanik Arıza</c:v>
                </c:pt>
                <c:pt idx="1">
                  <c:v>Takım / Kalıp Değişimi</c:v>
                </c:pt>
                <c:pt idx="2">
                  <c:v>Elektrik Arıza</c:v>
                </c:pt>
                <c:pt idx="3">
                  <c:v>Akışkan Arıza</c:v>
                </c:pt>
                <c:pt idx="4">
                  <c:v>Diğer</c:v>
                </c:pt>
                <c:pt idx="5">
                  <c:v>Setup / Ayar</c:v>
                </c:pt>
                <c:pt idx="6">
                  <c:v>Müşteri Kaynaklı</c:v>
                </c:pt>
                <c:pt idx="7">
                  <c:v>Yardımcı Süreç Kayıpları</c:v>
                </c:pt>
                <c:pt idx="8">
                  <c:v>Müşteri / Kalite</c:v>
                </c:pt>
                <c:pt idx="9">
                  <c:v>Kalite Kaynaklı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3850</c:v>
                </c:pt>
                <c:pt idx="1">
                  <c:v>3355</c:v>
                </c:pt>
                <c:pt idx="2">
                  <c:v>2533</c:v>
                </c:pt>
                <c:pt idx="3">
                  <c:v>2271</c:v>
                </c:pt>
                <c:pt idx="4">
                  <c:v>1955</c:v>
                </c:pt>
                <c:pt idx="5">
                  <c:v>1905</c:v>
                </c:pt>
                <c:pt idx="6">
                  <c:v>1691</c:v>
                </c:pt>
                <c:pt idx="7">
                  <c:v>648</c:v>
                </c:pt>
                <c:pt idx="8">
                  <c:v>260</c:v>
                </c:pt>
                <c:pt idx="9">
                  <c:v>184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590A6"/>
              </a:solidFill>
              <a:effectLst/>
            </c:spPr>
          </c:dPt>
          <c:dPt>
            <c:idx val="1"/>
            <c:bubble3D val="0"/>
            <c:spPr>
              <a:solidFill>
                <a:srgbClr val="1580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İşaretlenmemiş</c:v>
                </c:pt>
                <c:pt idx="1">
                  <c:v>Giderildi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295</c:v>
                </c:pt>
                <c:pt idx="1">
                  <c:v>23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45309"/>
              </a:solidFill>
              <a:effectLst/>
            </c:spPr>
          </c:dPt>
          <c:dPt>
            <c:idx val="1"/>
            <c:bubble3D val="0"/>
            <c:spPr>
              <a:solidFill>
                <a:srgbClr val="1580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Açık</c:v>
                </c:pt>
                <c:pt idx="1">
                  <c:v>Tamamlandı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14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206240"/>
            <a:ext cx="4572000" cy="4572000"/>
          </a:xfrm>
          <a:prstGeom prst="ellipse">
            <a:avLst/>
          </a:prstGeom>
          <a:solidFill>
            <a:srgbClr val="1E2761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14400"/>
            <a:ext cx="822960" cy="822960"/>
          </a:xfrm>
          <a:prstGeom prst="ellipse">
            <a:avLst/>
          </a:prstGeom>
          <a:solidFill>
            <a:srgbClr val="CADCFC">
              <a:alpha val="90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1155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REPKON HF901 · SERİ ÜRETİM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5146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Performans Raporu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822960" y="489204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Ortalama Üretim Adedi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10424160" y="3529584"/>
            <a:ext cx="109728" cy="10972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" name="Text 4"/>
          <p:cNvSpPr/>
          <p:nvPr/>
        </p:nvSpPr>
        <p:spPr>
          <a:xfrm>
            <a:off x="10607040" y="34747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Nisan–Mayıs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0424160" y="3849624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10607040" y="37947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Haziran–Temmuz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0424160" y="4169664"/>
            <a:ext cx="109728" cy="109728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1" name="Text 8"/>
          <p:cNvSpPr/>
          <p:nvPr/>
        </p:nvSpPr>
        <p:spPr>
          <a:xfrm>
            <a:off x="10607040" y="41148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(Günlük 200)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743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377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577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0919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172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06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8867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5209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9601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869680" y="5623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adet/gün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48640" y="1719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537835" y="1828800"/>
            <a:ext cx="1553337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091172" y="1828800"/>
            <a:ext cx="2510028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73827" y="176479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Shape 23"/>
          <p:cNvSpPr/>
          <p:nvPr/>
        </p:nvSpPr>
        <p:spPr>
          <a:xfrm>
            <a:off x="7027164" y="176479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Shape 24"/>
          <p:cNvSpPr/>
          <p:nvPr/>
        </p:nvSpPr>
        <p:spPr>
          <a:xfrm>
            <a:off x="9537192" y="1764792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8" name="Text 25"/>
          <p:cNvSpPr/>
          <p:nvPr/>
        </p:nvSpPr>
        <p:spPr>
          <a:xfrm>
            <a:off x="5080635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81.5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633972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126.8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857304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+56%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7888986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+%58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48640" y="20665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ETM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505706" y="2176272"/>
            <a:ext cx="284264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348347" y="2176272"/>
            <a:ext cx="2252853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41698" y="211226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6" name="Shape 33"/>
          <p:cNvSpPr/>
          <p:nvPr/>
        </p:nvSpPr>
        <p:spPr>
          <a:xfrm>
            <a:off x="7284339" y="211226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7" name="Shape 34"/>
          <p:cNvSpPr/>
          <p:nvPr/>
        </p:nvSpPr>
        <p:spPr>
          <a:xfrm>
            <a:off x="9537192" y="2112264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38" name="Text 35"/>
          <p:cNvSpPr/>
          <p:nvPr/>
        </p:nvSpPr>
        <p:spPr>
          <a:xfrm>
            <a:off x="4048506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6891147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134.3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5469827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+161%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8017574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+%49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548640" y="24140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ROB108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4265676" y="2523744"/>
            <a:ext cx="2269998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535674" y="2523744"/>
            <a:ext cx="3065526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201668" y="245973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6" name="Shape 43"/>
          <p:cNvSpPr/>
          <p:nvPr/>
        </p:nvSpPr>
        <p:spPr>
          <a:xfrm>
            <a:off x="6471666" y="245973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7" name="Shape 44"/>
          <p:cNvSpPr/>
          <p:nvPr/>
        </p:nvSpPr>
        <p:spPr>
          <a:xfrm>
            <a:off x="9537192" y="2459736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48" name="Text 45"/>
          <p:cNvSpPr/>
          <p:nvPr/>
        </p:nvSpPr>
        <p:spPr>
          <a:xfrm>
            <a:off x="3808476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44.4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6078474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110.6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4943475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+149%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7611237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+%81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548640" y="2761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Flowform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4310253" y="2871216"/>
            <a:ext cx="2173986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484239" y="2871216"/>
            <a:ext cx="3116961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246245" y="280720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6" name="Shape 53"/>
          <p:cNvSpPr/>
          <p:nvPr/>
        </p:nvSpPr>
        <p:spPr>
          <a:xfrm>
            <a:off x="6420231" y="280720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7" name="Shape 54"/>
          <p:cNvSpPr/>
          <p:nvPr/>
        </p:nvSpPr>
        <p:spPr>
          <a:xfrm>
            <a:off x="9537192" y="2807208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58" name="Text 55"/>
          <p:cNvSpPr/>
          <p:nvPr/>
        </p:nvSpPr>
        <p:spPr>
          <a:xfrm>
            <a:off x="3853053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45.7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6027039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109.1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4940046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+139%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7585519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+%83</a:t>
            </a:r>
            <a:endParaRPr lang="en-US" sz="900" dirty="0"/>
          </a:p>
        </p:txBody>
      </p:sp>
      <p:sp>
        <p:nvSpPr>
          <p:cNvPr id="62" name="Text 59"/>
          <p:cNvSpPr/>
          <p:nvPr/>
        </p:nvSpPr>
        <p:spPr>
          <a:xfrm>
            <a:off x="5486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4248531" y="3218688"/>
            <a:ext cx="21259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374511" y="3218688"/>
            <a:ext cx="3226689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184523" y="3154680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6" name="Shape 63"/>
          <p:cNvSpPr/>
          <p:nvPr/>
        </p:nvSpPr>
        <p:spPr>
          <a:xfrm>
            <a:off x="6310503" y="315468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7" name="Shape 64"/>
          <p:cNvSpPr/>
          <p:nvPr/>
        </p:nvSpPr>
        <p:spPr>
          <a:xfrm>
            <a:off x="9537192" y="3154680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68" name="Text 65"/>
          <p:cNvSpPr/>
          <p:nvPr/>
        </p:nvSpPr>
        <p:spPr>
          <a:xfrm>
            <a:off x="3791331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43.9</a:t>
            </a:r>
            <a:endParaRPr lang="en-US" sz="850" dirty="0"/>
          </a:p>
        </p:txBody>
      </p:sp>
      <p:sp>
        <p:nvSpPr>
          <p:cNvPr id="69" name="Text 66"/>
          <p:cNvSpPr/>
          <p:nvPr/>
        </p:nvSpPr>
        <p:spPr>
          <a:xfrm>
            <a:off x="5917311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105.9</a:t>
            </a:r>
            <a:endParaRPr lang="en-US" sz="850" dirty="0"/>
          </a:p>
        </p:txBody>
      </p:sp>
      <p:sp>
        <p:nvSpPr>
          <p:cNvPr id="70" name="Text 67"/>
          <p:cNvSpPr/>
          <p:nvPr/>
        </p:nvSpPr>
        <p:spPr>
          <a:xfrm>
            <a:off x="4854321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+141%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7530656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+%89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548640" y="34564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N602-603</a:t>
            </a:r>
            <a:endParaRPr lang="en-US" sz="1200" dirty="0"/>
          </a:p>
        </p:txBody>
      </p:sp>
      <p:sp>
        <p:nvSpPr>
          <p:cNvPr id="73" name="Shape 70"/>
          <p:cNvSpPr/>
          <p:nvPr/>
        </p:nvSpPr>
        <p:spPr>
          <a:xfrm>
            <a:off x="4197096" y="3566160"/>
            <a:ext cx="1831086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6028182" y="3566160"/>
            <a:ext cx="3573018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4133088" y="350215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6" name="Shape 73"/>
          <p:cNvSpPr/>
          <p:nvPr/>
        </p:nvSpPr>
        <p:spPr>
          <a:xfrm>
            <a:off x="5964174" y="350215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7" name="Shape 74"/>
          <p:cNvSpPr/>
          <p:nvPr/>
        </p:nvSpPr>
        <p:spPr>
          <a:xfrm>
            <a:off x="9537192" y="3502152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78" name="Text 75"/>
          <p:cNvSpPr/>
          <p:nvPr/>
        </p:nvSpPr>
        <p:spPr>
          <a:xfrm>
            <a:off x="3739896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42.4</a:t>
            </a:r>
            <a:endParaRPr lang="en-US" sz="850" dirty="0"/>
          </a:p>
        </p:txBody>
      </p:sp>
      <p:sp>
        <p:nvSpPr>
          <p:cNvPr id="79" name="Text 76"/>
          <p:cNvSpPr/>
          <p:nvPr/>
        </p:nvSpPr>
        <p:spPr>
          <a:xfrm>
            <a:off x="5570982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95.8</a:t>
            </a:r>
            <a:endParaRPr lang="en-US" sz="850" dirty="0"/>
          </a:p>
        </p:txBody>
      </p:sp>
      <p:sp>
        <p:nvSpPr>
          <p:cNvPr id="80" name="Text 77"/>
          <p:cNvSpPr/>
          <p:nvPr/>
        </p:nvSpPr>
        <p:spPr>
          <a:xfrm>
            <a:off x="4655439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+126%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7357491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+%109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548640" y="38039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ROB109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4077081" y="3913632"/>
            <a:ext cx="2029968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6107049" y="3913632"/>
            <a:ext cx="3494151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4013073" y="384962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86" name="Shape 83"/>
          <p:cNvSpPr/>
          <p:nvPr/>
        </p:nvSpPr>
        <p:spPr>
          <a:xfrm>
            <a:off x="6043041" y="384962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7" name="Shape 84"/>
          <p:cNvSpPr/>
          <p:nvPr/>
        </p:nvSpPr>
        <p:spPr>
          <a:xfrm>
            <a:off x="9537192" y="3849624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88" name="Text 85"/>
          <p:cNvSpPr/>
          <p:nvPr/>
        </p:nvSpPr>
        <p:spPr>
          <a:xfrm>
            <a:off x="3619881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38.9</a:t>
            </a:r>
            <a:endParaRPr lang="en-US" sz="850" dirty="0"/>
          </a:p>
        </p:txBody>
      </p:sp>
      <p:sp>
        <p:nvSpPr>
          <p:cNvPr id="89" name="Text 86"/>
          <p:cNvSpPr/>
          <p:nvPr/>
        </p:nvSpPr>
        <p:spPr>
          <a:xfrm>
            <a:off x="5649849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98.1</a:t>
            </a:r>
            <a:endParaRPr lang="en-US" sz="850" dirty="0"/>
          </a:p>
        </p:txBody>
      </p:sp>
      <p:sp>
        <p:nvSpPr>
          <p:cNvPr id="90" name="Text 87"/>
          <p:cNvSpPr/>
          <p:nvPr/>
        </p:nvSpPr>
        <p:spPr>
          <a:xfrm>
            <a:off x="4634865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+152%</a:t>
            </a:r>
            <a:endParaRPr lang="en-US" sz="900" dirty="0"/>
          </a:p>
        </p:txBody>
      </p:sp>
      <p:sp>
        <p:nvSpPr>
          <p:cNvPr id="91" name="Text 88"/>
          <p:cNvSpPr/>
          <p:nvPr/>
        </p:nvSpPr>
        <p:spPr>
          <a:xfrm>
            <a:off x="7396925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+%104</a:t>
            </a:r>
            <a:endParaRPr lang="en-US" sz="900" dirty="0"/>
          </a:p>
        </p:txBody>
      </p:sp>
      <p:sp>
        <p:nvSpPr>
          <p:cNvPr id="92" name="Text 89"/>
          <p:cNvSpPr/>
          <p:nvPr/>
        </p:nvSpPr>
        <p:spPr>
          <a:xfrm>
            <a:off x="548640" y="41513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Quench</a:t>
            </a:r>
            <a:endParaRPr lang="en-US" sz="1200" dirty="0"/>
          </a:p>
        </p:txBody>
      </p:sp>
      <p:sp>
        <p:nvSpPr>
          <p:cNvPr id="93" name="Shape 90"/>
          <p:cNvSpPr/>
          <p:nvPr/>
        </p:nvSpPr>
        <p:spPr>
          <a:xfrm>
            <a:off x="4186809" y="4261104"/>
            <a:ext cx="1879092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065901" y="4261104"/>
            <a:ext cx="3535299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4122801" y="419709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96" name="Shape 93"/>
          <p:cNvSpPr/>
          <p:nvPr/>
        </p:nvSpPr>
        <p:spPr>
          <a:xfrm>
            <a:off x="6001893" y="419709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7" name="Shape 94"/>
          <p:cNvSpPr/>
          <p:nvPr/>
        </p:nvSpPr>
        <p:spPr>
          <a:xfrm>
            <a:off x="9537192" y="4197096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98" name="Text 95"/>
          <p:cNvSpPr/>
          <p:nvPr/>
        </p:nvSpPr>
        <p:spPr>
          <a:xfrm>
            <a:off x="3729609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42.1</a:t>
            </a:r>
            <a:endParaRPr lang="en-US" sz="850" dirty="0"/>
          </a:p>
        </p:txBody>
      </p:sp>
      <p:sp>
        <p:nvSpPr>
          <p:cNvPr id="99" name="Text 96"/>
          <p:cNvSpPr/>
          <p:nvPr/>
        </p:nvSpPr>
        <p:spPr>
          <a:xfrm>
            <a:off x="5608701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96.9</a:t>
            </a:r>
            <a:endParaRPr lang="en-US" sz="850" dirty="0"/>
          </a:p>
        </p:txBody>
      </p:sp>
      <p:sp>
        <p:nvSpPr>
          <p:cNvPr id="100" name="Text 97"/>
          <p:cNvSpPr/>
          <p:nvPr/>
        </p:nvSpPr>
        <p:spPr>
          <a:xfrm>
            <a:off x="4669155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+130%</a:t>
            </a:r>
            <a:endParaRPr lang="en-US" sz="900" dirty="0"/>
          </a:p>
        </p:txBody>
      </p:sp>
      <p:sp>
        <p:nvSpPr>
          <p:cNvPr id="101" name="Text 98"/>
          <p:cNvSpPr/>
          <p:nvPr/>
        </p:nvSpPr>
        <p:spPr>
          <a:xfrm>
            <a:off x="7376351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+%106</a:t>
            </a:r>
            <a:endParaRPr lang="en-US" sz="900" dirty="0"/>
          </a:p>
        </p:txBody>
      </p:sp>
      <p:sp>
        <p:nvSpPr>
          <p:cNvPr id="102" name="Text 99"/>
          <p:cNvSpPr/>
          <p:nvPr/>
        </p:nvSpPr>
        <p:spPr>
          <a:xfrm>
            <a:off x="54864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ROB110-111</a:t>
            </a:r>
            <a:endParaRPr lang="en-US" sz="1200" dirty="0"/>
          </a:p>
        </p:txBody>
      </p:sp>
      <p:sp>
        <p:nvSpPr>
          <p:cNvPr id="103" name="Shape 100"/>
          <p:cNvSpPr/>
          <p:nvPr/>
        </p:nvSpPr>
        <p:spPr>
          <a:xfrm>
            <a:off x="3994785" y="4608576"/>
            <a:ext cx="2095119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6089904" y="4608576"/>
            <a:ext cx="3511296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3930777" y="454456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6025896" y="454456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7" name="Shape 104"/>
          <p:cNvSpPr/>
          <p:nvPr/>
        </p:nvSpPr>
        <p:spPr>
          <a:xfrm>
            <a:off x="9537192" y="4544568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08" name="Text 105"/>
          <p:cNvSpPr/>
          <p:nvPr/>
        </p:nvSpPr>
        <p:spPr>
          <a:xfrm>
            <a:off x="3537585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36.5</a:t>
            </a:r>
            <a:endParaRPr lang="en-US" sz="850" dirty="0"/>
          </a:p>
        </p:txBody>
      </p:sp>
      <p:sp>
        <p:nvSpPr>
          <p:cNvPr id="109" name="Text 106"/>
          <p:cNvSpPr/>
          <p:nvPr/>
        </p:nvSpPr>
        <p:spPr>
          <a:xfrm>
            <a:off x="5632704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97.6</a:t>
            </a:r>
            <a:endParaRPr lang="en-US" sz="850" dirty="0"/>
          </a:p>
        </p:txBody>
      </p:sp>
      <p:sp>
        <p:nvSpPr>
          <p:cNvPr id="110" name="Text 107"/>
          <p:cNvSpPr/>
          <p:nvPr/>
        </p:nvSpPr>
        <p:spPr>
          <a:xfrm>
            <a:off x="4585145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+167%</a:t>
            </a:r>
            <a:endParaRPr lang="en-US" sz="900" dirty="0"/>
          </a:p>
        </p:txBody>
      </p:sp>
      <p:sp>
        <p:nvSpPr>
          <p:cNvPr id="111" name="Text 108"/>
          <p:cNvSpPr/>
          <p:nvPr/>
        </p:nvSpPr>
        <p:spPr>
          <a:xfrm>
            <a:off x="7388352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+%105</a:t>
            </a:r>
            <a:endParaRPr lang="en-US" sz="900" dirty="0"/>
          </a:p>
        </p:txBody>
      </p:sp>
      <p:sp>
        <p:nvSpPr>
          <p:cNvPr id="112" name="Text 10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113" name="Text 1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 Bazlı Üretim Adetleri (Haziran–Temmuz)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110642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Azalışı ile Üretim Artışı İlişkisi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5720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TOPLAM KAYIP TRENDİ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92024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5760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Yüksek: 1673 dk  ·  Günlük Ort: 948 dk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30936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ORTALAMA ÜRETİM TRENDİ</a:t>
            </a:r>
            <a:endParaRPr lang="en-US" sz="13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309360" y="192024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6309360" y="5760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 Ort: 130.8  ·  Dönem Ort: 107.0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OEE — Ekipman Etkinliği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 = Availability × Performance × Quality. Kalite bileşeni şimdilik tüm hücreler için varsayılan olarak %100 kabul edilmiştir. Nisan-Mayıs karşılaştırması yok çünkü Hedef Üretim Adeti hücre bazında Haziran ortasına kadar kademeli devreye alındı.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07899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920240"/>
                <a:gridCol w="1920240"/>
                <a:gridCol w="192024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 ORTALAMASI (Zincirleme)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MTBF ve MTTR — Arıza Bazlı Güvenilirlik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MTBF = (Planlı Süre − Arıza Dakikası) / Arıza Kaydı Sayısı  ·  MTTR = Arıza Dakikası / Arıza Kaydı Sayısı. Sadece "Arıza" (breakdown) kolonuna dayanır; planlı duruş, setup, mola vb. diğer duruş türleri dahil değildir.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0789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377440"/>
                <a:gridCol w="23774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MTBF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MTTR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Arıza Kaydı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1019.3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303.1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56235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Örnek sayısı azdır (&lt;5 arıza kaydı) — Quench (3 kayıt) için MTBF/MTTR yorumlanırken dikkatli olunmalı.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Kök Neden Özeti ve Alınan Aksiyonlar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53492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7830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Kök Nedenler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2402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Hücreler arası hız/hazırlık dengesizliği (Pres sonrası istasyonlarda birikme)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Tekrarlayan ekipman arızaları — özellikle N603 titreşim problemi (Nisan)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Flowform'da yağlama ve ejektör kaynaklı mekanik duruşlar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1508760"/>
            <a:ext cx="53492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92240" y="17830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Alınan Aksiyonlar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22402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N602-N603 indüksiyon fırını coil yükseltme plakası revize edildi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 çalışan makine sayısına göre dinamik hedef sistemi kuruldu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Flowform'da 6 mekanik madde (ejektör, yağlama, kalıp yıkama) Haziran sonunda kapatıldı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4983480"/>
            <a:ext cx="1042416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4983480"/>
            <a:ext cx="9875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Sonuç: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bekleme, ortalama hücre bazında %46 azaldı; üretim adetleri günlük ortalamada yaklaşık 3 katına çıktı. ROB109 istisnası hariç, darboğaz baskısı hattın geneline yayılmış durumdan tekil noktalara geriledi.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Analizi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(Pareto) — 13.06.2026 ve Sonrası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11064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4864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Grafik: Pareto duruş süresi (bar, sol eksen) ve Duruş sıklığı (turuncu çizgi, sağ eksen), ilk 3 neden vurgulu. İlk 3 neden toplam duruş süresinin %41'ini oluşturmaktadır. Veriler 13.06.2026 sonrası seçili hücrelerin kategorize edilmiş duruş verileridir.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(Aksiyon Planı) — 13.06.2026 ve Sonrası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40080"/>
                <a:gridCol w="457200"/>
                <a:gridCol w="548640"/>
                <a:gridCol w="3657600"/>
                <a:gridCol w="365760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Sayısı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Küm.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Baskın Kök Neden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Önleyici Aksiyon Planı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2.832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2.126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2.094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4864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Tablo: Pareto analizine göre en yüksek kayba yol açan ilk 5 hücrenin baskın kök nedenleri ve önleyici faaliyetleri listelenmiştir.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 Bazlı Baskın Arıza Nedeni (Haz-Tem)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2011680"/>
                <a:gridCol w="16459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Baskın Neden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Olay Sayısı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(lokasyon bazlı)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Belirsiz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Akışkan (hidrolik yağ sıcaklığı)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Titreşim — Çözüldü (bkz. Öne Çıkan Sorunlar)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6.810 → 70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Belirsiz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N602'deki hidrolik yağ sıcaklığı sorunu N603'ün titreşim probleminin de kaynağıydı; kök nedeni ortak (bkz. Slayt — N603 Titreşim vakası).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Türlerine Göre Dağılım — 13.06.2026 ve Sonrası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463040"/>
          <a:ext cx="5394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1097280"/>
                <a:gridCol w="914400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Kayıp Türü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Sayısı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(%)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 Arıza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3.850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/ Kalıp Değişimi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3.355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 Arıza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2.533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Akışkan Arıza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2.271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1.955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/ Ayar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1.905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Müşteri Kaynaklı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Yardımcı Süreç Kayıpları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648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Müşteri / Kalite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Kalite Kaynaklı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48640" y="54864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Grafik: Kayıp kategorilerinin toplam duruş sürelerine göre yüzde dağılımı. Veriler 13.06.2026 sonrası seçili hücrelerin kategorize edilmiş duruş verileridir.</a:t>
            </a:r>
            <a:endParaRPr lang="en-US" sz="1050" dirty="0"/>
          </a:p>
        </p:txBody>
      </p:sp>
      <p:sp>
        <p:nvSpPr>
          <p:cNvPr id="9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Arıza Kayıtlarında Çözüm Takibi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880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318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429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ARIZA OLAYI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029200" y="1463040"/>
            <a:ext cx="63093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5349240" y="1691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GÖZLEM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349240" y="20116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Sistemde "arıza giderildi" alanı mevcut ancak sahada tutarlı doldurulmuyor: 318 arıza olayının sadece 23'ü (%7) çözüm olarak işaretlenmiş (957 / 9.610 dk). Bu, arızaların çözülmediği anlamına gelmiyor — takip alanının disiplinli kullanılmadığını gösteriyor.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029200" y="3474720"/>
            <a:ext cx="6309360" cy="1005840"/>
          </a:xfrm>
          <a:prstGeom prst="roundRect">
            <a:avLst>
              <a:gd name="adj" fmla="val 7273"/>
            </a:avLst>
          </a:prstGeom>
          <a:solidFill>
            <a:srgbClr val="EEF2FC"/>
          </a:solidFill>
          <a:ln/>
        </p:spPr>
      </p:sp>
      <p:sp>
        <p:nvSpPr>
          <p:cNvPr id="13" name="Text 9"/>
          <p:cNvSpPr/>
          <p:nvPr/>
        </p:nvSpPr>
        <p:spPr>
          <a:xfrm>
            <a:off x="5349240" y="36850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ÖNERİ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5349240" y="39776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Belirli bir süre üzerindeki arızalarda "giderildi" alanı ve çözüm açıklaması zorunlu hale getirilebilir; bu hem takip disiplinini hem de kök neden veri kalitesini artırır.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AKSİYON TAKİBİ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 Madde — Genel Durum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37160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7889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MADDE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188720"/>
                <a:gridCol w="118872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Tamamlandı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5029200" y="416052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Nisan-Mayıs döneminde tamamlanan madde sayısı sıfırdı; 14 maddenin tamamı Haziran-Temmuz'da kapatıldı.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Takibi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Müşteriden Talep Edilecekler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07899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D8DEEC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868680" y="1874520"/>
            <a:ext cx="260604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1947672"/>
            <a:ext cx="182880" cy="182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16152" y="18745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 Bekliyor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68680" y="23774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bölümün madde listesi henüz kesinleşmedi. Sunum hazırlığı sırasında ilgili paydaşlarla birlikte netleştirilecek.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01752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DOLDURULACAK ŞABLON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68680" y="3337560"/>
            <a:ext cx="10149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[Talep Konusu]  —  Gerekçe  —  Beklenen Katkı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aday (bu oturumda netleşmedi): sunum hazırlığı sırasında ilgili paydaşlarla netleştirilecek.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Repkon HF901 Seri Üretim — Performans Raporu ve Aksiyon Talebi</dc:title>
  <dc:subject>PptxGenJS Presentation</dc:subject>
  <dc:creator>Repkon HF901</dc:creator>
  <cp:lastModifiedBy>Repkon HF901</cp:lastModifiedBy>
  <cp:revision>1</cp:revision>
  <dcterms:created xsi:type="dcterms:W3CDTF">2026-07-07T13:02:13Z</dcterms:created>
  <dcterms:modified xsi:type="dcterms:W3CDTF">2026-07-07T13:02:13Z</dcterms:modified>
</cp:coreProperties>
</file>