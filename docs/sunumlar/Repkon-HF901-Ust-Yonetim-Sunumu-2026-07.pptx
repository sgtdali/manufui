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Üretim (adet)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ROB110-111</c:v>
                  </c:pt>
                  <c:pt idx="1">
                    <c:v>Quench</c:v>
                  </c:pt>
                  <c:pt idx="2">
                    <c:v>ROB109</c:v>
                  </c:pt>
                  <c:pt idx="3">
                    <c:v>N602-N603</c:v>
                  </c:pt>
                  <c:pt idx="4">
                    <c:v>ROB104</c:v>
                  </c:pt>
                  <c:pt idx="5">
                    <c:v>Flowform</c:v>
                  </c:pt>
                  <c:pt idx="6">
                    <c:v>ROB108</c:v>
                  </c:pt>
                  <c:pt idx="7">
                    <c:v>ETM</c:v>
                  </c:pt>
                  <c:pt idx="8">
                    <c:v>Pres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1151</c:v>
                </c:pt>
                <c:pt idx="1">
                  <c:v>1653</c:v>
                </c:pt>
                <c:pt idx="2">
                  <c:v>1775</c:v>
                </c:pt>
                <c:pt idx="3">
                  <c:v>1838</c:v>
                </c:pt>
                <c:pt idx="4">
                  <c:v>1883</c:v>
                </c:pt>
                <c:pt idx="5">
                  <c:v>1992</c:v>
                </c:pt>
                <c:pt idx="6">
                  <c:v>2038</c:v>
                </c:pt>
                <c:pt idx="7">
                  <c:v>2054</c:v>
                </c:pt>
                <c:pt idx="8">
                  <c:v>2060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adet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Günlük Kayıp Süresi (dk)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  <c:pt idx="18">
                    <c:v>08.07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140</c:v>
                </c:pt>
                <c:pt idx="1">
                  <c:v>784</c:v>
                </c:pt>
                <c:pt idx="2">
                  <c:v>1099</c:v>
                </c:pt>
                <c:pt idx="3">
                  <c:v>1456</c:v>
                </c:pt>
                <c:pt idx="4">
                  <c:v>1600</c:v>
                </c:pt>
                <c:pt idx="5">
                  <c:v>826</c:v>
                </c:pt>
                <c:pt idx="6">
                  <c:v>1056</c:v>
                </c:pt>
                <c:pt idx="7">
                  <c:v>937</c:v>
                </c:pt>
                <c:pt idx="8">
                  <c:v>1061</c:v>
                </c:pt>
                <c:pt idx="9">
                  <c:v>903</c:v>
                </c:pt>
                <c:pt idx="10">
                  <c:v>490</c:v>
                </c:pt>
                <c:pt idx="11">
                  <c:v>1322</c:v>
                </c:pt>
                <c:pt idx="12">
                  <c:v>1056</c:v>
                </c:pt>
                <c:pt idx="13">
                  <c:v>986</c:v>
                </c:pt>
                <c:pt idx="14">
                  <c:v>569</c:v>
                </c:pt>
                <c:pt idx="15">
                  <c:v>382</c:v>
                </c:pt>
                <c:pt idx="16">
                  <c:v>475</c:v>
                </c:pt>
                <c:pt idx="17">
                  <c:v>721</c:v>
                </c:pt>
                <c:pt idx="18">
                  <c:v>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  <c:pt idx="18">
                    <c:v>08.07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1093.4</c:v>
                </c:pt>
                <c:pt idx="1">
                  <c:v>1065.2</c:v>
                </c:pt>
                <c:pt idx="2">
                  <c:v>1037</c:v>
                </c:pt>
                <c:pt idx="3">
                  <c:v>1008.8</c:v>
                </c:pt>
                <c:pt idx="4">
                  <c:v>980.6</c:v>
                </c:pt>
                <c:pt idx="5">
                  <c:v>952.5</c:v>
                </c:pt>
                <c:pt idx="6">
                  <c:v>924.3</c:v>
                </c:pt>
                <c:pt idx="7">
                  <c:v>896.1</c:v>
                </c:pt>
                <c:pt idx="8">
                  <c:v>867.9</c:v>
                </c:pt>
                <c:pt idx="9">
                  <c:v>839.7</c:v>
                </c:pt>
                <c:pt idx="10">
                  <c:v>811.6</c:v>
                </c:pt>
                <c:pt idx="11">
                  <c:v>783.4</c:v>
                </c:pt>
                <c:pt idx="12">
                  <c:v>755.2</c:v>
                </c:pt>
                <c:pt idx="13">
                  <c:v>727</c:v>
                </c:pt>
                <c:pt idx="14">
                  <c:v>698.8</c:v>
                </c:pt>
                <c:pt idx="15">
                  <c:v>670.6</c:v>
                </c:pt>
                <c:pt idx="16">
                  <c:v>642.5</c:v>
                </c:pt>
                <c:pt idx="17">
                  <c:v>614.3</c:v>
                </c:pt>
                <c:pt idx="18">
                  <c:v>586.1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dk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Ortalama Üretim (adet/gün)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  <c:pt idx="20">
                    <c:v>08.07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80</c:v>
                </c:pt>
                <c:pt idx="1">
                  <c:v>112.7</c:v>
                </c:pt>
                <c:pt idx="2">
                  <c:v>72.8</c:v>
                </c:pt>
                <c:pt idx="3">
                  <c:v>85.1</c:v>
                </c:pt>
                <c:pt idx="4">
                  <c:v>80.4</c:v>
                </c:pt>
                <c:pt idx="5">
                  <c:v>125.4</c:v>
                </c:pt>
                <c:pt idx="6">
                  <c:v>114.4</c:v>
                </c:pt>
                <c:pt idx="7">
                  <c:v>119.4</c:v>
                </c:pt>
                <c:pt idx="8">
                  <c:v>98.5</c:v>
                </c:pt>
                <c:pt idx="9">
                  <c:v>107.8</c:v>
                </c:pt>
                <c:pt idx="10">
                  <c:v>117.1</c:v>
                </c:pt>
                <c:pt idx="11">
                  <c:v>107</c:v>
                </c:pt>
                <c:pt idx="12">
                  <c:v>126.4</c:v>
                </c:pt>
                <c:pt idx="13">
                  <c:v>108.6</c:v>
                </c:pt>
                <c:pt idx="14">
                  <c:v>115.9</c:v>
                </c:pt>
                <c:pt idx="15">
                  <c:v>117.8</c:v>
                </c:pt>
                <c:pt idx="16">
                  <c:v>130.8</c:v>
                </c:pt>
                <c:pt idx="17">
                  <c:v>93</c:v>
                </c:pt>
                <c:pt idx="18">
                  <c:v>116.6</c:v>
                </c:pt>
                <c:pt idx="19">
                  <c:v>123.1</c:v>
                </c:pt>
                <c:pt idx="20">
                  <c:v>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  <c:pt idx="20">
                    <c:v>08.07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97.6</c:v>
                </c:pt>
                <c:pt idx="1">
                  <c:v>98.4</c:v>
                </c:pt>
                <c:pt idx="2">
                  <c:v>99.2</c:v>
                </c:pt>
                <c:pt idx="3">
                  <c:v>99.9</c:v>
                </c:pt>
                <c:pt idx="4">
                  <c:v>100.7</c:v>
                </c:pt>
                <c:pt idx="5">
                  <c:v>101.5</c:v>
                </c:pt>
                <c:pt idx="6">
                  <c:v>102.3</c:v>
                </c:pt>
                <c:pt idx="7">
                  <c:v>103.1</c:v>
                </c:pt>
                <c:pt idx="8">
                  <c:v>103.9</c:v>
                </c:pt>
                <c:pt idx="9">
                  <c:v>104.6</c:v>
                </c:pt>
                <c:pt idx="10">
                  <c:v>105.4</c:v>
                </c:pt>
                <c:pt idx="11">
                  <c:v>106.2</c:v>
                </c:pt>
                <c:pt idx="12">
                  <c:v>107</c:v>
                </c:pt>
                <c:pt idx="13">
                  <c:v>107.8</c:v>
                </c:pt>
                <c:pt idx="14">
                  <c:v>108.5</c:v>
                </c:pt>
                <c:pt idx="15">
                  <c:v>109.3</c:v>
                </c:pt>
                <c:pt idx="16">
                  <c:v>110.1</c:v>
                </c:pt>
                <c:pt idx="17">
                  <c:v>110.9</c:v>
                </c:pt>
                <c:pt idx="18">
                  <c:v>111.7</c:v>
                </c:pt>
                <c:pt idx="19">
                  <c:v>112.5</c:v>
                </c:pt>
                <c:pt idx="20">
                  <c:v>113.2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adet/gün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Kalite Durumu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803D"/>
              </a:solidFill>
              <a:effectLst/>
            </c:spPr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bubble3D val="0"/>
            <c:spPr>
              <a:solidFill>
                <a:srgbClr val="B91C1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Uygun</c:v>
                </c:pt>
                <c:pt idx="1">
                  <c:v>Rework</c:v>
                </c:pt>
                <c:pt idx="2">
                  <c:v>Ret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783</c:v>
                </c:pt>
                <c:pt idx="1">
                  <c:v>212</c:v>
                </c:pt>
                <c:pt idx="2">
                  <c:v>120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Uygunluk (Okey + Rework) Oranı %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17.06</c:v>
                  </c:pt>
                  <c:pt idx="1">
                    <c:v>21.06</c:v>
                  </c:pt>
                  <c:pt idx="2">
                    <c:v>25.06</c:v>
                  </c:pt>
                  <c:pt idx="3">
                    <c:v>26.06</c:v>
                  </c:pt>
                  <c:pt idx="4">
                    <c:v>27.06</c:v>
                  </c:pt>
                  <c:pt idx="5">
                    <c:v>28.06</c:v>
                  </c:pt>
                  <c:pt idx="6">
                    <c:v>29.06</c:v>
                  </c:pt>
                  <c:pt idx="7">
                    <c:v>30.06</c:v>
                  </c:pt>
                  <c:pt idx="8">
                    <c:v>01.07</c:v>
                  </c:pt>
                  <c:pt idx="9">
                    <c:v>02.07</c:v>
                  </c:pt>
                  <c:pt idx="10">
                    <c:v>04.07</c:v>
                  </c:pt>
                  <c:pt idx="11">
                    <c:v>05.07</c:v>
                  </c:pt>
                  <c:pt idx="12">
                    <c:v>06.07</c:v>
                  </c:pt>
                  <c:pt idx="13">
                    <c:v>07.07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71.4</c:v>
                </c:pt>
                <c:pt idx="1">
                  <c:v>81.8</c:v>
                </c:pt>
                <c:pt idx="2">
                  <c:v>91.2</c:v>
                </c:pt>
                <c:pt idx="3">
                  <c:v>92</c:v>
                </c:pt>
                <c:pt idx="4">
                  <c:v>76</c:v>
                </c:pt>
                <c:pt idx="5">
                  <c:v>50.5</c:v>
                </c:pt>
                <c:pt idx="6">
                  <c:v>93.5</c:v>
                </c:pt>
                <c:pt idx="7">
                  <c:v>93.3</c:v>
                </c:pt>
                <c:pt idx="8">
                  <c:v>87.7</c:v>
                </c:pt>
                <c:pt idx="9">
                  <c:v>94.7</c:v>
                </c:pt>
                <c:pt idx="10">
                  <c:v>95</c:v>
                </c:pt>
                <c:pt idx="11">
                  <c:v>95.3</c:v>
                </c:pt>
                <c:pt idx="12">
                  <c:v>97.1</c:v>
                </c:pt>
                <c:pt idx="13">
                  <c:v>98.1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17.06</c:v>
                  </c:pt>
                  <c:pt idx="1">
                    <c:v>21.06</c:v>
                  </c:pt>
                  <c:pt idx="2">
                    <c:v>25.06</c:v>
                  </c:pt>
                  <c:pt idx="3">
                    <c:v>26.06</c:v>
                  </c:pt>
                  <c:pt idx="4">
                    <c:v>27.06</c:v>
                  </c:pt>
                  <c:pt idx="5">
                    <c:v>28.06</c:v>
                  </c:pt>
                  <c:pt idx="6">
                    <c:v>29.06</c:v>
                  </c:pt>
                  <c:pt idx="7">
                    <c:v>30.06</c:v>
                  </c:pt>
                  <c:pt idx="8">
                    <c:v>01.07</c:v>
                  </c:pt>
                  <c:pt idx="9">
                    <c:v>02.07</c:v>
                  </c:pt>
                  <c:pt idx="10">
                    <c:v>04.07</c:v>
                  </c:pt>
                  <c:pt idx="11">
                    <c:v>05.07</c:v>
                  </c:pt>
                  <c:pt idx="12">
                    <c:v>06.07</c:v>
                  </c:pt>
                  <c:pt idx="13">
                    <c:v>07.07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75.9</c:v>
                </c:pt>
                <c:pt idx="1">
                  <c:v>77.6</c:v>
                </c:pt>
                <c:pt idx="2">
                  <c:v>79.3</c:v>
                </c:pt>
                <c:pt idx="3">
                  <c:v>81</c:v>
                </c:pt>
                <c:pt idx="4">
                  <c:v>82.7</c:v>
                </c:pt>
                <c:pt idx="5">
                  <c:v>84.4</c:v>
                </c:pt>
                <c:pt idx="6">
                  <c:v>86.1</c:v>
                </c:pt>
                <c:pt idx="7">
                  <c:v>87.8</c:v>
                </c:pt>
                <c:pt idx="8">
                  <c:v>89.5</c:v>
                </c:pt>
                <c:pt idx="9">
                  <c:v>91.2</c:v>
                </c:pt>
                <c:pt idx="10">
                  <c:v>93</c:v>
                </c:pt>
                <c:pt idx="11">
                  <c:v>94.7</c:v>
                </c:pt>
                <c:pt idx="12">
                  <c:v>96.4</c:v>
                </c:pt>
                <c:pt idx="13">
                  <c:v>98.1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8590A6"/>
                    </a:solidFill>
                    <a:latin typeface="Arial"/>
                  </a:rPr>
                  <a:t>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Duruş Süresi (dk)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Pres</c:v>
                  </c:pt>
                  <c:pt idx="1">
                    <c:v>N602</c:v>
                  </c:pt>
                  <c:pt idx="2">
                    <c:v>ROB110-111</c:v>
                  </c:pt>
                  <c:pt idx="3">
                    <c:v>Flowform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Quench</c:v>
                  </c:pt>
                  <c:pt idx="7">
                    <c:v>ROB109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2829</c:v>
                </c:pt>
                <c:pt idx="1">
                  <c:v>2337</c:v>
                </c:pt>
                <c:pt idx="2">
                  <c:v>2273</c:v>
                </c:pt>
                <c:pt idx="3">
                  <c:v>2094</c:v>
                </c:pt>
                <c:pt idx="4">
                  <c:v>2021</c:v>
                </c:pt>
                <c:pt idx="5">
                  <c:v>1826</c:v>
                </c:pt>
                <c:pt idx="6">
                  <c:v>1680</c:v>
                </c:pt>
                <c:pt idx="7">
                  <c:v>1494</c:v>
                </c:pt>
                <c:pt idx="8">
                  <c:v>672</c:v>
                </c:pt>
                <c:pt idx="9">
                  <c:v>544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Olay Sayısı</c:v>
                </c:pt>
              </c:strCache>
            </c:strRef>
          </c:tx>
          <c:spPr>
            <a:solidFill>
              <a:srgbClr val="B45309"/>
            </a:solidFill>
            <a:ln w="2540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Pres</c:v>
                  </c:pt>
                  <c:pt idx="1">
                    <c:v>N602</c:v>
                  </c:pt>
                  <c:pt idx="2">
                    <c:v>ROB110-111</c:v>
                  </c:pt>
                  <c:pt idx="3">
                    <c:v>Flowform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Quench</c:v>
                  </c:pt>
                  <c:pt idx="7">
                    <c:v>ROB109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86</c:v>
                </c:pt>
                <c:pt idx="1">
                  <c:v>96</c:v>
                </c:pt>
                <c:pt idx="2">
                  <c:v>81</c:v>
                </c:pt>
                <c:pt idx="3">
                  <c:v>80</c:v>
                </c:pt>
                <c:pt idx="4">
                  <c:v>84</c:v>
                </c:pt>
                <c:pt idx="5">
                  <c:v>73</c:v>
                </c:pt>
                <c:pt idx="6">
                  <c:v>6</c:v>
                </c:pt>
                <c:pt idx="7">
                  <c:v>123</c:v>
                </c:pt>
                <c:pt idx="8">
                  <c:v>42</c:v>
                </c:pt>
                <c:pt idx="9">
                  <c:v>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Duruş Süresi (dk)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Olay Sayısı (Adet)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Kayıp Süresi (dk)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bubble3D val="0"/>
            <c:spPr>
              <a:solidFill>
                <a:srgbClr val="15803D"/>
              </a:solidFill>
              <a:effectLst/>
            </c:spPr>
          </c:dPt>
          <c:dPt>
            <c:idx val="3"/>
            <c:bubble3D val="0"/>
            <c:spPr>
              <a:solidFill>
                <a:srgbClr val="475569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bubble3D val="0"/>
            <c:spPr>
              <a:solidFill>
                <a:srgbClr val="CBD5E1"/>
              </a:solidFill>
              <a:effectLst/>
            </c:spPr>
          </c:dPt>
          <c:dPt>
            <c:idx val="6"/>
            <c:bubble3D val="0"/>
            <c:spPr>
              <a:solidFill>
                <a:srgbClr val="E2E8F0"/>
              </a:solidFill>
              <a:effectLst/>
            </c:spPr>
          </c:dPt>
          <c:dPt>
            <c:idx val="7"/>
            <c:bubble3D val="0"/>
            <c:spPr>
              <a:solidFill>
                <a:srgbClr val="E2E8F0"/>
              </a:solidFill>
              <a:effectLst/>
            </c:spPr>
          </c:dPt>
          <c:dPt>
            <c:idx val="8"/>
            <c:bubble3D val="0"/>
            <c:spPr>
              <a:solidFill>
                <a:srgbClr val="CBD5E1"/>
              </a:solidFill>
              <a:effectLst/>
            </c:spPr>
          </c:dPt>
          <c:dPt>
            <c:idx val="9"/>
            <c:bubble3D val="0"/>
            <c:spPr>
              <a:solidFill>
                <a:srgbClr val="E2E8F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Mekanik Arıza</c:v>
                </c:pt>
                <c:pt idx="1">
                  <c:v>Takım / Kalıp Değişimi</c:v>
                </c:pt>
                <c:pt idx="2">
                  <c:v>Elektrik Arıza</c:v>
                </c:pt>
                <c:pt idx="3">
                  <c:v>Müşteri Kaynaklı</c:v>
                </c:pt>
                <c:pt idx="4">
                  <c:v>Akışkan Arıza</c:v>
                </c:pt>
                <c:pt idx="5">
                  <c:v>Setup / Ayar</c:v>
                </c:pt>
                <c:pt idx="6">
                  <c:v>Diğer</c:v>
                </c:pt>
                <c:pt idx="7">
                  <c:v>Yardımcı Süreç Kayıpları</c:v>
                </c:pt>
                <c:pt idx="8">
                  <c:v>Kalite Kaynaklı</c:v>
                </c:pt>
                <c:pt idx="9">
                  <c:v>Müşteri / Kalite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3754</c:v>
                </c:pt>
                <c:pt idx="1">
                  <c:v>3328</c:v>
                </c:pt>
                <c:pt idx="2">
                  <c:v>2440</c:v>
                </c:pt>
                <c:pt idx="3">
                  <c:v>2190</c:v>
                </c:pt>
                <c:pt idx="4">
                  <c:v>2091</c:v>
                </c:pt>
                <c:pt idx="5">
                  <c:v>1814</c:v>
                </c:pt>
                <c:pt idx="6">
                  <c:v>1127</c:v>
                </c:pt>
                <c:pt idx="7">
                  <c:v>663</c:v>
                </c:pt>
                <c:pt idx="8">
                  <c:v>343</c:v>
                </c:pt>
                <c:pt idx="9">
                  <c:v>20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45309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Açık</c:v>
                </c:pt>
                <c:pt idx="1">
                  <c:v>Tamamlandı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14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REPKON HF901 · SERİ ÜRETİM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 Raporu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Üretim Adetleri (Haziran–Temmuz)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110642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Üretim Adedi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10424160" y="3529584"/>
            <a:ext cx="109728" cy="10972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10607040" y="34747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Nisan–Mayıs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424160" y="3849624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1060704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424160" y="4169664"/>
            <a:ext cx="109728" cy="10972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1" name="Text 8"/>
          <p:cNvSpPr/>
          <p:nvPr/>
        </p:nvSpPr>
        <p:spPr>
          <a:xfrm>
            <a:off x="10607040" y="41148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(Günlük 200)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743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377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57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091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72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06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886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520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601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869680" y="5623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adet/gün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48640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537835" y="1828800"/>
            <a:ext cx="155333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91172" y="1828800"/>
            <a:ext cx="251002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73827" y="176479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Shape 23"/>
          <p:cNvSpPr/>
          <p:nvPr/>
        </p:nvSpPr>
        <p:spPr>
          <a:xfrm>
            <a:off x="7027164" y="176479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Shape 24"/>
          <p:cNvSpPr/>
          <p:nvPr/>
        </p:nvSpPr>
        <p:spPr>
          <a:xfrm>
            <a:off x="9537192" y="176479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8" name="Text 25"/>
          <p:cNvSpPr/>
          <p:nvPr/>
        </p:nvSpPr>
        <p:spPr>
          <a:xfrm>
            <a:off x="5080635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633972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126.8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857304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+56%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888986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+%58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48640" y="20665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05706" y="2176272"/>
            <a:ext cx="284264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348347" y="2176272"/>
            <a:ext cx="225285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41698" y="211226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6" name="Shape 33"/>
          <p:cNvSpPr/>
          <p:nvPr/>
        </p:nvSpPr>
        <p:spPr>
          <a:xfrm>
            <a:off x="7284339" y="211226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7" name="Shape 34"/>
          <p:cNvSpPr/>
          <p:nvPr/>
        </p:nvSpPr>
        <p:spPr>
          <a:xfrm>
            <a:off x="9537192" y="211226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38" name="Text 35"/>
          <p:cNvSpPr/>
          <p:nvPr/>
        </p:nvSpPr>
        <p:spPr>
          <a:xfrm>
            <a:off x="4048506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689114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134.3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546982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+161%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8017574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+%49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48640" y="24140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ROB108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265676" y="2523744"/>
            <a:ext cx="229743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563106" y="2523744"/>
            <a:ext cx="3038094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01668" y="245973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6" name="Shape 43"/>
          <p:cNvSpPr/>
          <p:nvPr/>
        </p:nvSpPr>
        <p:spPr>
          <a:xfrm>
            <a:off x="6499098" y="245973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7" name="Shape 44"/>
          <p:cNvSpPr/>
          <p:nvPr/>
        </p:nvSpPr>
        <p:spPr>
          <a:xfrm>
            <a:off x="9537192" y="245973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48" name="Text 45"/>
          <p:cNvSpPr/>
          <p:nvPr/>
        </p:nvSpPr>
        <p:spPr>
          <a:xfrm>
            <a:off x="380847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610590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111.4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957191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7624953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+%80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48640" y="2761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4310253" y="2871216"/>
            <a:ext cx="222542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535674" y="2871216"/>
            <a:ext cx="306552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246245" y="280720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1666" y="280720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7" name="Shape 54"/>
          <p:cNvSpPr/>
          <p:nvPr/>
        </p:nvSpPr>
        <p:spPr>
          <a:xfrm>
            <a:off x="9537192" y="280720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58" name="Text 55"/>
          <p:cNvSpPr/>
          <p:nvPr/>
        </p:nvSpPr>
        <p:spPr>
          <a:xfrm>
            <a:off x="385305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45.7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6078474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110.6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496576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7611237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+%81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5486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4248531" y="3218688"/>
            <a:ext cx="213283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381369" y="3218688"/>
            <a:ext cx="3219831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184523" y="3154680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6" name="Shape 63"/>
          <p:cNvSpPr/>
          <p:nvPr/>
        </p:nvSpPr>
        <p:spPr>
          <a:xfrm>
            <a:off x="6317361" y="315468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7" name="Shape 64"/>
          <p:cNvSpPr/>
          <p:nvPr/>
        </p:nvSpPr>
        <p:spPr>
          <a:xfrm>
            <a:off x="9537192" y="3154680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68" name="Text 65"/>
          <p:cNvSpPr/>
          <p:nvPr/>
        </p:nvSpPr>
        <p:spPr>
          <a:xfrm>
            <a:off x="3791331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43.9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5924169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106.1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4857750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7534084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+%89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54864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N602-603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4197096" y="3566160"/>
            <a:ext cx="184823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045327" y="3566160"/>
            <a:ext cx="355587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133088" y="350215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6" name="Shape 73"/>
          <p:cNvSpPr/>
          <p:nvPr/>
        </p:nvSpPr>
        <p:spPr>
          <a:xfrm>
            <a:off x="5981319" y="350215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7" name="Shape 74"/>
          <p:cNvSpPr/>
          <p:nvPr/>
        </p:nvSpPr>
        <p:spPr>
          <a:xfrm>
            <a:off x="9537192" y="350215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78" name="Text 75"/>
          <p:cNvSpPr/>
          <p:nvPr/>
        </p:nvSpPr>
        <p:spPr>
          <a:xfrm>
            <a:off x="3739896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</a:t>
            </a:r>
            <a:endParaRPr lang="en-US" sz="850" dirty="0"/>
          </a:p>
        </p:txBody>
      </p:sp>
      <p:sp>
        <p:nvSpPr>
          <p:cNvPr id="79" name="Text 76"/>
          <p:cNvSpPr/>
          <p:nvPr/>
        </p:nvSpPr>
        <p:spPr>
          <a:xfrm>
            <a:off x="5588127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96.3</a:t>
            </a:r>
            <a:endParaRPr lang="en-US" sz="850" dirty="0"/>
          </a:p>
        </p:txBody>
      </p:sp>
      <p:sp>
        <p:nvSpPr>
          <p:cNvPr id="80" name="Text 77"/>
          <p:cNvSpPr/>
          <p:nvPr/>
        </p:nvSpPr>
        <p:spPr>
          <a:xfrm>
            <a:off x="4664012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+127%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7366063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+%108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48640" y="38039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ROB109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4077081" y="3913632"/>
            <a:ext cx="2060829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137910" y="3913632"/>
            <a:ext cx="346329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4013073" y="384962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6" name="Shape 83"/>
          <p:cNvSpPr/>
          <p:nvPr/>
        </p:nvSpPr>
        <p:spPr>
          <a:xfrm>
            <a:off x="6073902" y="384962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7" name="Shape 84"/>
          <p:cNvSpPr/>
          <p:nvPr/>
        </p:nvSpPr>
        <p:spPr>
          <a:xfrm>
            <a:off x="9537192" y="384962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88" name="Text 85"/>
          <p:cNvSpPr/>
          <p:nvPr/>
        </p:nvSpPr>
        <p:spPr>
          <a:xfrm>
            <a:off x="3619881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38.9</a:t>
            </a:r>
            <a:endParaRPr lang="en-US" sz="850" dirty="0"/>
          </a:p>
        </p:txBody>
      </p:sp>
      <p:sp>
        <p:nvSpPr>
          <p:cNvPr id="89" name="Text 86"/>
          <p:cNvSpPr/>
          <p:nvPr/>
        </p:nvSpPr>
        <p:spPr>
          <a:xfrm>
            <a:off x="5680710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99.0</a:t>
            </a:r>
            <a:endParaRPr lang="en-US" sz="850" dirty="0"/>
          </a:p>
        </p:txBody>
      </p:sp>
      <p:sp>
        <p:nvSpPr>
          <p:cNvPr id="90" name="Text 87"/>
          <p:cNvSpPr/>
          <p:nvPr/>
        </p:nvSpPr>
        <p:spPr>
          <a:xfrm>
            <a:off x="4650296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+154%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7412355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+%102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548640" y="41513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</a:t>
            </a:r>
            <a:endParaRPr lang="en-US" sz="1200" dirty="0"/>
          </a:p>
        </p:txBody>
      </p:sp>
      <p:sp>
        <p:nvSpPr>
          <p:cNvPr id="93" name="Shape 90"/>
          <p:cNvSpPr/>
          <p:nvPr/>
        </p:nvSpPr>
        <p:spPr>
          <a:xfrm>
            <a:off x="4186809" y="4261104"/>
            <a:ext cx="1903095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089904" y="4261104"/>
            <a:ext cx="351129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4122801" y="419709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6" name="Shape 93"/>
          <p:cNvSpPr/>
          <p:nvPr/>
        </p:nvSpPr>
        <p:spPr>
          <a:xfrm>
            <a:off x="6025896" y="419709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7" name="Shape 94"/>
          <p:cNvSpPr/>
          <p:nvPr/>
        </p:nvSpPr>
        <p:spPr>
          <a:xfrm>
            <a:off x="9537192" y="419709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98" name="Text 95"/>
          <p:cNvSpPr/>
          <p:nvPr/>
        </p:nvSpPr>
        <p:spPr>
          <a:xfrm>
            <a:off x="3729609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42.1</a:t>
            </a:r>
            <a:endParaRPr lang="en-US" sz="850" dirty="0"/>
          </a:p>
        </p:txBody>
      </p:sp>
      <p:sp>
        <p:nvSpPr>
          <p:cNvPr id="99" name="Text 96"/>
          <p:cNvSpPr/>
          <p:nvPr/>
        </p:nvSpPr>
        <p:spPr>
          <a:xfrm>
            <a:off x="5632704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97.6</a:t>
            </a:r>
            <a:endParaRPr lang="en-US" sz="850" dirty="0"/>
          </a:p>
        </p:txBody>
      </p:sp>
      <p:sp>
        <p:nvSpPr>
          <p:cNvPr id="100" name="Text 97"/>
          <p:cNvSpPr/>
          <p:nvPr/>
        </p:nvSpPr>
        <p:spPr>
          <a:xfrm>
            <a:off x="4681157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+132%</a:t>
            </a:r>
            <a:endParaRPr lang="en-US" sz="900" dirty="0"/>
          </a:p>
        </p:txBody>
      </p:sp>
      <p:sp>
        <p:nvSpPr>
          <p:cNvPr id="101" name="Text 98"/>
          <p:cNvSpPr/>
          <p:nvPr/>
        </p:nvSpPr>
        <p:spPr>
          <a:xfrm>
            <a:off x="7388352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+%105</a:t>
            </a:r>
            <a:endParaRPr lang="en-US" sz="900" dirty="0"/>
          </a:p>
        </p:txBody>
      </p:sp>
      <p:sp>
        <p:nvSpPr>
          <p:cNvPr id="102" name="Text 99"/>
          <p:cNvSpPr/>
          <p:nvPr/>
        </p:nvSpPr>
        <p:spPr>
          <a:xfrm>
            <a:off x="54864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ROB110-111</a:t>
            </a:r>
            <a:endParaRPr lang="en-US" sz="1200" dirty="0"/>
          </a:p>
        </p:txBody>
      </p:sp>
      <p:sp>
        <p:nvSpPr>
          <p:cNvPr id="103" name="Shape 100"/>
          <p:cNvSpPr/>
          <p:nvPr/>
        </p:nvSpPr>
        <p:spPr>
          <a:xfrm>
            <a:off x="3994785" y="4608576"/>
            <a:ext cx="234200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6336792" y="4608576"/>
            <a:ext cx="326440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3930777" y="454456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6272784" y="454456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7" name="Shape 104"/>
          <p:cNvSpPr/>
          <p:nvPr/>
        </p:nvSpPr>
        <p:spPr>
          <a:xfrm>
            <a:off x="9537192" y="454456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08" name="Text 105"/>
          <p:cNvSpPr/>
          <p:nvPr/>
        </p:nvSpPr>
        <p:spPr>
          <a:xfrm>
            <a:off x="3537585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</a:t>
            </a:r>
            <a:endParaRPr lang="en-US" sz="850" dirty="0"/>
          </a:p>
        </p:txBody>
      </p:sp>
      <p:sp>
        <p:nvSpPr>
          <p:cNvPr id="109" name="Text 106"/>
          <p:cNvSpPr/>
          <p:nvPr/>
        </p:nvSpPr>
        <p:spPr>
          <a:xfrm>
            <a:off x="5879592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104.8</a:t>
            </a:r>
            <a:endParaRPr lang="en-US" sz="850" dirty="0"/>
          </a:p>
        </p:txBody>
      </p:sp>
      <p:sp>
        <p:nvSpPr>
          <p:cNvPr id="110" name="Text 107"/>
          <p:cNvSpPr/>
          <p:nvPr/>
        </p:nvSpPr>
        <p:spPr>
          <a:xfrm>
            <a:off x="4708589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+187%</a:t>
            </a:r>
            <a:endParaRPr lang="en-US" sz="900" dirty="0"/>
          </a:p>
        </p:txBody>
      </p:sp>
      <p:sp>
        <p:nvSpPr>
          <p:cNvPr id="111" name="Text 108"/>
          <p:cNvSpPr/>
          <p:nvPr/>
        </p:nvSpPr>
        <p:spPr>
          <a:xfrm>
            <a:off x="7511796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+%91</a:t>
            </a:r>
            <a:endParaRPr lang="en-US" sz="900" dirty="0"/>
          </a:p>
        </p:txBody>
      </p:sp>
      <p:sp>
        <p:nvSpPr>
          <p:cNvPr id="112" name="Text 10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13" name="Text 1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Azalışı ile Üretim Artışı İlişkisi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5720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TOPLAM KAYIP TRENDİ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Yüksek: 1600 dk  ·  Günlük Ort: 840 dk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30936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ÜRETİM TRENDİ</a:t>
            </a:r>
            <a:endParaRPr lang="en-US" sz="13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30936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630936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Ort: 130.8  ·  Dönem Ort: 105.4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Çevrim Süreleri (Cycle Time)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34640" y="1463040"/>
          <a:ext cx="6492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30175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Standart Çevrim Süresi (Cycle Time)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58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30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10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 — Ekipman Etkinliği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(Ekipman Etkinlik Oranı); kullanılabilirlik (Availability), performans (Performance) ve kalite (Quality) bileşenlerini birleştirerek hattın net verimliliğini ölçer.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1645920"/>
                <a:gridCol w="1645920"/>
                <a:gridCol w="164592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Potansiyel Ort. (OEE %100)*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 ORTALAMASI (Zincirleme)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394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Hücrenin Haziran–Temmuz dönemi gerçekleşen günlük ortalama üretim adedi ve hesaplanan OEE verimliliği baz alınarak, OEE %100 olsaydı ulaşabileceği teorik günlük ortalama üretimi gösterir.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MTBF ve MTTR — Arıza Bazlı Güvenilirlik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MTBF, ekipmanın iki arıza arasında ortalama ne kadar süre durmaksızın çalıştığını gösteren güvenilirlik metriğidir. MTTR ise meydana gelen bir arızanın giderilmesi için geçen ortalama tamir süresini ifade eder.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377440"/>
                <a:gridCol w="23774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MTBF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Arıza Kaydı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KALİTE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Ölçüm Sonrası Kalite Durumu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1.115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EDİLEN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463040"/>
                <a:gridCol w="91440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Tür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 Tanımı / Detayı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 Kaynağı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Dış Geçer Taraf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Angle at rear of rotating band relief groove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Borrelet Çapı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%3.77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İnce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%2.24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Dip İşlenmemiş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Dağılımı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Kırılması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Ogive İşlenmemiş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Spinning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İnce + Dağılımı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 Sebepler (5 başlık)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Çeşitli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 Analizi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KALİTE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Zamana Bağlı Uygunluk (Okey + Rework) Oranı Değişimi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(Pareto)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Grafik: Pareto duruş süresi (bar, sol eksen) ve Duruş sıklığı (turuncu çizgi, sağ eksen), ilk 3 neden vurgulu. İlk 3 neden toplam duruş süresinin %42'ini oluşturmaktadır. Veriler 13.06.2026 sonrası seçili hücrelerin kategorize edilmiş duruş verileridir.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Kalıp Montaj/Demontaj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Alarmı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Oransal Valf Kaynaklı Duruşlar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Tırnaklı Değişim/Salgı Kontrolleri/Offset Ayarlama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Lubrication Kaynaklı Sorunlar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Hatalı sensör değişimi/ braket eklenmesi ve dağıtıcı blok değişimi yapılmıştır. Sorunlar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Alarmı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 Makinesi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Parça yükleme ve kumlama yapamama sorunlar yapılan ayarlar sonrasında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 Kaynak Makinesi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Kaynak yapmama sorunu çözümü için kart siparişi verildi. Sahaya ulaşması akabinde değişim ve testler yapılacaktır.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Haberleşme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Ezilen kablo tespit edilerek yenisi ile değiştirilmiştir. Sorun kalıcı olarak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Shuttle Konveyör Motor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yenisi ile değiştirilmiş, hata tekrarlanmaması adına shuttle yavaşlama otomasyonu güncellenmiştir.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Türlerine Göre Dağılım — 13.06.2026 ve Sonrası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463040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91440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Kayıp Türü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Sayısı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(%)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/ Kalıp Değişimi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Müşteri Kaynaklı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Akışkan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/ Ayar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Yardımcı Süreç Kayıpları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 Kaynaklı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Müşteri / Kalite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Grafik: Kayıp kategorilerinin toplam duruş sürelerine göre yüzde dağılımı. Veriler 13.06.2026 sonrası seçili hücrelerin kategorize edilmiş duruş verileridir.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 Madde — Genel Durum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788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MADDE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Tamamlandı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029200" y="41605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 döneminde tamamlanan madde sayısı sıfırdı; 14 maddenin tamamı Haziran-Temmuz'da kapatıldı.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Müşteriden Talep Edilecekler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[Talep Konusu]  —  Gerekçe  —  Beklenen Katkı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 (bu oturumda netleşmedi): sunum hazırlığı sırasında ilgili paydaşlarla netleştirilecek.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 Üretim — Performans Raporu ve Aksiyon Talebi</dc:title>
  <dc:subject>PptxGenJS Presentation</dc:subject>
  <dc:creator>Repkon HF901</dc:creator>
  <cp:lastModifiedBy>Repkon HF901</cp:lastModifiedBy>
  <cp:revision>1</cp:revision>
  <dcterms:created xsi:type="dcterms:W3CDTF">2026-07-08T09:40:19Z</dcterms:created>
  <dcterms:modified xsi:type="dcterms:W3CDTF">2026-07-08T09:40:19Z</dcterms:modified>
</cp:coreProperties>
</file>