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6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OEE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ETM</c:v>
                  </c:pt>
                  <c:pt idx="1">
                    <c:v>N602-N603</c:v>
                  </c:pt>
                  <c:pt idx="2">
                    <c:v>Quench</c:v>
                  </c:pt>
                  <c:pt idx="3">
                    <c:v>Pres</c:v>
                  </c:pt>
                  <c:pt idx="4">
                    <c:v>ROB104</c:v>
                  </c:pt>
                  <c:pt idx="5">
                    <c:v>ROB108</c:v>
                  </c:pt>
                  <c:pt idx="6">
                    <c:v>Flowform</c:v>
                  </c:pt>
                  <c:pt idx="7">
                    <c:v>ROB109</c:v>
                  </c:pt>
                  <c:pt idx="8">
                    <c:v>ROB110-111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81.4</c:v>
                </c:pt>
                <c:pt idx="1">
                  <c:v>79.6</c:v>
                </c:pt>
                <c:pt idx="2">
                  <c:v>76.3</c:v>
                </c:pt>
                <c:pt idx="3">
                  <c:v>73.6</c:v>
                </c:pt>
                <c:pt idx="4">
                  <c:v>71.3</c:v>
                </c:pt>
                <c:pt idx="5">
                  <c:v>70</c:v>
                </c:pt>
                <c:pt idx="6">
                  <c:v>65.8</c:v>
                </c:pt>
                <c:pt idx="7">
                  <c:v>63</c:v>
                </c:pt>
                <c:pt idx="8">
                  <c:v>60.2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47556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590A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590A6"/>
                    </a:solidFill>
                    <a:latin typeface="Arial"/>
                  </a:rPr>
                  <a:t>OEE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59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Nisan–Mayıs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ETM</c:v>
                  </c:pt>
                  <c:pt idx="1">
                    <c:v>N602</c:v>
                  </c:pt>
                  <c:pt idx="2">
                    <c:v>ROB108</c:v>
                  </c:pt>
                  <c:pt idx="3">
                    <c:v>ROB109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373.5</c:v>
                </c:pt>
                <c:pt idx="1">
                  <c:v>95</c:v>
                </c:pt>
                <c:pt idx="2">
                  <c:v>84.9</c:v>
                </c:pt>
                <c:pt idx="3">
                  <c:v>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Haziran–Temmuz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ETM</c:v>
                  </c:pt>
                  <c:pt idx="1">
                    <c:v>N602</c:v>
                  </c:pt>
                  <c:pt idx="2">
                    <c:v>ROB108</c:v>
                  </c:pt>
                  <c:pt idx="3">
                    <c:v>ROB109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132.5</c:v>
                </c:pt>
                <c:pt idx="1">
                  <c:v>81.2</c:v>
                </c:pt>
                <c:pt idx="2">
                  <c:v>34.4</c:v>
                </c:pt>
                <c:pt idx="3">
                  <c:v>87.1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7556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590A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590A6"/>
                    </a:solidFill>
                    <a:latin typeface="Arial"/>
                  </a:rPr>
                  <a:t>dk / gün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59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Arıza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Pres</c:v>
                  </c:pt>
                  <c:pt idx="1">
                    <c:v>ETM</c:v>
                  </c:pt>
                  <c:pt idx="2">
                    <c:v>ROB108</c:v>
                  </c:pt>
                  <c:pt idx="3">
                    <c:v>Flowform</c:v>
                  </c:pt>
                  <c:pt idx="4">
                    <c:v>ROB104</c:v>
                  </c:pt>
                  <c:pt idx="5">
                    <c:v>N602-N603</c:v>
                  </c:pt>
                  <c:pt idx="6">
                    <c:v>ROB109</c:v>
                  </c:pt>
                  <c:pt idx="7">
                    <c:v>Quench</c:v>
                  </c:pt>
                  <c:pt idx="8">
                    <c:v>ROB110-111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1544</c:v>
                </c:pt>
                <c:pt idx="1">
                  <c:v>917</c:v>
                </c:pt>
                <c:pt idx="2">
                  <c:v>939</c:v>
                </c:pt>
                <c:pt idx="3">
                  <c:v>849</c:v>
                </c:pt>
                <c:pt idx="4">
                  <c:v>869</c:v>
                </c:pt>
                <c:pt idx="5">
                  <c:v>1481</c:v>
                </c:pt>
                <c:pt idx="6">
                  <c:v>707</c:v>
                </c:pt>
                <c:pt idx="7">
                  <c:v>1080</c:v>
                </c:pt>
                <c:pt idx="8">
                  <c:v>1224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Planlı Duruş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Pres</c:v>
                  </c:pt>
                  <c:pt idx="1">
                    <c:v>ETM</c:v>
                  </c:pt>
                  <c:pt idx="2">
                    <c:v>ROB108</c:v>
                  </c:pt>
                  <c:pt idx="3">
                    <c:v>Flowform</c:v>
                  </c:pt>
                  <c:pt idx="4">
                    <c:v>ROB104</c:v>
                  </c:pt>
                  <c:pt idx="5">
                    <c:v>N602-N603</c:v>
                  </c:pt>
                  <c:pt idx="6">
                    <c:v>ROB109</c:v>
                  </c:pt>
                  <c:pt idx="7">
                    <c:v>Quench</c:v>
                  </c:pt>
                  <c:pt idx="8">
                    <c:v>ROB110-111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750</c:v>
                </c:pt>
                <c:pt idx="1">
                  <c:v>89</c:v>
                </c:pt>
                <c:pt idx="2">
                  <c:v>729</c:v>
                </c:pt>
                <c:pt idx="3">
                  <c:v>633</c:v>
                </c:pt>
                <c:pt idx="4">
                  <c:v>1018</c:v>
                </c:pt>
                <c:pt idx="5">
                  <c:v>352</c:v>
                </c:pt>
                <c:pt idx="6">
                  <c:v>291</c:v>
                </c:pt>
                <c:pt idx="7">
                  <c:v>0</c:v>
                </c:pt>
                <c:pt idx="8">
                  <c:v>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Setup / Hazırlık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Pres</c:v>
                  </c:pt>
                  <c:pt idx="1">
                    <c:v>ETM</c:v>
                  </c:pt>
                  <c:pt idx="2">
                    <c:v>ROB108</c:v>
                  </c:pt>
                  <c:pt idx="3">
                    <c:v>Flowform</c:v>
                  </c:pt>
                  <c:pt idx="4">
                    <c:v>ROB104</c:v>
                  </c:pt>
                  <c:pt idx="5">
                    <c:v>N602-N603</c:v>
                  </c:pt>
                  <c:pt idx="6">
                    <c:v>ROB109</c:v>
                  </c:pt>
                  <c:pt idx="7">
                    <c:v>Quench</c:v>
                  </c:pt>
                  <c:pt idx="8">
                    <c:v>ROB110-111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454</c:v>
                </c:pt>
                <c:pt idx="1">
                  <c:v>136</c:v>
                </c:pt>
                <c:pt idx="2">
                  <c:v>442</c:v>
                </c:pt>
                <c:pt idx="3">
                  <c:v>973</c:v>
                </c:pt>
                <c:pt idx="4">
                  <c:v>235</c:v>
                </c:pt>
                <c:pt idx="5">
                  <c:v>6</c:v>
                </c:pt>
                <c:pt idx="6">
                  <c:v>15</c:v>
                </c:pt>
                <c:pt idx="7">
                  <c:v>0</c:v>
                </c:pt>
                <c:pt idx="8">
                  <c:v>50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Takım / Kalıp</c:v>
                </c:pt>
              </c:strCache>
            </c:strRef>
          </c:tx>
          <c:spPr>
            <a:solidFill>
              <a:srgbClr val="8590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Pres</c:v>
                  </c:pt>
                  <c:pt idx="1">
                    <c:v>ETM</c:v>
                  </c:pt>
                  <c:pt idx="2">
                    <c:v>ROB108</c:v>
                  </c:pt>
                  <c:pt idx="3">
                    <c:v>Flowform</c:v>
                  </c:pt>
                  <c:pt idx="4">
                    <c:v>ROB104</c:v>
                  </c:pt>
                  <c:pt idx="5">
                    <c:v>N602-N603</c:v>
                  </c:pt>
                  <c:pt idx="6">
                    <c:v>ROB109</c:v>
                  </c:pt>
                  <c:pt idx="7">
                    <c:v>Quench</c:v>
                  </c:pt>
                  <c:pt idx="8">
                    <c:v>ROB110-111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858</c:v>
                </c:pt>
                <c:pt idx="1">
                  <c:v>56</c:v>
                </c:pt>
                <c:pt idx="2">
                  <c:v>495</c:v>
                </c:pt>
                <c:pt idx="3">
                  <c:v>256</c:v>
                </c:pt>
                <c:pt idx="4">
                  <c:v>336</c:v>
                </c:pt>
                <c:pt idx="5">
                  <c:v>0</c:v>
                </c:pt>
                <c:pt idx="6">
                  <c:v>631</c:v>
                </c:pt>
                <c:pt idx="7">
                  <c:v>0</c:v>
                </c:pt>
                <c:pt idx="8">
                  <c:v>73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Önc. İst. Bekleme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Pres</c:v>
                  </c:pt>
                  <c:pt idx="1">
                    <c:v>ETM</c:v>
                  </c:pt>
                  <c:pt idx="2">
                    <c:v>ROB108</c:v>
                  </c:pt>
                  <c:pt idx="3">
                    <c:v>Flowform</c:v>
                  </c:pt>
                  <c:pt idx="4">
                    <c:v>ROB104</c:v>
                  </c:pt>
                  <c:pt idx="5">
                    <c:v>N602-N603</c:v>
                  </c:pt>
                  <c:pt idx="6">
                    <c:v>ROB109</c:v>
                  </c:pt>
                  <c:pt idx="7">
                    <c:v>Quench</c:v>
                  </c:pt>
                  <c:pt idx="8">
                    <c:v>ROB110-111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2012</c:v>
                </c:pt>
                <c:pt idx="2">
                  <c:v>551</c:v>
                </c:pt>
                <c:pt idx="3">
                  <c:v>1658</c:v>
                </c:pt>
                <c:pt idx="4">
                  <c:v>1112</c:v>
                </c:pt>
                <c:pt idx="5">
                  <c:v>1137</c:v>
                </c:pt>
                <c:pt idx="6">
                  <c:v>1182</c:v>
                </c:pt>
                <c:pt idx="7">
                  <c:v>0</c:v>
                </c:pt>
                <c:pt idx="8">
                  <c:v>160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Mola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Pres</c:v>
                  </c:pt>
                  <c:pt idx="1">
                    <c:v>ETM</c:v>
                  </c:pt>
                  <c:pt idx="2">
                    <c:v>ROB108</c:v>
                  </c:pt>
                  <c:pt idx="3">
                    <c:v>Flowform</c:v>
                  </c:pt>
                  <c:pt idx="4">
                    <c:v>ROB104</c:v>
                  </c:pt>
                  <c:pt idx="5">
                    <c:v>N602-N603</c:v>
                  </c:pt>
                  <c:pt idx="6">
                    <c:v>ROB109</c:v>
                  </c:pt>
                  <c:pt idx="7">
                    <c:v>Quench</c:v>
                  </c:pt>
                  <c:pt idx="8">
                    <c:v>ROB110-111</c:v>
                  </c:pt>
                </c:lvl>
              </c:multiLvlStrCache>
            </c:multiLvl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585</c:v>
                </c:pt>
                <c:pt idx="2">
                  <c:v>1107</c:v>
                </c:pt>
                <c:pt idx="3">
                  <c:v>640</c:v>
                </c:pt>
                <c:pt idx="4">
                  <c:v>965</c:v>
                </c:pt>
                <c:pt idx="5">
                  <c:v>764</c:v>
                </c:pt>
                <c:pt idx="6">
                  <c:v>925</c:v>
                </c:pt>
                <c:pt idx="7">
                  <c:v>0</c:v>
                </c:pt>
                <c:pt idx="8">
                  <c:v>302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Müşteri / Kalite</c:v>
                </c:pt>
              </c:strCache>
            </c:strRef>
          </c:tx>
          <c:spPr>
            <a:solidFill>
              <a:srgbClr val="6B7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Pres</c:v>
                  </c:pt>
                  <c:pt idx="1">
                    <c:v>ETM</c:v>
                  </c:pt>
                  <c:pt idx="2">
                    <c:v>ROB108</c:v>
                  </c:pt>
                  <c:pt idx="3">
                    <c:v>Flowform</c:v>
                  </c:pt>
                  <c:pt idx="4">
                    <c:v>ROB104</c:v>
                  </c:pt>
                  <c:pt idx="5">
                    <c:v>N602-N603</c:v>
                  </c:pt>
                  <c:pt idx="6">
                    <c:v>ROB109</c:v>
                  </c:pt>
                  <c:pt idx="7">
                    <c:v>Quench</c:v>
                  </c:pt>
                  <c:pt idx="8">
                    <c:v>ROB110-111</c:v>
                  </c:pt>
                </c:lvl>
              </c:multiLvlStrCache>
            </c:multiLvl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30</c:v>
                </c:pt>
                <c:pt idx="1">
                  <c:v>70</c:v>
                </c:pt>
                <c:pt idx="2">
                  <c:v>60</c:v>
                </c:pt>
                <c:pt idx="3">
                  <c:v>220</c:v>
                </c:pt>
                <c:pt idx="4">
                  <c:v>0</c:v>
                </c:pt>
                <c:pt idx="5">
                  <c:v>55</c:v>
                </c:pt>
                <c:pt idx="6">
                  <c:v>134</c:v>
                </c:pt>
                <c:pt idx="7">
                  <c:v>480</c:v>
                </c:pt>
                <c:pt idx="8">
                  <c:v>326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590A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590A6"/>
                    </a:solidFill>
                    <a:latin typeface="Arial"/>
                  </a:rPr>
                  <a:t>dk (Haziran-Temmuz toplamı)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59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Arıza Süresi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Mekanik</c:v>
                  </c:pt>
                  <c:pt idx="1">
                    <c:v>Belirsiz</c:v>
                  </c:pt>
                  <c:pt idx="2">
                    <c:v>Elektrik</c:v>
                  </c:pt>
                  <c:pt idx="3">
                    <c:v>Akışkan</c:v>
                  </c:pt>
                  <c:pt idx="4">
                    <c:v>Pres (Lokasyon)</c:v>
                  </c:pt>
                  <c:pt idx="5">
                    <c:v>Robot</c:v>
                  </c:pt>
                  <c:pt idx="6">
                    <c:v>Bor Yağı Bitti</c:v>
                  </c:pt>
                  <c:pt idx="7">
                    <c:v>Ortak</c:v>
                  </c:pt>
                  <c:pt idx="8">
                    <c:v>Diğer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2119</c:v>
                </c:pt>
                <c:pt idx="1">
                  <c:v>1836</c:v>
                </c:pt>
                <c:pt idx="2">
                  <c:v>1367</c:v>
                </c:pt>
                <c:pt idx="3">
                  <c:v>1061</c:v>
                </c:pt>
                <c:pt idx="4">
                  <c:v>894</c:v>
                </c:pt>
                <c:pt idx="5">
                  <c:v>462</c:v>
                </c:pt>
                <c:pt idx="6">
                  <c:v>325</c:v>
                </c:pt>
                <c:pt idx="7">
                  <c:v>278</c:v>
                </c:pt>
                <c:pt idx="8">
                  <c:v>1268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7556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8590A6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8590A6"/>
                    </a:solidFill>
                    <a:latin typeface="Arial"/>
                  </a:rPr>
                  <a:t>dk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59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Durum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590A6"/>
              </a:solidFill>
              <a:effectLst/>
            </c:spPr>
          </c:dPt>
          <c:dPt>
            <c:idx val="1"/>
            <c:bubble3D val="0"/>
            <c:spPr>
              <a:solidFill>
                <a:srgbClr val="1580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İşaretlenmemiş</c:v>
                </c:pt>
                <c:pt idx="1">
                  <c:v>Giderildi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295</c:v>
                </c:pt>
                <c:pt idx="1">
                  <c:v>23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Durum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45309"/>
              </a:solidFill>
              <a:effectLst/>
            </c:spPr>
          </c:dPt>
          <c:dPt>
            <c:idx val="1"/>
            <c:bubble3D val="0"/>
            <c:spPr>
              <a:solidFill>
                <a:srgbClr val="1580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Açık</c:v>
                </c:pt>
                <c:pt idx="1">
                  <c:v>Tamamlandı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14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572000" cy="45720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CADCFC">
              <a:alpha val="9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115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REPKON HF901 · SERİ ÜRETİM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5146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Performans Raporu ve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Aksiyon / Yatırım Talebi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Nisan – Temmuz 2026 Değerlendirmesi  ·  12 Üretim Hücresi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 Yönetim Sunumu · Temmuz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Sunumun Amacı ve Kapsamı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874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Aylık Performans Özeti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Nisan – Temmuz döneminde 12 üretim hücresinin üretim adedi, duruş süreleri ve darboğaz göstergeleri veriye dayalı olarak özetlenir.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874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Somut Aksiyon / Yatırım Talebi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92240" y="23774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durum raporu değil; açık aksiyon maddeleri, yatırım ihtiyaçları ve müşteriden talep edilecek konular için karar talebi içerir.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KURGUSU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420624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EEF2FC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2062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Nisan – Mayıs: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özet. 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 – Temmuz: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atılan aksiyonların sonuçları detaylı işlenir. Sunumun ağırlığı Haziran sonrası ilerlemededir — veri bu kurguyu destekliyor.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5257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5778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5577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1444752" y="55778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1444752" y="5577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ETM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2340864" y="55778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2340864" y="5577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ROB108</a:t>
            </a:r>
            <a:endParaRPr lang="en-US" sz="870" dirty="0"/>
          </a:p>
        </p:txBody>
      </p:sp>
      <p:sp>
        <p:nvSpPr>
          <p:cNvPr id="22" name="Shape 19"/>
          <p:cNvSpPr/>
          <p:nvPr/>
        </p:nvSpPr>
        <p:spPr>
          <a:xfrm>
            <a:off x="3236976" y="55778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3236976" y="5577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Flowform</a:t>
            </a:r>
            <a:endParaRPr lang="en-US" sz="870" dirty="0"/>
          </a:p>
        </p:txBody>
      </p:sp>
      <p:sp>
        <p:nvSpPr>
          <p:cNvPr id="24" name="Shape 21"/>
          <p:cNvSpPr/>
          <p:nvPr/>
        </p:nvSpPr>
        <p:spPr>
          <a:xfrm>
            <a:off x="4133088" y="55778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5" name="Text 22"/>
          <p:cNvSpPr/>
          <p:nvPr/>
        </p:nvSpPr>
        <p:spPr>
          <a:xfrm>
            <a:off x="4133088" y="5577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ROB104</a:t>
            </a:r>
            <a:endParaRPr lang="en-US" sz="870" dirty="0"/>
          </a:p>
        </p:txBody>
      </p:sp>
      <p:sp>
        <p:nvSpPr>
          <p:cNvPr id="26" name="Shape 23"/>
          <p:cNvSpPr/>
          <p:nvPr/>
        </p:nvSpPr>
        <p:spPr>
          <a:xfrm>
            <a:off x="5029200" y="55778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0" y="5577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N602</a:t>
            </a:r>
            <a:endParaRPr lang="en-US" sz="870" dirty="0"/>
          </a:p>
        </p:txBody>
      </p:sp>
      <p:sp>
        <p:nvSpPr>
          <p:cNvPr id="28" name="Shape 25"/>
          <p:cNvSpPr/>
          <p:nvPr/>
        </p:nvSpPr>
        <p:spPr>
          <a:xfrm>
            <a:off x="5925312" y="55778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9" name="Text 26"/>
          <p:cNvSpPr/>
          <p:nvPr/>
        </p:nvSpPr>
        <p:spPr>
          <a:xfrm>
            <a:off x="5925312" y="5577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N603</a:t>
            </a:r>
            <a:endParaRPr lang="en-US" sz="870" dirty="0"/>
          </a:p>
        </p:txBody>
      </p:sp>
      <p:sp>
        <p:nvSpPr>
          <p:cNvPr id="30" name="Shape 27"/>
          <p:cNvSpPr/>
          <p:nvPr/>
        </p:nvSpPr>
        <p:spPr>
          <a:xfrm>
            <a:off x="6821424" y="55778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1" name="Text 28"/>
          <p:cNvSpPr/>
          <p:nvPr/>
        </p:nvSpPr>
        <p:spPr>
          <a:xfrm>
            <a:off x="6821424" y="5577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ROB109</a:t>
            </a:r>
            <a:endParaRPr lang="en-US" sz="870" dirty="0"/>
          </a:p>
        </p:txBody>
      </p:sp>
      <p:sp>
        <p:nvSpPr>
          <p:cNvPr id="32" name="Shape 29"/>
          <p:cNvSpPr/>
          <p:nvPr/>
        </p:nvSpPr>
        <p:spPr>
          <a:xfrm>
            <a:off x="7717536" y="55778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3" name="Text 30"/>
          <p:cNvSpPr/>
          <p:nvPr/>
        </p:nvSpPr>
        <p:spPr>
          <a:xfrm>
            <a:off x="7717536" y="5577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Quench</a:t>
            </a:r>
            <a:endParaRPr lang="en-US" sz="870" dirty="0"/>
          </a:p>
        </p:txBody>
      </p:sp>
      <p:sp>
        <p:nvSpPr>
          <p:cNvPr id="34" name="Shape 31"/>
          <p:cNvSpPr/>
          <p:nvPr/>
        </p:nvSpPr>
        <p:spPr>
          <a:xfrm>
            <a:off x="8613648" y="55778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5" name="Text 32"/>
          <p:cNvSpPr/>
          <p:nvPr/>
        </p:nvSpPr>
        <p:spPr>
          <a:xfrm>
            <a:off x="8613648" y="5577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ROB110-111</a:t>
            </a:r>
            <a:endParaRPr lang="en-US" sz="870" dirty="0"/>
          </a:p>
        </p:txBody>
      </p:sp>
      <p:sp>
        <p:nvSpPr>
          <p:cNvPr id="36" name="Shape 33"/>
          <p:cNvSpPr/>
          <p:nvPr/>
        </p:nvSpPr>
        <p:spPr>
          <a:xfrm>
            <a:off x="9509760" y="55778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7" name="Text 34"/>
          <p:cNvSpPr/>
          <p:nvPr/>
        </p:nvSpPr>
        <p:spPr>
          <a:xfrm>
            <a:off x="9509760" y="5577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Fosfat</a:t>
            </a:r>
            <a:endParaRPr lang="en-US" sz="870" dirty="0"/>
          </a:p>
        </p:txBody>
      </p:sp>
      <p:sp>
        <p:nvSpPr>
          <p:cNvPr id="38" name="Shape 35"/>
          <p:cNvSpPr/>
          <p:nvPr/>
        </p:nvSpPr>
        <p:spPr>
          <a:xfrm>
            <a:off x="10405872" y="55778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9" name="Text 36"/>
          <p:cNvSpPr/>
          <p:nvPr/>
        </p:nvSpPr>
        <p:spPr>
          <a:xfrm>
            <a:off x="10405872" y="557784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Boya</a:t>
            </a:r>
            <a:endParaRPr lang="en-US" sz="870" dirty="0"/>
          </a:p>
        </p:txBody>
      </p:sp>
      <p:sp>
        <p:nvSpPr>
          <p:cNvPr id="40" name="Text 3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Bakış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Hücre — Günlük Ortalama Üretim Adedi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 günlük ortalama bazındadır (dönemlerdeki kayıtlı gün sayısı farklı olduğundan toplamlar yerine ortalama kullanılmıştır).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07899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651760"/>
                <a:gridCol w="2651760"/>
                <a:gridCol w="1737360"/>
              </a:tblGrid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Hücre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Nisan–Mayıs (adet/gün)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Haziran–Temmuz (adet/gün)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N602-N603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ROB109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Quench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Fosfat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Boya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Bakış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Hücre — Önceki İstasyon Bekleme Süresi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675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554480"/>
                <a:gridCol w="1188720"/>
              </a:tblGrid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Hücre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Nisan–Mayıs (dk/gün)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Haziran–Temmuz (dk/gün)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ilk istasyon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N602-N603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ROB109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Quench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Fosfat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Boya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41732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7726680" y="1508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+195%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7726680" y="21305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 başına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ortalama üretim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498080" y="292608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1" name="Text 7"/>
          <p:cNvSpPr/>
          <p:nvPr/>
        </p:nvSpPr>
        <p:spPr>
          <a:xfrm>
            <a:off x="7726680" y="30175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-46%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726680" y="36393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önceki istasyon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bekleme süresi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498080" y="44348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7726680" y="45262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74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7726680" y="51480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Haziran-Temmuz'da kapanan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aksiyon maddesi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4864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ROB109 hücresinde bekleme günlük ortalamada arttı (63,0 → 87,1 dk) — Quench / N602-N603 çıktı dalgalanmasına bağlı yeni darboğaz riski, izleniyor.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Bakış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OEE, MTBF &amp; MTTR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OEE — Ekipman Etkinliği (Haziran–Temmuz)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= Availability × Performance. Kalite bileşeni dahil edilmedi — 12 üretim hücresinin hiçbirinde satır bazlı ret/fire verisi tutulmuyor (sadece FF Preform ve Final Ölçüm istasyonlarında var, bu 12 hücreden bağımsız ölçüm noktaları). Nisan-Mayıs karşılaştırması yok çünkü Hedef Üretim Adeti hücre bazında Haziran ortasına kadar kademeli devreye alındı.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6751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463040"/>
                <a:gridCol w="146304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Hücre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N602-N603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Fosfat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498080" y="205740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9" name="Text 5"/>
          <p:cNvSpPr/>
          <p:nvPr/>
        </p:nvSpPr>
        <p:spPr>
          <a:xfrm>
            <a:off x="7726680" y="2148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71.2%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26680" y="26791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ortalaması OEE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(Haz-Tem, 9 hücre)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498080" y="342900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7726680" y="3520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81.4%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7726680" y="40507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OEE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ETM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498080" y="480060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7726680" y="4892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60.2%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7726680" y="54223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düşük OEE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ROB110-111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4864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Quench, Fosfat ve Boya'da Haziran-Temmuz'da hedefli üretim verisi yetersiz olduğundan Performance/OEE hesaplanamadı (Fosfat/Boya'da Availability da veri yok — bu dönemde kayıt girilmemiş).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OEE, MTBF &amp; MTTR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OEE, MTBF &amp; MTTR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MTBF ve MTTR — Arıza Bazlı Güvenilirlik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 = (Planlı Süre − Arıza Dakikası) / Arıza Kaydı Sayısı  ·  MTTR = Arıza Dakikası / Arıza Kaydı Sayısı. Sadece "Arıza" (breakdown) kolonuna dayanır; planlı duruş, setup, mola vb. diğer duruş türleri dahil değildir.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1874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 (dk) — Arızalar Arası Çalışma Süresi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53492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188720"/>
                <a:gridCol w="118872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Hücre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N-M (dk)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H-T (dk)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274.7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N602-N603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Fosfat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172200" y="18745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(dk) — Arıza Başına Giderilme Süresi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194560"/>
          <a:ext cx="53492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188720"/>
                <a:gridCol w="118872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Hücre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N-M (dk)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H-T (dk)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N602-N603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Fosfat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59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5623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Örnek sayısı azdır (&lt;5 arıza kaydı) — ROB104 (Nisan-Mayıs: 3 kayıt), Fosfat (Nisan-Mayıs: 2 kayıt) ve Quench (Haziran-Temmuz: 4 kayıt) için MTBF/MTTR yorumlanırken dikkatli olunmalı. Boya'da ve Fosfat'ın Haziran-Temmuz döneminde hiç arıza kaydı yok.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OEE, MTBF &amp; MTTR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OEE, MTBF &amp; MTTR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Güvenilirlik Özeti — Hücre Kıyaslaması (Haz-Tem)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6304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269480" y="146304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58952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589520" y="2011680"/>
            <a:ext cx="33832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ROB110-111: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düşük MTBF (106,9 dk) — sık arıza pattern'i sürüyor (bkz. Duruş Analizi, arıza yoğunluğu +204%).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N602-N603: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arıza kaydı (61 olay) ama MTTR düşük (24,8 dk) — hızlı müdahale ediliyor.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ETM: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MTTR (38,2 dk, Quench'in az örnekli 270 dk'sı hariç) — giderilme süresi kök neden incelemesi için fırsat.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ROB109 ve ROB104: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Hattın en düşük OEE'si (%22,9 / %23,8) — hem availability hem performance tarafında iyileştirme alanı var.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OEE, MTBF &amp; MTTR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DARBOĞAZ VE KÖK NEDEN ANALİZİ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Hücreler Arası Akış Sırası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627632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6002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272284" y="1828800"/>
            <a:ext cx="256032" cy="2560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414016" y="1600200"/>
            <a:ext cx="1627632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2414016" y="16002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ETM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46220" y="1828800"/>
            <a:ext cx="256032" cy="25603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187952" y="1600200"/>
            <a:ext cx="1627632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13" name="Text 8"/>
          <p:cNvSpPr/>
          <p:nvPr/>
        </p:nvSpPr>
        <p:spPr>
          <a:xfrm>
            <a:off x="4187952" y="16002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ROB108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820156" y="1828800"/>
            <a:ext cx="256032" cy="25603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961888" y="1600200"/>
            <a:ext cx="1627632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16" name="Text 10"/>
          <p:cNvSpPr/>
          <p:nvPr/>
        </p:nvSpPr>
        <p:spPr>
          <a:xfrm>
            <a:off x="5961888" y="16002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Flowform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594092" y="1828800"/>
            <a:ext cx="256032" cy="256032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7735824" y="1600200"/>
            <a:ext cx="1627632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19" name="Text 12"/>
          <p:cNvSpPr/>
          <p:nvPr/>
        </p:nvSpPr>
        <p:spPr>
          <a:xfrm>
            <a:off x="7735824" y="16002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ROB104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9368028" y="1828800"/>
            <a:ext cx="256032" cy="256032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509760" y="1600200"/>
            <a:ext cx="1627632" cy="731520"/>
          </a:xfrm>
          <a:prstGeom prst="roundRect">
            <a:avLst>
              <a:gd name="adj" fmla="val 8750"/>
            </a:avLst>
          </a:prstGeom>
          <a:solidFill>
            <a:srgbClr val="8590A6"/>
          </a:solidFill>
          <a:ln/>
        </p:spPr>
      </p:sp>
      <p:sp>
        <p:nvSpPr>
          <p:cNvPr id="22" name="Text 14"/>
          <p:cNvSpPr/>
          <p:nvPr/>
        </p:nvSpPr>
        <p:spPr>
          <a:xfrm>
            <a:off x="9509760" y="160020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N602 / N603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640080" y="2386584"/>
            <a:ext cx="10497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N602 ve N603 paralel çalışır; ikisi de ROB104'ten beslenir, ikisi de ROB109'a gönderir.</a:t>
            </a:r>
            <a:endParaRPr lang="en-US" sz="9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9544" y="2834640"/>
            <a:ext cx="292608" cy="292608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40080" y="3355848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26" name="Text 17"/>
          <p:cNvSpPr/>
          <p:nvPr/>
        </p:nvSpPr>
        <p:spPr>
          <a:xfrm>
            <a:off x="640080" y="33558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ROB109</a:t>
            </a:r>
            <a:endParaRPr lang="en-US" sz="12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2386584" y="3584448"/>
            <a:ext cx="256032" cy="256032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2715768" y="3355848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29" name="Text 19"/>
          <p:cNvSpPr/>
          <p:nvPr/>
        </p:nvSpPr>
        <p:spPr>
          <a:xfrm>
            <a:off x="2715768" y="33558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Quench</a:t>
            </a:r>
            <a:endParaRPr lang="en-US" sz="12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4462272" y="3584448"/>
            <a:ext cx="256032" cy="256032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4791456" y="3355848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32" name="Text 21"/>
          <p:cNvSpPr/>
          <p:nvPr/>
        </p:nvSpPr>
        <p:spPr>
          <a:xfrm>
            <a:off x="4791456" y="33558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ROB110-111</a:t>
            </a:r>
            <a:endParaRPr lang="en-US" sz="12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6537960" y="3584448"/>
            <a:ext cx="256032" cy="256032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6867144" y="3355848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35" name="Text 23"/>
          <p:cNvSpPr/>
          <p:nvPr/>
        </p:nvSpPr>
        <p:spPr>
          <a:xfrm>
            <a:off x="6867144" y="33558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Fosfat</a:t>
            </a:r>
            <a:endParaRPr lang="en-US" sz="12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8613648" y="3584448"/>
            <a:ext cx="256032" cy="256032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8942832" y="3355848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8590A6"/>
          </a:solidFill>
          <a:ln/>
        </p:spPr>
      </p:sp>
      <p:sp>
        <p:nvSpPr>
          <p:cNvPr id="38" name="Text 25"/>
          <p:cNvSpPr/>
          <p:nvPr/>
        </p:nvSpPr>
        <p:spPr>
          <a:xfrm>
            <a:off x="8942832" y="33558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Boya</a:t>
            </a:r>
            <a:endParaRPr lang="en-US" sz="1200" dirty="0"/>
          </a:p>
        </p:txBody>
      </p:sp>
      <p:sp>
        <p:nvSpPr>
          <p:cNvPr id="39" name="Shape 26"/>
          <p:cNvSpPr/>
          <p:nvPr/>
        </p:nvSpPr>
        <p:spPr>
          <a:xfrm>
            <a:off x="640080" y="4498848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EEF2FC"/>
          </a:solidFill>
          <a:ln/>
        </p:spPr>
      </p:sp>
      <p:sp>
        <p:nvSpPr>
          <p:cNvPr id="40" name="Text 27"/>
          <p:cNvSpPr/>
          <p:nvPr/>
        </p:nvSpPr>
        <p:spPr>
          <a:xfrm>
            <a:off x="914400" y="44988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ETM ve ROB108,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Pres'in hemen ardından gelen istasyonlar olarak en yüksek upstream bekleme baskısını taşıyordu. Bu analizde odak buradadır.</a:t>
            </a:r>
            <a:endParaRPr lang="en-US" sz="1250" dirty="0"/>
          </a:p>
        </p:txBody>
      </p:sp>
      <p:sp>
        <p:nvSpPr>
          <p:cNvPr id="41" name="Text 2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Darboğaz ve Kök Neden Analizi</a:t>
            </a:r>
            <a:endParaRPr lang="en-US" sz="900" dirty="0"/>
          </a:p>
        </p:txBody>
      </p:sp>
      <p:sp>
        <p:nvSpPr>
          <p:cNvPr id="42" name="Text 2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DARBOĞAZ VE KÖK NEDEN ANALİZİ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Önceki İstasyon Bekleme Trendi (dk/gün)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ETM ve ROB108'de bekleme belirgin şekilde düştü; N602 ılımlı iyileşti. ROB109 istisna oluşturuyor ve ayrıca izleniyor (bkz. Genel Bakış notu).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Darboğaz ve Kök Neden Analizi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DARBOĞAZ VE KÖK NEDEN ANALİZİ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Kök Neden Özeti ve Alınan Aksiyonlar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7830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Kök Nedenler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4028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Hücreler arası hız/hazırlık dengesizliği (Pres sonrası istasyonlarda birikme)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Tekrarlayan ekipman arızaları — özellikle N603 titreşim problemi (Nisan)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Flowform'da yağlama ve ejektör kaynaklı mekanik duruşlar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7830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Alınan Aksiyonlar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224028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N602-N603 indüksiyon fırını coil yükseltme plakası revize edildi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ROB108 çalışan makine sayısına göre dinamik hedef sistemi kuruldu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Flowform'da 6 mekanik madde (ejektör, yağlama, kalıp yıkama) Haziran sonunda kapatıldı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983480"/>
            <a:ext cx="104241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498348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bekleme, ortalama hücre bazında %46 azaldı; üretim adetleri günlük ortalamada yaklaşık 3 katına çıktı. ROB109 istisnası hariç, darboğaz baskısı hattın geneline yayılmış durumdan tekil noktalara geriledi.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Darboğaz ve Kök Neden Analizi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DURUŞ ANALİZİ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Toplam Duruş Yükü — Genel Görünüm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önceki istasyon bekleme değil; arıza, planlı duruş, setup/hazırlık, takım-kalıp değişimi, mola ve müşteri/kalite kaynaklı duruşların tamamı bu bölümde derinlemesine incelenir.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9.610 dk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Haziran–Temmuz toplam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arıza süresi (~160 saat, 11 hücre)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27832" y="21031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3410712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-51,7%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410712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Nisan-Mayıs'a göre toplam arıza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dakikası değişimi (19.899 → 9.610 dk)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07024" y="21031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6089904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Belirsiz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089904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sık arıza nedeni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(1.836 dk / 78 olay)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86216" y="21031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8769096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769096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Arıza olaylarının 'giderildi' olarak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işaretlenme oranı (23 / 318 olay)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4343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Aşağıdaki sayfalarda: duruş kategorilerinin hücrelere dağılımı, üretim hacmine göre normalize edilmiş arıza yoğunluğu, en sık nedenler (Pareto), hücre bazlı baskın neden ve tekrarlayan somut sorunlar ele alınır.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Duruş Analizi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DURUŞ ANALİZİ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Duruş Kategorileri — Zaman Nereye Gidiyor?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11247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dakikadır (hücrelerin kayıtlı gün sayısı farklı olduğundan günlük ortalama değildir — yoğunluk karşılaştırması için bir sonraki sayfaya bakınız). Boya ve Fosfat'ta bu dönemde veri girişi olmadığından grafiğe dahil edilmemiştir.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Duruş Analizi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DURUŞ ANALİZİ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Arıza Yoğunluğu — Üretime Oranlı Karşılaştırma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Mutlak arıza dakikası, üretim hacmi arttıkça doğal olarak artabilir. Bu tablo arızayı üretilen 100 adet başına dakika olarak normalize eder; böylece hücreler arası ve dönemler arası karşılaştırma daha adil olur.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07899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651760"/>
                <a:gridCol w="2651760"/>
                <a:gridCol w="1737360"/>
              </a:tblGrid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Hücre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Nisan–Mayıs (dk/100 adet)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Haziran–Temmuz (dk/100 adet)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N602-N603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ROB109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Quench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sorun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Fosfat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Boya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ROB104 ve ROB110-111'de arıza yoğunluğu belirgin arttı — üretim artışıyla açıklanamayacak kadar büyük (+444% / +204%). Quench'te Haziran-Temmuz'da yeni bir arıza kaynağı ortaya çıktı (bkz. 29 Haziran olayı).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Duruş Analizi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DURUŞ ANALİZİ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Sık Arıza Nedenleri — Tüm Hat (Haz-Tem)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10789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4864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"Belirsiz" kategorisi 1.836 dk (%19) ile 2. sırada — kök nedeni etiketlenmemiş arızaların payı yüksek. "Diğer" grubu: Talaş Arabası Dolu, Pres Öncesi/Sonrası, Çıkış Konveyörü Dolu ve hiç neden kodu girilmemiş kayıtların (251 dk) toplamıdır.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Duruş Analizi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DURUŞ ANALİZİ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Hücre Bazlı Baskın Arıza Nedeni (Haz-Tem)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789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2011680"/>
                <a:gridCol w="164592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Hücre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Baskın Neden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Olay Sayısı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 (lokasyon bazlı)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894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Mekanik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Elektrik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Belirsiz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529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Elektrik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Akışkan (hidrolik yağ sıcaklığı)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1.061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N603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Titreşim — Çözüldü (bkz. Öne Çıkan Sorunlar)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6.810 → 70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ROB109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Belirsiz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524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Quench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Mekanik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1.080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Elektrik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N602'deki hidrolik yağ sıcaklığı sorunu N603'ün titreşim probleminin de kaynağıydı; kök nedeni ortak (bkz. Slayt — N603 Titreşim vakası).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Duruş Analizi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DURUŞ ANALİZİ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Aynı Açıklamayla ≥3 Kez Tekrarlanan Duruşlar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789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  <a:gridCol w="118872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Hücre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Tekrar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 Süre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 + 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"Fabrikada elektrik yok" — tesis geneli kesinti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+ 4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[Hidrolik Yağ Sıcaklık Alarmı]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Hidrolik yağ sıcaklığı yükselmesi (N603 titreşim kökeni)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Haberleşme hatası / problemi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Shuttle motor mili arızası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 + 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Cnc tezgah takım kırılması ve yatak ayarı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+ 3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 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07492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EEF2FC"/>
          </a:solidFill>
          <a:ln/>
        </p:spPr>
      </p:sp>
      <p:sp>
        <p:nvSpPr>
          <p:cNvPr id="8" name="Text 4"/>
          <p:cNvSpPr/>
          <p:nvPr/>
        </p:nvSpPr>
        <p:spPr>
          <a:xfrm>
            <a:off x="868680" y="507492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bulgu: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ROB110-111'deki tekrarlayan haberleşme hatası (6 olay, 236 dk) hiçbir aksiyon maddesinde henüz ele alınmamış. "Fabrikada elektrik yok" kaydı aynı gün iki ayrı hücrede girilmiş — tek bir tesis geneli kesinti, çift kayıt değil.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Duruş Analizi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DURUŞ ANALİZİ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Arıza Kayıtlarında Çözüm Takibi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63040"/>
          <a:ext cx="4206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318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457200" y="3429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ARIZA OLAYI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029200" y="1463040"/>
            <a:ext cx="6309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349240" y="1691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349240" y="20116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Sistemde "arıza giderildi" alanı mevcut ancak sahada tutarlı doldurulmuyor: 318 arıza olayının sadece 23'ü (%7) çözüm olarak işaretlenmiş (957 / 9.610 dk). Bu, arızaların çözülmediği anlamına gelmiyor — takip alanının disiplinli kullanılmadığını gösteriyor.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0" y="3474720"/>
            <a:ext cx="6309360" cy="1005840"/>
          </a:xfrm>
          <a:prstGeom prst="roundRect">
            <a:avLst>
              <a:gd name="adj" fmla="val 7273"/>
            </a:avLst>
          </a:prstGeom>
          <a:solidFill>
            <a:srgbClr val="EEF2FC"/>
          </a:solidFill>
          <a:ln/>
        </p:spPr>
      </p:sp>
      <p:sp>
        <p:nvSpPr>
          <p:cNvPr id="13" name="Text 9"/>
          <p:cNvSpPr/>
          <p:nvPr/>
        </p:nvSpPr>
        <p:spPr>
          <a:xfrm>
            <a:off x="5349240" y="36850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349240" y="3977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 bir süre üzerindeki arızalarda "giderildi" alanı ve çözüm açıklaması zorunlu hale getirilebilir; bu hem takip disiplinini hem de kök neden veri kalitesini artırır.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Duruş Analizi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ÇIKAN SORUNLAR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N603 Hücresi — Titreşim Problemi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052560" y="621792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694944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00032" y="62179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Çözüldü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164592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KANITI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2296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6.810 → 70 dk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22960" y="2743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arıza süresi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(Nisan-Mayıs → Haziran-Temmuz)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296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-99%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2296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Azalış oranı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14800" y="1645920"/>
            <a:ext cx="6766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389120" y="18745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 TANIMI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389120" y="21945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16–28 Nisan arasında art arda günlerde 400–540 dk/gün arıza kaynaklı duruş yaşandı. Kök neden olarak X ekseni pozisyon kaybı, makara grubu ve sürücü/enkoder kaynaklı titreşim tespit edildi.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114800" y="370332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EEF2FC"/>
          </a:solidFill>
          <a:ln/>
        </p:spPr>
      </p:sp>
      <p:sp>
        <p:nvSpPr>
          <p:cNvPr id="19" name="Text 15"/>
          <p:cNvSpPr/>
          <p:nvPr/>
        </p:nvSpPr>
        <p:spPr>
          <a:xfrm>
            <a:off x="4389120" y="39136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ALINAN AKSİYON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389120" y="42062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İndüksiyon fırını coil yükseltme plakası ve ejektör yağ tavası ile ilgili 3 madde 29 Haziran – 1 Temmuz arasında kapatıldı. Sorun tekrarlamadı.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 Sorunlar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ÇIKAN SORUNLAR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Quench Hücresi — 29 Haziran Olayı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052560" y="621792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694944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00032" y="62179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Bekliyor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164592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KANITI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2296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dk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22960" y="2743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Duruş süresi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(29 Haziran olayı)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296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parça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2296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Hasarlı V-bükümü,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parça bekletildi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14800" y="1645920"/>
            <a:ext cx="6766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389120" y="18745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 TANIMI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389120" y="21945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Gece vardiyasında operatör parçayı fırın çıkışındaki dişli-zincir arasına sıkıştırdı, 20 dakika bu şekilde çalıştırdı: 6 adet V Büküm parça hasar gördü, 5 saatlik müdahale gerekti. Ayrıca 18 Haziran'da ayrı bir valf contası arızası 480 dk'lık duruşa yol açtı.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114800" y="370332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EEF2FC"/>
          </a:solidFill>
          <a:ln/>
        </p:spPr>
      </p:sp>
      <p:sp>
        <p:nvSpPr>
          <p:cNvPr id="19" name="Text 15"/>
          <p:cNvSpPr/>
          <p:nvPr/>
        </p:nvSpPr>
        <p:spPr>
          <a:xfrm>
            <a:off x="4389120" y="39136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GEREKLİ KARAR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389120" y="42062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Operatör prosedürü (SOP) ve eğitim gözden geçirmesi gerekiyor. Aksiyon takibinde bu hücre için sadece 1 açık madde kayıtlı — kapsam genişletilmeli.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 Sorunlar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ÇIKAN SORUNLAR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Flowform Hücresi — Mekanik İyileştirme Paketi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052560" y="621792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694944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00032" y="62179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Kısmen Çözüldü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164592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KANITI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2296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4.025 → 849 dk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22960" y="2743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arıza süresi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(Nisan-Mayıs → Haziran-Temmuz)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296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16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2296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Madde kapatıldı,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madde hâlâ açık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14800" y="1645920"/>
            <a:ext cx="6766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389120" y="18745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 TANIMI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389120" y="21945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Ejektör titreşimi, boryağı kaçağı, yağlama sensörü üzerinde pasta birikimi, AMR montür çarpışması ve HS mandrel kovan için yedek kalıp eksikliği gibi çoklu mekanik sorun kaynağı vardı.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114800" y="370332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EEF2FC"/>
          </a:solidFill>
          <a:ln/>
        </p:spPr>
      </p:sp>
      <p:sp>
        <p:nvSpPr>
          <p:cNvPr id="19" name="Text 15"/>
          <p:cNvSpPr/>
          <p:nvPr/>
        </p:nvSpPr>
        <p:spPr>
          <a:xfrm>
            <a:off x="4389120" y="39136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ALINAN AKSİYON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389120" y="42062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Haziran'da 6 madde birden kapatıldı (ejektör, yağlama sensörü braketi, kalıp yıkama hattı dahil). Kalan 10 açık madde ile çalışma devam ediyor.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 Sorunlar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ÇIKAN SORUNLAR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 Hücresi — En Yüksek Açık Madde Yükü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052560" y="621792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694944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00032" y="62179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Devam Ediyor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164592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KANITI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2296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/ 32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22960" y="2743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aksiyon maddesi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(tüm hücreler içinde en yüksek)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296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1.526 dk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2296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Haziran-Temmuz arıza süresi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(Nisan-Mayıs: 2.880 dk)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14800" y="1645920"/>
            <a:ext cx="6766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389120" y="18745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 TANIMI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389120" y="21945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Pres, hattaki en yüksek açık madde yüküne sahip hücre. Üretim hacmi artmasına rağmen (33,2 → 102,1 adet/gün) mutlak arıza süresi hâlâ yüksek seyrediyor.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114800" y="370332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EEF2FC"/>
          </a:solidFill>
          <a:ln/>
        </p:spPr>
      </p:sp>
      <p:sp>
        <p:nvSpPr>
          <p:cNvPr id="19" name="Text 15"/>
          <p:cNvSpPr/>
          <p:nvPr/>
        </p:nvSpPr>
        <p:spPr>
          <a:xfrm>
            <a:off x="4389120" y="39136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BASKISI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389120" y="42062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Pres, mevcut planla 9 Temmuz'da üretimi durduracak (bkz. Hat Kapanış Tahmini). Açık 29 maddenin bir kısmı bu tarihe yetişmeyebilir — önceliklendirme kararı gerekiyor.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 Sorunlar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ÇIKAN SORUNLAR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Boya &amp; Fosfat Hücreleri — Veri Boşluğu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9052560" y="621792"/>
            <a:ext cx="228600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694944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00032" y="62179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Bekliyor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164592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KANITI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2296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Mayıs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822960" y="2743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kayıtlı üretim/duruş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verisi tarihi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296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ay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2296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girişi olmayan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14800" y="1645920"/>
            <a:ext cx="6766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389120" y="18745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 TANIMI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389120" y="21945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Boya ve Fosfat hücrelerinde 7 Mayıs 2026'dan bu yana günlük üretim formuna veri girişi yapılmamış. Sebep netleştirilmedi: hat mı durdu, veri girişi mi kesildi, sorumlu değişikliği mi yaşandı bilinmiyor.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114800" y="370332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EEF2FC"/>
          </a:solidFill>
          <a:ln/>
        </p:spPr>
      </p:sp>
      <p:sp>
        <p:nvSpPr>
          <p:cNvPr id="19" name="Text 15"/>
          <p:cNvSpPr/>
          <p:nvPr/>
        </p:nvSpPr>
        <p:spPr>
          <a:xfrm>
            <a:off x="4389120" y="39136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GEREKLİ KARAR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389120" y="42062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 yönetimden bu iki hücrenin güncel operasyonel durumu ve veri girişinin neden kesildiğine dair yönlendirme isteniyor.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 Sorunlar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AKSİYON TAKİBİ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 Madde — Genel Durum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4206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2788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457200" y="3337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MADDE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17320"/>
          <a:ext cx="6675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18872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Hücre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Tamamlandı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N602-N603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Ölçüm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Quench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 Hücresi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5029200" y="41605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Nisan-Mayıs döneminde tamamlanan madde sayısı sıfırdı; 14 maddenin tamamı Haziran-Temmuz'da kapatıldı.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Aksiyon Takibi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AKSİYON TAKİBİ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Haziran–Temmuz'da Kapanan Öne Çıkan Maddeler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0789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6809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Hücre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Kapatılan Madde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N602-N603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İndüksiyon fırını coil yükseltme plaka çapı sorunu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Ölçüm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Diş tazeleme masası oluşturuldu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Ölçüm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kalite konveyörü parça ilerletme sorunu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HFP dişi kalıp oringleri yedeklendi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Haz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Ejektör offset plakası dış çapı düzeltildi (164 mm)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Haz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Hadde asansörü tufal birikimi giderildi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Haz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 kalıp yıkama hattı eklenerek cycle time düşürüldü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Haz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Ejektör tam strok titreşim/ses sorunu giderildi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Haz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AMR montürlerine parça binmesi sorunu giderildi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Haz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N602-N603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Ejektör yağ tavaları eklendi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Haz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Aksiyon Takibi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/ KARAR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Yatırım Talepleri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07899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5875">
            <a:solidFill>
              <a:srgbClr val="D8DEEC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868680" y="1874520"/>
            <a:ext cx="260604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94767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16152" y="1874520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Bekliyor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68680" y="23774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bölümün madde listesi henüz kesinleşmedi. Sunum hazırlığı sırasında ilgili paydaşlarla birlikte netleştirilecek.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68680" y="301752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DOLDURULACAK ŞABLON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68680" y="3337560"/>
            <a:ext cx="10149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[Ekipman / Sistem Adı]  —  Gerekçe (hangi veri/vaka destekliyor)  —  Tahmini Etki  —  Tahmini Bütçe / Süre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adaylar (bu oturumda netleşmedi): Quench hattı operatör eğitim/SOP güncellemesi, Pres açık madde yükünün azaltılması için ek kapasite, ROB109 darboğazına yönelik inceleme.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/ Karar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/ KARAR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Müşteriden Talep Edilecekler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07899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5875">
            <a:solidFill>
              <a:srgbClr val="D8DEEC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868680" y="1874520"/>
            <a:ext cx="260604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94767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16152" y="1874520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Bekliyor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68680" y="23774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bölümün madde listesi henüz kesinleşmedi. Sunum hazırlığı sırasında ilgili paydaşlarla birlikte netleştirilecek.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68680" y="301752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DOLDURULACAK ŞABLON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68680" y="3337560"/>
            <a:ext cx="10149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[Talep Konusu]  —  Gerekçe  —  Beklenen Katkı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aday (bu oturumda netleşmedi): Boya ve Fosfat hücrelerindeki operasyonel durumun ve veri girişi kesintisinin netleştirilmesi için müşteri/saha koordinasyonu.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/ Karar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/ KARAR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Sonraki Adımlar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16002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 sorunlar için aksiyon planı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34440" y="19659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Quench SOP/eğitim gözden geçirmesi ve Boya/Fosfat veri boşluğunun nedeni netleştirilecek.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34440" y="26517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listesinin kesinleştirilmesi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234440" y="30175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Yatırım ve müşteri talebi maddeleri ilgili sorumlularla birlikte tamamlanacak.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34440" y="3703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 kapanış takvimine göre önceliklendirme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234440" y="4069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Temmuz öncesi Pres hücresindeki 29 açık maddenin önceliklendirilmesi.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34440" y="4754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 yönetim sunumu ve karar toplantısı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234440" y="5120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Netleşen talep listesiyle birlikte nihai sunumun üst yönetime iletilmesi.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/ Karar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Repkon HF901 Seri Üretim — Performans Raporu ve Aksiyon Talebi</dc:title>
  <dc:subject>PptxGenJS Presentation</dc:subject>
  <dc:creator>Repkon HF901</dc:creator>
  <cp:lastModifiedBy>Repkon HF901</cp:lastModifiedBy>
  <cp:revision>1</cp:revision>
  <dcterms:created xsi:type="dcterms:W3CDTF">2026-07-04T13:41:37Z</dcterms:created>
  <dcterms:modified xsi:type="dcterms:W3CDTF">2026-07-04T13:41:37Z</dcterms:modified>
</cp:coreProperties>
</file>