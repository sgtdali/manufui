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OEE %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Pres</c:v>
                  </c:pt>
                  <c:pt idx="1">
                    <c:v>N602-N603</c:v>
                  </c:pt>
                  <c:pt idx="2">
                    <c:v>Flowform</c:v>
                  </c:pt>
                  <c:pt idx="3">
                    <c:v>ETM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ROB110-111</c:v>
                  </c:pt>
                  <c:pt idx="7">
                    <c:v>ROB109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47.9</c:v>
                </c:pt>
                <c:pt idx="1">
                  <c:v>45</c:v>
                </c:pt>
                <c:pt idx="2">
                  <c:v>36.5</c:v>
                </c:pt>
                <c:pt idx="3">
                  <c:v>32.3</c:v>
                </c:pt>
                <c:pt idx="4">
                  <c:v>29.6</c:v>
                </c:pt>
                <c:pt idx="5">
                  <c:v>27.4</c:v>
                </c:pt>
                <c:pt idx="6">
                  <c:v>27.3</c:v>
                </c:pt>
                <c:pt idx="7">
                  <c:v>24.9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OEE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Nisan–Mayıs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ETM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ROB109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373.5</c:v>
                </c:pt>
                <c:pt idx="1">
                  <c:v>95</c:v>
                </c:pt>
                <c:pt idx="2">
                  <c:v>84.9</c:v>
                </c:pt>
                <c:pt idx="3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Haziran–Temmuz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ETM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ROB109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132.5</c:v>
                </c:pt>
                <c:pt idx="1">
                  <c:v>81.2</c:v>
                </c:pt>
                <c:pt idx="2">
                  <c:v>34.4</c:v>
                </c:pt>
                <c:pt idx="3">
                  <c:v>87.1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8590A6"/>
                    </a:solidFill>
                    <a:latin typeface="Arial"/>
                  </a:rPr>
                  <a:t>dk / 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1544</c:v>
                </c:pt>
                <c:pt idx="1">
                  <c:v>917</c:v>
                </c:pt>
                <c:pt idx="2">
                  <c:v>939</c:v>
                </c:pt>
                <c:pt idx="3">
                  <c:v>849</c:v>
                </c:pt>
                <c:pt idx="4">
                  <c:v>869</c:v>
                </c:pt>
                <c:pt idx="5">
                  <c:v>1481</c:v>
                </c:pt>
                <c:pt idx="6">
                  <c:v>707</c:v>
                </c:pt>
                <c:pt idx="7">
                  <c:v>1080</c:v>
                </c:pt>
                <c:pt idx="8">
                  <c:v>1224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Planlı Duruş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750</c:v>
                </c:pt>
                <c:pt idx="1">
                  <c:v>89</c:v>
                </c:pt>
                <c:pt idx="2">
                  <c:v>729</c:v>
                </c:pt>
                <c:pt idx="3">
                  <c:v>633</c:v>
                </c:pt>
                <c:pt idx="4">
                  <c:v>1018</c:v>
                </c:pt>
                <c:pt idx="5">
                  <c:v>352</c:v>
                </c:pt>
                <c:pt idx="6">
                  <c:v>291</c:v>
                </c:pt>
                <c:pt idx="7">
                  <c:v>0</c:v>
                </c:pt>
                <c:pt idx="8">
                  <c:v>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Setup / Hazırlık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454</c:v>
                </c:pt>
                <c:pt idx="1">
                  <c:v>136</c:v>
                </c:pt>
                <c:pt idx="2">
                  <c:v>442</c:v>
                </c:pt>
                <c:pt idx="3">
                  <c:v>973</c:v>
                </c:pt>
                <c:pt idx="4">
                  <c:v>235</c:v>
                </c:pt>
                <c:pt idx="5">
                  <c:v>6</c:v>
                </c:pt>
                <c:pt idx="6">
                  <c:v>15</c:v>
                </c:pt>
                <c:pt idx="7">
                  <c:v>0</c:v>
                </c:pt>
                <c:pt idx="8">
                  <c:v>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Takım / Kalıp</c:v>
                </c:pt>
              </c:strCache>
            </c:strRef>
          </c:tx>
          <c:spPr>
            <a:solidFill>
              <a:srgbClr val="8590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858</c:v>
                </c:pt>
                <c:pt idx="1">
                  <c:v>56</c:v>
                </c:pt>
                <c:pt idx="2">
                  <c:v>495</c:v>
                </c:pt>
                <c:pt idx="3">
                  <c:v>256</c:v>
                </c:pt>
                <c:pt idx="4">
                  <c:v>336</c:v>
                </c:pt>
                <c:pt idx="5">
                  <c:v>0</c:v>
                </c:pt>
                <c:pt idx="6">
                  <c:v>631</c:v>
                </c:pt>
                <c:pt idx="7">
                  <c:v>0</c:v>
                </c:pt>
                <c:pt idx="8">
                  <c:v>73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Önc. İst. Bekleme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2012</c:v>
                </c:pt>
                <c:pt idx="2">
                  <c:v>551</c:v>
                </c:pt>
                <c:pt idx="3">
                  <c:v>1658</c:v>
                </c:pt>
                <c:pt idx="4">
                  <c:v>1112</c:v>
                </c:pt>
                <c:pt idx="5">
                  <c:v>1137</c:v>
                </c:pt>
                <c:pt idx="6">
                  <c:v>1182</c:v>
                </c:pt>
                <c:pt idx="7">
                  <c:v>0</c:v>
                </c:pt>
                <c:pt idx="8">
                  <c:v>160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Mola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Sheet1!$G$2:$G$10</c:f>
              <c:numCache>
                <c:formatCode>General</c:formatCode>
                <c:ptCount val="9"/>
                <c:pt idx="0">
                  <c:v>0</c:v>
                </c:pt>
                <c:pt idx="1">
                  <c:v>585</c:v>
                </c:pt>
                <c:pt idx="2">
                  <c:v>1107</c:v>
                </c:pt>
                <c:pt idx="3">
                  <c:v>640</c:v>
                </c:pt>
                <c:pt idx="4">
                  <c:v>965</c:v>
                </c:pt>
                <c:pt idx="5">
                  <c:v>764</c:v>
                </c:pt>
                <c:pt idx="6">
                  <c:v>925</c:v>
                </c:pt>
                <c:pt idx="7">
                  <c:v>0</c:v>
                </c:pt>
                <c:pt idx="8">
                  <c:v>302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Müşteri / Kalite</c:v>
                </c:pt>
              </c:strCache>
            </c:strRef>
          </c:tx>
          <c:spPr>
            <a:solidFill>
              <a:srgbClr val="6B7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Sheet1!$H$2:$H$10</c:f>
              <c:numCache>
                <c:formatCode>General</c:formatCode>
                <c:ptCount val="9"/>
                <c:pt idx="0">
                  <c:v>30</c:v>
                </c:pt>
                <c:pt idx="1">
                  <c:v>70</c:v>
                </c:pt>
                <c:pt idx="2">
                  <c:v>60</c:v>
                </c:pt>
                <c:pt idx="3">
                  <c:v>220</c:v>
                </c:pt>
                <c:pt idx="4">
                  <c:v>0</c:v>
                </c:pt>
                <c:pt idx="5">
                  <c:v>55</c:v>
                </c:pt>
                <c:pt idx="6">
                  <c:v>134</c:v>
                </c:pt>
                <c:pt idx="7">
                  <c:v>480</c:v>
                </c:pt>
                <c:pt idx="8">
                  <c:v>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dk (Haziran-Temmuz toplamı)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 Süresi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Mekanik</c:v>
                  </c:pt>
                  <c:pt idx="1">
                    <c:v>Belirsiz</c:v>
                  </c:pt>
                  <c:pt idx="2">
                    <c:v>Elektrik</c:v>
                  </c:pt>
                  <c:pt idx="3">
                    <c:v>Akışkan</c:v>
                  </c:pt>
                  <c:pt idx="4">
                    <c:v>Pres (Lokasyon)</c:v>
                  </c:pt>
                  <c:pt idx="5">
                    <c:v>Robot</c:v>
                  </c:pt>
                  <c:pt idx="6">
                    <c:v>Bor Yağı Bitti</c:v>
                  </c:pt>
                  <c:pt idx="7">
                    <c:v>Ortak</c:v>
                  </c:pt>
                  <c:pt idx="8">
                    <c:v>Diğer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2119</c:v>
                </c:pt>
                <c:pt idx="1">
                  <c:v>1836</c:v>
                </c:pt>
                <c:pt idx="2">
                  <c:v>1367</c:v>
                </c:pt>
                <c:pt idx="3">
                  <c:v>1061</c:v>
                </c:pt>
                <c:pt idx="4">
                  <c:v>894</c:v>
                </c:pt>
                <c:pt idx="5">
                  <c:v>462</c:v>
                </c:pt>
                <c:pt idx="6">
                  <c:v>325</c:v>
                </c:pt>
                <c:pt idx="7">
                  <c:v>278</c:v>
                </c:pt>
                <c:pt idx="8">
                  <c:v>1268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590A6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İşaretlenmemiş</c:v>
                </c:pt>
                <c:pt idx="1">
                  <c:v>Giderildi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295</c:v>
                </c:pt>
                <c:pt idx="1">
                  <c:v>23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 ve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Aksiyon / Yatırım Talebi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2026 Değerlendirmesi  ·  12 Üretim Hücresi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· Temmuz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Sunumun Amacı ve Kapsamı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Aylık Performans Özeti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döneminde 12 üretim hücresinin üretim adedi, duruş süreleri ve darboğaz göstergeleri veriye dayalı olarak özetlenir.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Somut Aksiyon / Yatırım Talebi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durum raporu değil; açık aksiyon maddeleri, yatırım ihtiyaçları ve müşteriden talep edilecek konular için karar talebi içerir.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KURGUSU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EEF2F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20624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Mayıs: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özet.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 – Temmuz: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aksiyonların sonuçları detaylı işlenir. Sunumun ağırlığı Haziran sonrası ilerlemededir — veri bu kurguyu destekliyor.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KAPSAM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144475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144475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870" dirty="0"/>
          </a:p>
        </p:txBody>
      </p:sp>
      <p:sp>
        <p:nvSpPr>
          <p:cNvPr id="20" name="Shape 17"/>
          <p:cNvSpPr/>
          <p:nvPr/>
        </p:nvSpPr>
        <p:spPr>
          <a:xfrm>
            <a:off x="234086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234086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870" dirty="0"/>
          </a:p>
        </p:txBody>
      </p:sp>
      <p:sp>
        <p:nvSpPr>
          <p:cNvPr id="22" name="Shape 19"/>
          <p:cNvSpPr/>
          <p:nvPr/>
        </p:nvSpPr>
        <p:spPr>
          <a:xfrm>
            <a:off x="323697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323697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870" dirty="0"/>
          </a:p>
        </p:txBody>
      </p:sp>
      <p:sp>
        <p:nvSpPr>
          <p:cNvPr id="24" name="Shape 21"/>
          <p:cNvSpPr/>
          <p:nvPr/>
        </p:nvSpPr>
        <p:spPr>
          <a:xfrm>
            <a:off x="413308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/>
          <p:nvPr/>
        </p:nvSpPr>
        <p:spPr>
          <a:xfrm>
            <a:off x="413308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870" dirty="0"/>
          </a:p>
        </p:txBody>
      </p:sp>
      <p:sp>
        <p:nvSpPr>
          <p:cNvPr id="26" name="Shape 23"/>
          <p:cNvSpPr/>
          <p:nvPr/>
        </p:nvSpPr>
        <p:spPr>
          <a:xfrm>
            <a:off x="502920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</a:t>
            </a:r>
            <a:endParaRPr lang="en-US" sz="870" dirty="0"/>
          </a:p>
        </p:txBody>
      </p:sp>
      <p:sp>
        <p:nvSpPr>
          <p:cNvPr id="28" name="Shape 25"/>
          <p:cNvSpPr/>
          <p:nvPr/>
        </p:nvSpPr>
        <p:spPr>
          <a:xfrm>
            <a:off x="592531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9" name="Text 26"/>
          <p:cNvSpPr/>
          <p:nvPr/>
        </p:nvSpPr>
        <p:spPr>
          <a:xfrm>
            <a:off x="592531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N603</a:t>
            </a:r>
            <a:endParaRPr lang="en-US" sz="870" dirty="0"/>
          </a:p>
        </p:txBody>
      </p:sp>
      <p:sp>
        <p:nvSpPr>
          <p:cNvPr id="30" name="Shape 27"/>
          <p:cNvSpPr/>
          <p:nvPr/>
        </p:nvSpPr>
        <p:spPr>
          <a:xfrm>
            <a:off x="682142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82142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870" dirty="0"/>
          </a:p>
        </p:txBody>
      </p:sp>
      <p:sp>
        <p:nvSpPr>
          <p:cNvPr id="32" name="Shape 29"/>
          <p:cNvSpPr/>
          <p:nvPr/>
        </p:nvSpPr>
        <p:spPr>
          <a:xfrm>
            <a:off x="771753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3" name="Text 30"/>
          <p:cNvSpPr/>
          <p:nvPr/>
        </p:nvSpPr>
        <p:spPr>
          <a:xfrm>
            <a:off x="771753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870" dirty="0"/>
          </a:p>
        </p:txBody>
      </p:sp>
      <p:sp>
        <p:nvSpPr>
          <p:cNvPr id="34" name="Shape 31"/>
          <p:cNvSpPr/>
          <p:nvPr/>
        </p:nvSpPr>
        <p:spPr>
          <a:xfrm>
            <a:off x="861364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861364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870" dirty="0"/>
          </a:p>
        </p:txBody>
      </p:sp>
      <p:sp>
        <p:nvSpPr>
          <p:cNvPr id="36" name="Shape 33"/>
          <p:cNvSpPr/>
          <p:nvPr/>
        </p:nvSpPr>
        <p:spPr>
          <a:xfrm>
            <a:off x="950976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7" name="Text 34"/>
          <p:cNvSpPr/>
          <p:nvPr/>
        </p:nvSpPr>
        <p:spPr>
          <a:xfrm>
            <a:off x="950976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Fosfat</a:t>
            </a:r>
            <a:endParaRPr lang="en-US" sz="870" dirty="0"/>
          </a:p>
        </p:txBody>
      </p:sp>
      <p:sp>
        <p:nvSpPr>
          <p:cNvPr id="38" name="Shape 35"/>
          <p:cNvSpPr/>
          <p:nvPr/>
        </p:nvSpPr>
        <p:spPr>
          <a:xfrm>
            <a:off x="1040587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9" name="Text 36"/>
          <p:cNvSpPr/>
          <p:nvPr/>
        </p:nvSpPr>
        <p:spPr>
          <a:xfrm>
            <a:off x="1040587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</a:t>
            </a:r>
            <a:endParaRPr lang="en-US" sz="870" dirty="0"/>
          </a:p>
        </p:txBody>
      </p:sp>
      <p:sp>
        <p:nvSpPr>
          <p:cNvPr id="40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Hücre — Günlük Ortalama Üretim Adedi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Karşılaştırma günlük ortalama bazındadır (dönemlerdeki kayıtlı gün sayısı farklı olduğundan toplamlar yerine ortalama kullanılmıştır).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(adet/gün)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(adet/gün)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Hücre — Önceki İstasyon Bekleme Süresi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  <a:gridCol w="11887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ilk istasyon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498080" y="14173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8" name="Text 4"/>
          <p:cNvSpPr/>
          <p:nvPr/>
        </p:nvSpPr>
        <p:spPr>
          <a:xfrm>
            <a:off x="7726680" y="1508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+195%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726680" y="213055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 başına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ortalama üretim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498080" y="292608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/>
          <p:nvPr/>
        </p:nvSpPr>
        <p:spPr>
          <a:xfrm>
            <a:off x="7726680" y="3017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-46%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726680" y="363931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önceki istasyon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bekleme süresi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498080" y="443484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/>
          <p:nvPr/>
        </p:nvSpPr>
        <p:spPr>
          <a:xfrm>
            <a:off x="7726680" y="45262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74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7726680" y="514807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Haziran-Temmuz'da kapanan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maddesi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ROB109 hücresinde bekleme günlük ortalamada arttı (63,0 → 87,1 dk) — Quench / N602-N603 çıktı dalgalanmasına bağlı yeni darboğaz riski, izleniyor.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= Availability × Performance. Kalite bileşeni dahil edilmedi — 12 üretim hücresinin hiçbirinde satır bazlı ret/fire verisi tutulmuyor (sadece FF Preform ve Final Ölçüm istasyonlarında var, bu 12 hücreden bağımsız ölçüm noktaları). Nisan-Mayıs karşılaştırması yok çünkü Hedef Üretim Adeti hücre bazında Haziran ortasına kadar kademeli devreye alındı.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14630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98080" y="20574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772668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33.9%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726680" y="26791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ortalaması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(Haz-Tem, 8 hücre)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498080" y="3429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7726680" y="35204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47.9%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7726680" y="40507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498080" y="48006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7726680" y="4892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24.9%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7726680" y="54223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Quench, Fosfat ve Boya'da Haziran-Temmuz'da hedefli üretim verisi yetersiz olduğundan Performance/OEE hesaplanamadı (Fosfat/Boya'da Availability da veri yok — bu dönemde kayıt girilmemiş).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= (Planlı Süre − Arıza Dakikası) / Arıza Kaydı Sayısı  ·  MTTR = Arıza Dakikası / Arıza Kaydı Sayısı. Sadece "Arıza" (breakdown) kolonuna dayanır; planlı duruş, setup, mola vb. diğer duruş türleri dahil değildir.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1874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(dk) — Arızalar Arası Çalışma Süresi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18872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N-M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H-T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374.3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172200" y="1874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(dk) — Arıza Başına Giderilme Süresi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18872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N-M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H-T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Örnek sayısı azdır (&lt;5 arıza kaydı) — ROB104 (Nisan-Mayıs: 3 kayıt), Fosfat (Nisan-Mayıs: 2 kayıt) ve Quench (Haziran-Temmuz: 4 kayıt) için MTBF/MTTR yorumlanırken dikkatli olunmalı. Boya'da ve Fosfat'ın Haziran-Temmuz döneminde hiç arıza kaydı yok.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Güvenilirlik Özeti — Hücre Kıyaslaması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14630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58952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589520" y="2011680"/>
            <a:ext cx="33832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MTBF (106,9 dk) — sık arıza pattern'i sürüyor (bkz. Duruş Analizi, arıza yoğunluğu +204%).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arıza kaydı (61 olay) ama MTTR düşük (24,8 dk) — hızlı müdahale ediliyor.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MTTR (38,2 dk, Quench'in az örnekli 270 dk'sı hariç) — giderilme süresi kök neden incelemesi için fırsat.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ve ROB104: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Hattın en düşük OEE'si (%22,9 / %23,8) — hem availability hem performance tarafında iyileştirme alanı var.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Hücreler Arası Akış Sırası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72284" y="1828800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414016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2414016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46220" y="1828800"/>
            <a:ext cx="256032" cy="25603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187952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3" name="Text 8"/>
          <p:cNvSpPr/>
          <p:nvPr/>
        </p:nvSpPr>
        <p:spPr>
          <a:xfrm>
            <a:off x="4187952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5820156" y="1828800"/>
            <a:ext cx="256032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961888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6" name="Text 10"/>
          <p:cNvSpPr/>
          <p:nvPr/>
        </p:nvSpPr>
        <p:spPr>
          <a:xfrm>
            <a:off x="5961888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94092" y="1828800"/>
            <a:ext cx="256032" cy="25603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7735824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9" name="Text 12"/>
          <p:cNvSpPr/>
          <p:nvPr/>
        </p:nvSpPr>
        <p:spPr>
          <a:xfrm>
            <a:off x="7735824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9368028" y="1828800"/>
            <a:ext cx="256032" cy="25603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50976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22" name="Text 14"/>
          <p:cNvSpPr/>
          <p:nvPr/>
        </p:nvSpPr>
        <p:spPr>
          <a:xfrm>
            <a:off x="950976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/ N603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640080" y="2386584"/>
            <a:ext cx="10497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ve N603 paralel çalışır; ikisi de ROB104'ten beslenir, ikisi de ROB109'a gönderir.</a:t>
            </a:r>
            <a:endParaRPr lang="en-US" sz="9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544" y="2834640"/>
            <a:ext cx="292608" cy="292608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40080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6" name="Text 17"/>
          <p:cNvSpPr/>
          <p:nvPr/>
        </p:nvSpPr>
        <p:spPr>
          <a:xfrm>
            <a:off x="640080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12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2386584" y="3584448"/>
            <a:ext cx="256032" cy="256032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2715768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9" name="Text 19"/>
          <p:cNvSpPr/>
          <p:nvPr/>
        </p:nvSpPr>
        <p:spPr>
          <a:xfrm>
            <a:off x="2715768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12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4462272" y="3584448"/>
            <a:ext cx="256032" cy="256032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4791456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21"/>
          <p:cNvSpPr/>
          <p:nvPr/>
        </p:nvSpPr>
        <p:spPr>
          <a:xfrm>
            <a:off x="4791456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20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6537960" y="3584448"/>
            <a:ext cx="256032" cy="256032"/>
          </a:xfrm>
          <a:prstGeom prst="rect">
            <a:avLst/>
          </a:prstGeom>
        </p:spPr>
      </p:pic>
      <p:sp>
        <p:nvSpPr>
          <p:cNvPr id="34" name="Shape 22"/>
          <p:cNvSpPr/>
          <p:nvPr/>
        </p:nvSpPr>
        <p:spPr>
          <a:xfrm>
            <a:off x="6867144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5" name="Text 23"/>
          <p:cNvSpPr/>
          <p:nvPr/>
        </p:nvSpPr>
        <p:spPr>
          <a:xfrm>
            <a:off x="6867144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Fosfat</a:t>
            </a:r>
            <a:endParaRPr lang="en-US" sz="12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0">
            <a:off x="8613648" y="3584448"/>
            <a:ext cx="256032" cy="256032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8942832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38" name="Text 25"/>
          <p:cNvSpPr/>
          <p:nvPr/>
        </p:nvSpPr>
        <p:spPr>
          <a:xfrm>
            <a:off x="8942832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640080" y="4498848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EEF2FC"/>
          </a:solidFill>
          <a:ln/>
        </p:spPr>
      </p:sp>
      <p:sp>
        <p:nvSpPr>
          <p:cNvPr id="40" name="Text 27"/>
          <p:cNvSpPr/>
          <p:nvPr/>
        </p:nvSpPr>
        <p:spPr>
          <a:xfrm>
            <a:off x="914400" y="44988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ROB108,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Pres'in hemen ardından gelen istasyonlar olarak en yüksek upstream bekleme baskısını taşıyordu. Bu analizde odak buradadır.</a:t>
            </a:r>
            <a:endParaRPr lang="en-US" sz="1250" dirty="0"/>
          </a:p>
        </p:txBody>
      </p:sp>
      <p:sp>
        <p:nvSpPr>
          <p:cNvPr id="41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42" name="Text 2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Önceki İstasyon Bekleme Trendi (dk/gün)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463040"/>
          <a:ext cx="10881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ROB108'de bekleme belirgin şekilde düştü; N602 ılımlı iyileşti. ROB109 istisna oluşturuyor ve ayrıca izleniyor (bkz. Genel Bakış notu).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 Özeti ve Alınan Aksiyonlar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Nedenler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Hücreler arası hız/hazırlık dengesizliği (Pres sonrası istasyonlarda birikme)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Tekrarlayan ekipman arızaları — özellikle N603 titreşim problemi (Nisan)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yağlama ve ejektör kaynaklı mekanik duruşlar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Alınan Aksiyonlar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 indüksiyon fırını coil yükseltme plakası revize edildi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çalışan makine sayısına göre dinamik hedef sistemi kuruldu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6 mekanik madde (ejektör, yağlama, kalıp yıkama) Haziran sonunda kapatıldı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1042416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98348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bekleme, ortalama hücre bazında %46 azaldı; üretim adetleri günlük ortalamada yaklaşık 3 katına çıktı. ROB109 istisnası hariç, darboğaz baskısı hattın geneline yayılmış durumdan tekil noktalara geriledi.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Toplam Duruş Yükü — Genel Görünüm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önceki istasyon bekleme değil; arıza, planlı duruş, setup/hazırlık, takım-kalıp değişimi, mola ve müşteri/kalite kaynaklı duruşların tamamı bu bölümde derinlemesine incelenir.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9.610 dk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 toplam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süresi (~160 saat, 11 hücre)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27832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410712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-51,7%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410712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Nisan-Mayıs'a göre toplam arıza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dakikası değişimi (19.899 → 9.610 dk)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07024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089904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Belirsiz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arıza nedeni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(1.836 dk / 78 olay)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586216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8769096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%7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769096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olaylarının 'giderildi' olarak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işaretlenme oranı (23 / 318 olay)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43434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Aşağıdaki sayfalarda: duruş kategorilerinin hücrelere dağılımı, üretim hacmine göre normalize edilmiş arıza yoğunluğu, en sık nedenler (Pareto), hücre bazlı baskın neden ve tekrarlayan somut sorunlar ele alınır.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Duruş Kategorileri — Zaman Nereye Gidiyor?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112471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dakikadır (hücrelerin kayıtlı gün sayısı farklı olduğundan günlük ortalama değildir — yoğunluk karşılaştırması için bir sonraki sayfaya bakınız). Boya ve Fosfat'ta bu dönemde veri girişi olmadığından grafiğe dahil edilmemiştir.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Yoğunluğu — Üretime Oranlı Karşılaştırma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Mutlak arıza dakikası, üretim hacmi arttıkça doğal olarak artabilir. Bu tablo arızayı üretilen 100 adet başına dakika olarak normalize eder; böylece hücreler arası ve dönemler arası karşılaştırma daha adil olur.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sorun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ROB110-111'de arıza yoğunluğu belirgin arttı — üretim artışıyla açıklanamayacak kadar büyük (+444% / +204%). Quench'te Haziran-Temmuz'da yeni bir arıza kaynağı ortaya çıktı (bkz. 29 Haziran olayı).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Sık Arıza Nedenleri — Tüm Hat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0789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"Belirsiz" kategorisi 1.836 dk (%19) ile 2. sırada — kök nedeni etiketlenmemiş arızaların payı yüksek. "Diğer" grubu: Talaş Arabası Dolu, Pres Öncesi/Sonrası, Çıkış Konveyörü Dolu ve hiç neden kodu girilmemiş kayıtların (251 dk) toplamıdır.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Baskın Arıza Nedeni (Haz-Tem)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2011680"/>
                <a:gridCol w="16459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Olay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(lokasyon bazlı)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(hidrolik yağ sıcaklığı)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Titreşim — Çözüldü (bkz. Öne Çıkan Sorunlar)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6.810 → 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N602'deki hidrolik yağ sıcaklığı sorunu N603'ün titreşim probleminin de kaynağıydı; kök nedeni ortak (bkz. Slayt — N603 Titreşim vakası).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Açıklamayla ≥3 Kez Tekrarlanan Duruşlar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  <a:gridCol w="11887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Tekrar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"Fabrikada elektrik yok" — tesis geneli kesinti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[Hidrolik Yağ Sıcaklık Alarmı]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yükselmesi (N603 titreşim kökeni)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hatası / problemi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motor mili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tezgah takım kırılması ve yatak ayarı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+ 3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074920"/>
            <a:ext cx="107899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7492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bulgu: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ROB110-111'deki tekrarlayan haberleşme hatası (6 olay, 236 dk) hiçbir aksiyon maddesinde henüz ele alınmamış. "Fabrikada elektrik yok" kaydı aynı gün iki ayrı hücrede girilmiş — tek bir tesis geneli kesinti, çift kayıt değil.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Kayıtlarında Çözüm Takibi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ARIZA OLAYI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463040"/>
            <a:ext cx="6309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492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92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Sistemde "arıza giderildi" alanı mevcut ancak sahada tutarlı doldurulmuyor: 318 arıza olayının sadece 23'ü (%7) çözüm olarak işaretlenmiş (957 / 9.610 dk). Bu, arızaların çözülmediği anlamına gelmiyor — takip alanının disiplinli kullanılmadığını gösteriyor.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0" y="347472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EEF2FC"/>
          </a:solidFill>
          <a:ln/>
        </p:spPr>
      </p:sp>
      <p:sp>
        <p:nvSpPr>
          <p:cNvPr id="13" name="Text 9"/>
          <p:cNvSpPr/>
          <p:nvPr/>
        </p:nvSpPr>
        <p:spPr>
          <a:xfrm>
            <a:off x="5349240" y="3685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ÖNERİ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49240" y="3977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bir süre üzerindeki arızalarda "giderildi" alanı ve çözüm açıklaması zorunlu hale getirilebilir; bu hem takip disiplinini hem de kök neden veri kalitesini artırır.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N603 Hücresi — Titreşim Problemi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6.810 → 70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Azalış oranı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16–28 Nisan arasında art arda günlerde 400–540 dk/gün arıza kaynaklı duruş yaşandı. Kök neden olarak X ekseni pozisyon kaybı, makara grubu ve sürücü/enkoder kaynaklı titreşim tespit edildi.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fırını coil yükseltme plakası ve ejektör yağ tavası ile ilgili 3 madde 29 Haziran – 1 Temmuz arasında kapatıldı. Sorun tekrarlamadı.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 Hücresi — 29 Haziran Olayı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(29 Haziran olayı)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parça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Hasarlı V-bükümü,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parça bekletildi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Gece vardiyasında operatör parçayı fırın çıkışındaki dişli-zincir arasına sıkıştırdı, 20 dakika bu şekilde çalıştırdı: 6 adet V Büküm parça hasar gördü, 5 saatlik müdahale gerekti. Ayrıca 18 Haziran'da ayrı bir valf contası arızası 480 dk'lık duruşa yol açtı.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Operatör prosedürü (SOP) ve eğitim gözden geçirmesi gerekiyor. Aksiyon takibinde bu hücre için sadece 1 açık madde kayıtlı — kapsam genişletilmeli.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 Hücresi — Mekanik İyileştirme Paketi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Kısmen 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4.025 → 849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16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 kapatıldı,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madde hâlâ açık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Ejektör titreşimi, boryağı kaçağı, yağlama sensörü üzerinde pasta birikimi, AMR montür çarpışması ve HS mandrel kovan için yedek kalıp eksikliği gibi çoklu mekanik sorun kaynağı vardı.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Haziran'da 6 madde birden kapatıldı (ejektör, yağlama sensörü braketi, kalıp yıkama hattı dahil). Kalan 10 açık madde ile çalışma devam ediyor.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 — En Yüksek Açık Madde Yükü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Devam Ediyor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32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aksiyon maddesi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(tüm hücreler içinde en yüksek)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1.526 dk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(Nisan-Mayıs: 2.880 dk)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hattaki en yüksek açık madde yüküne sahip hücre. Üretim hacmi artmasına rağmen (33,2 → 102,1 adet/gün) mutlak arıza süresi hâlâ yüksek seyrediyor.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BASKISI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mevcut planla 9 Temmuz'da üretimi durduracak (bkz. Hat Kapanış Tahmini). Açık 29 maddenin bir kısmı bu tarihe yetişmeyebilir — önceliklendirme kararı gerekiyor.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Boya &amp; Fosfat Hücreleri — Veri Boşluğu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Mayıs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kayıtlı üretim/duruş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verisi tarihi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ay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girişi olmayan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 ve Fosfat hücrelerinde 7 Mayıs 2026'dan bu yana günlük üretim formuna veri girişi yapılmamış. Sebep netleştirilmedi: hat mı durdu, veri girişi mi kesildi, sorumlu değişikliği mi yaşandı bilinmiyor.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yönetimden bu iki hücrenin güncel operasyonel durumu ve veri girişinin neden kesildiğine dair yönlendirme isteniyor.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Haziran–Temmuz'da Kapanan Öne Çıkan Maddeler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6809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Kapatılan Madde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fırını coil yükseltme plaka çapı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Diş tazeleme masası oluşturuldu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kalite konveyörü parça ilerletme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HFP dişi kalıp oringleri yedeklendi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offset plakası dış çapı düzeltildi (164 mm)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Hadde asansörü tufal birikimi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kalıp yıkama hattı eklenerek cycle time düşürüldü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tam strok titreşim/ses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 montürlerine parça binmesi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yağ tavaları 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Yatırım Talepleri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[Ekipman / Sistem Adı]  —  Gerekçe (hangi veri/vaka destekliyor)  —  Tahmini Etki  —  Tahmini Bütçe / Süre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adaylar (bu oturumda netleşmedi): Quench hattı operatör eğitim/SOP güncellemesi, Pres açık madde yükünün azaltılması için ek kapasite, ROB109 darboğazına yönelik inceleme.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Boya ve Fosfat hücrelerindeki operasyonel durumun ve veri girişi kesintisinin netleştirilmesi için müşteri/saha koordinasyonu.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Sonraki Adımlar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34440" y="1600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 için aksiyon planı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34440" y="19659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SOP/eğitim gözden geçirmesi ve Boya/Fosfat veri boşluğunun nedeni netleştirilecek.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2651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listesinin kesinleştirilmesi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234440" y="30175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 ve müşteri talebi maddeleri ilgili sorumlularla birlikte tamamlanacak.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34440" y="3703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kapanış takvimine göre önceliklendirme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234440" y="406908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Temmuz öncesi Pres hücresindeki 29 açık maddenin önceliklendirilmesi.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34440" y="4754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ve karar toplantısı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234440" y="5120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Netleşen talep listesiyle birlikte nihai sunumun üst yönetime iletilmesi.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2026-07-04T08:52:28Z</dcterms:created>
  <dcterms:modified xsi:type="dcterms:W3CDTF">2026-07-04T08:52:28Z</dcterms:modified>
</cp:coreProperties>
</file>