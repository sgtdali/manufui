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5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8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Üretim (adet)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ROB110-111</c:v>
                  </c:pt>
                  <c:pt idx="1">
                    <c:v>Quench</c:v>
                  </c:pt>
                  <c:pt idx="2">
                    <c:v>ROB109</c:v>
                  </c:pt>
                  <c:pt idx="3">
                    <c:v>N602-N603</c:v>
                  </c:pt>
                  <c:pt idx="4">
                    <c:v>ROB104</c:v>
                  </c:pt>
                  <c:pt idx="5">
                    <c:v>Flowform</c:v>
                  </c:pt>
                  <c:pt idx="6">
                    <c:v>ROB108</c:v>
                  </c:pt>
                  <c:pt idx="7">
                    <c:v>ETM</c:v>
                  </c:pt>
                  <c:pt idx="8">
                    <c:v>Pres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1151</c:v>
                </c:pt>
                <c:pt idx="1">
                  <c:v>1653</c:v>
                </c:pt>
                <c:pt idx="2">
                  <c:v>1746</c:v>
                </c:pt>
                <c:pt idx="3">
                  <c:v>1817</c:v>
                </c:pt>
                <c:pt idx="4">
                  <c:v>1883</c:v>
                </c:pt>
                <c:pt idx="5">
                  <c:v>1983</c:v>
                </c:pt>
                <c:pt idx="6">
                  <c:v>2038</c:v>
                </c:pt>
                <c:pt idx="7">
                  <c:v>2054</c:v>
                </c:pt>
                <c:pt idx="8">
                  <c:v>2060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8590A6"/>
                    </a:solidFill>
                    <a:latin typeface="Arial"/>
                  </a:rPr>
                  <a:t>adet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Günlük Kayıp Süresi (dk)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  <c:pt idx="18">
                    <c:v>08.07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140</c:v>
                </c:pt>
                <c:pt idx="1">
                  <c:v>784</c:v>
                </c:pt>
                <c:pt idx="2">
                  <c:v>1099</c:v>
                </c:pt>
                <c:pt idx="3">
                  <c:v>1456</c:v>
                </c:pt>
                <c:pt idx="4">
                  <c:v>1600</c:v>
                </c:pt>
                <c:pt idx="5">
                  <c:v>826</c:v>
                </c:pt>
                <c:pt idx="6">
                  <c:v>1056</c:v>
                </c:pt>
                <c:pt idx="7">
                  <c:v>937</c:v>
                </c:pt>
                <c:pt idx="8">
                  <c:v>1061</c:v>
                </c:pt>
                <c:pt idx="9">
                  <c:v>903</c:v>
                </c:pt>
                <c:pt idx="10">
                  <c:v>490</c:v>
                </c:pt>
                <c:pt idx="11">
                  <c:v>1322</c:v>
                </c:pt>
                <c:pt idx="12">
                  <c:v>1056</c:v>
                </c:pt>
                <c:pt idx="13">
                  <c:v>986</c:v>
                </c:pt>
                <c:pt idx="14">
                  <c:v>569</c:v>
                </c:pt>
                <c:pt idx="15">
                  <c:v>382</c:v>
                </c:pt>
                <c:pt idx="16">
                  <c:v>475</c:v>
                </c:pt>
                <c:pt idx="17">
                  <c:v>721</c:v>
                </c:pt>
                <c:pt idx="18">
                  <c:v>28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14.06</c:v>
                  </c:pt>
                  <c:pt idx="1">
                    <c:v>15.06</c:v>
                  </c:pt>
                  <c:pt idx="2">
                    <c:v>16.06</c:v>
                  </c:pt>
                  <c:pt idx="3">
                    <c:v>17.06</c:v>
                  </c:pt>
                  <c:pt idx="4">
                    <c:v>18.06</c:v>
                  </c:pt>
                  <c:pt idx="5">
                    <c:v>21.06</c:v>
                  </c:pt>
                  <c:pt idx="6">
                    <c:v>22.06</c:v>
                  </c:pt>
                  <c:pt idx="7">
                    <c:v>23.06</c:v>
                  </c:pt>
                  <c:pt idx="8">
                    <c:v>24.06</c:v>
                  </c:pt>
                  <c:pt idx="9">
                    <c:v>25.06</c:v>
                  </c:pt>
                  <c:pt idx="10">
                    <c:v>28.06</c:v>
                  </c:pt>
                  <c:pt idx="11">
                    <c:v>29.06</c:v>
                  </c:pt>
                  <c:pt idx="12">
                    <c:v>30.06</c:v>
                  </c:pt>
                  <c:pt idx="13">
                    <c:v>01.07</c:v>
                  </c:pt>
                  <c:pt idx="14">
                    <c:v>02.07</c:v>
                  </c:pt>
                  <c:pt idx="15">
                    <c:v>04.07</c:v>
                  </c:pt>
                  <c:pt idx="16">
                    <c:v>05.07</c:v>
                  </c:pt>
                  <c:pt idx="17">
                    <c:v>06.07</c:v>
                  </c:pt>
                  <c:pt idx="18">
                    <c:v>08.07</c:v>
                  </c:pt>
                </c:lvl>
              </c:multiLvlStrCache>
            </c:multiLvlStrRef>
          </c:cat>
          <c:val>
            <c:numRef>
              <c:f>Sheet1!$C$2:$C$20</c:f>
              <c:numCache>
                <c:formatCode>General</c:formatCode>
                <c:ptCount val="19"/>
                <c:pt idx="0">
                  <c:v>1099.1</c:v>
                </c:pt>
                <c:pt idx="1">
                  <c:v>1069.9</c:v>
                </c:pt>
                <c:pt idx="2">
                  <c:v>1040.7</c:v>
                </c:pt>
                <c:pt idx="3">
                  <c:v>1011.5</c:v>
                </c:pt>
                <c:pt idx="4">
                  <c:v>982.3</c:v>
                </c:pt>
                <c:pt idx="5">
                  <c:v>953.1</c:v>
                </c:pt>
                <c:pt idx="6">
                  <c:v>923.9</c:v>
                </c:pt>
                <c:pt idx="7">
                  <c:v>894.8</c:v>
                </c:pt>
                <c:pt idx="8">
                  <c:v>865.6</c:v>
                </c:pt>
                <c:pt idx="9">
                  <c:v>836.4</c:v>
                </c:pt>
                <c:pt idx="10">
                  <c:v>807.2</c:v>
                </c:pt>
                <c:pt idx="11">
                  <c:v>778</c:v>
                </c:pt>
                <c:pt idx="12">
                  <c:v>748.8</c:v>
                </c:pt>
                <c:pt idx="13">
                  <c:v>719.6</c:v>
                </c:pt>
                <c:pt idx="14">
                  <c:v>690.4</c:v>
                </c:pt>
                <c:pt idx="15">
                  <c:v>661.2</c:v>
                </c:pt>
                <c:pt idx="16">
                  <c:v>632</c:v>
                </c:pt>
                <c:pt idx="17">
                  <c:v>602.8</c:v>
                </c:pt>
                <c:pt idx="18">
                  <c:v>573.6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dk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Ortalama Üretim (adet/gün)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  <c:pt idx="20">
                    <c:v>08.07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80</c:v>
                </c:pt>
                <c:pt idx="1">
                  <c:v>112.7</c:v>
                </c:pt>
                <c:pt idx="2">
                  <c:v>72.8</c:v>
                </c:pt>
                <c:pt idx="3">
                  <c:v>85.1</c:v>
                </c:pt>
                <c:pt idx="4">
                  <c:v>80.4</c:v>
                </c:pt>
                <c:pt idx="5">
                  <c:v>125.4</c:v>
                </c:pt>
                <c:pt idx="6">
                  <c:v>114.4</c:v>
                </c:pt>
                <c:pt idx="7">
                  <c:v>119.4</c:v>
                </c:pt>
                <c:pt idx="8">
                  <c:v>98.5</c:v>
                </c:pt>
                <c:pt idx="9">
                  <c:v>107.8</c:v>
                </c:pt>
                <c:pt idx="10">
                  <c:v>117.1</c:v>
                </c:pt>
                <c:pt idx="11">
                  <c:v>107</c:v>
                </c:pt>
                <c:pt idx="12">
                  <c:v>126.4</c:v>
                </c:pt>
                <c:pt idx="13">
                  <c:v>108.6</c:v>
                </c:pt>
                <c:pt idx="14">
                  <c:v>115.9</c:v>
                </c:pt>
                <c:pt idx="15">
                  <c:v>117.8</c:v>
                </c:pt>
                <c:pt idx="16">
                  <c:v>130.8</c:v>
                </c:pt>
                <c:pt idx="17">
                  <c:v>93</c:v>
                </c:pt>
                <c:pt idx="18">
                  <c:v>116.6</c:v>
                </c:pt>
                <c:pt idx="19">
                  <c:v>123.1</c:v>
                </c:pt>
                <c:pt idx="20">
                  <c:v>41.3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13.06</c:v>
                  </c:pt>
                  <c:pt idx="1">
                    <c:v>14.06</c:v>
                  </c:pt>
                  <c:pt idx="2">
                    <c:v>15.06</c:v>
                  </c:pt>
                  <c:pt idx="3">
                    <c:v>16.06</c:v>
                  </c:pt>
                  <c:pt idx="4">
                    <c:v>17.06</c:v>
                  </c:pt>
                  <c:pt idx="5">
                    <c:v>18.06</c:v>
                  </c:pt>
                  <c:pt idx="6">
                    <c:v>21.06</c:v>
                  </c:pt>
                  <c:pt idx="7">
                    <c:v>22.06</c:v>
                  </c:pt>
                  <c:pt idx="8">
                    <c:v>23.06</c:v>
                  </c:pt>
                  <c:pt idx="9">
                    <c:v>24.06</c:v>
                  </c:pt>
                  <c:pt idx="10">
                    <c:v>25.06</c:v>
                  </c:pt>
                  <c:pt idx="11">
                    <c:v>26.06</c:v>
                  </c:pt>
                  <c:pt idx="12">
                    <c:v>28.06</c:v>
                  </c:pt>
                  <c:pt idx="13">
                    <c:v>29.06</c:v>
                  </c:pt>
                  <c:pt idx="14">
                    <c:v>30.06</c:v>
                  </c:pt>
                  <c:pt idx="15">
                    <c:v>01.07</c:v>
                  </c:pt>
                  <c:pt idx="16">
                    <c:v>02.07</c:v>
                  </c:pt>
                  <c:pt idx="17">
                    <c:v>04.07</c:v>
                  </c:pt>
                  <c:pt idx="18">
                    <c:v>05.07</c:v>
                  </c:pt>
                  <c:pt idx="19">
                    <c:v>06.07</c:v>
                  </c:pt>
                  <c:pt idx="20">
                    <c:v>08.07</c:v>
                  </c:pt>
                </c:lvl>
              </c:multiLvlStrCache>
            </c:multiLvlStrRef>
          </c:cat>
          <c:val>
            <c:numRef>
              <c:f>Sheet1!$C$2:$C$22</c:f>
              <c:numCache>
                <c:formatCode>General</c:formatCode>
                <c:ptCount val="21"/>
                <c:pt idx="0">
                  <c:v>99.2</c:v>
                </c:pt>
                <c:pt idx="1">
                  <c:v>99.7</c:v>
                </c:pt>
                <c:pt idx="2">
                  <c:v>100.3</c:v>
                </c:pt>
                <c:pt idx="3">
                  <c:v>100.8</c:v>
                </c:pt>
                <c:pt idx="4">
                  <c:v>101.3</c:v>
                </c:pt>
                <c:pt idx="5">
                  <c:v>101.8</c:v>
                </c:pt>
                <c:pt idx="6">
                  <c:v>102.4</c:v>
                </c:pt>
                <c:pt idx="7">
                  <c:v>102.9</c:v>
                </c:pt>
                <c:pt idx="8">
                  <c:v>103.4</c:v>
                </c:pt>
                <c:pt idx="9">
                  <c:v>104</c:v>
                </c:pt>
                <c:pt idx="10">
                  <c:v>104.5</c:v>
                </c:pt>
                <c:pt idx="11">
                  <c:v>105</c:v>
                </c:pt>
                <c:pt idx="12">
                  <c:v>105.5</c:v>
                </c:pt>
                <c:pt idx="13">
                  <c:v>106.1</c:v>
                </c:pt>
                <c:pt idx="14">
                  <c:v>106.6</c:v>
                </c:pt>
                <c:pt idx="15">
                  <c:v>107.1</c:v>
                </c:pt>
                <c:pt idx="16">
                  <c:v>107.6</c:v>
                </c:pt>
                <c:pt idx="17">
                  <c:v>108.2</c:v>
                </c:pt>
                <c:pt idx="18">
                  <c:v>108.7</c:v>
                </c:pt>
                <c:pt idx="19">
                  <c:v>109.2</c:v>
                </c:pt>
                <c:pt idx="20">
                  <c:v>109.7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8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850" b="0" i="0" u="none" strike="noStrike">
                    <a:solidFill>
                      <a:srgbClr val="8590A6"/>
                    </a:solidFill>
                    <a:latin typeface="Arial"/>
                  </a:rPr>
                  <a:t>adet/gün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5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Kalite Durumu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803D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B91C1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Uygun</c:v>
                </c:pt>
                <c:pt idx="1">
                  <c:v>Rework</c:v>
                </c:pt>
                <c:pt idx="2">
                  <c:v>Ret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783</c:v>
                </c:pt>
                <c:pt idx="1">
                  <c:v>212</c:v>
                </c:pt>
                <c:pt idx="2">
                  <c:v>120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Uygunluk (Okey + Rework) Oranı %</c:v>
                </c:pt>
              </c:strCache>
            </c:strRef>
          </c:tx>
          <c:spPr>
            <a:solidFill>
              <a:srgbClr val="1E2761"/>
            </a:solidFill>
            <a:ln w="31750" cap="flat">
              <a:solidFill>
                <a:srgbClr val="1E2761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E2761"/>
              </a:solidFill>
              <a:ln w="9525" cap="flat">
                <a:solidFill>
                  <a:srgbClr val="1E2761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71.4</c:v>
                </c:pt>
                <c:pt idx="1">
                  <c:v>81.8</c:v>
                </c:pt>
                <c:pt idx="2">
                  <c:v>91.2</c:v>
                </c:pt>
                <c:pt idx="3">
                  <c:v>92</c:v>
                </c:pt>
                <c:pt idx="4">
                  <c:v>76</c:v>
                </c:pt>
                <c:pt idx="5">
                  <c:v>50.5</c:v>
                </c:pt>
                <c:pt idx="6">
                  <c:v>93.5</c:v>
                </c:pt>
                <c:pt idx="7">
                  <c:v>93.3</c:v>
                </c:pt>
                <c:pt idx="8">
                  <c:v>87.7</c:v>
                </c:pt>
                <c:pt idx="9">
                  <c:v>94.7</c:v>
                </c:pt>
                <c:pt idx="10">
                  <c:v>95</c:v>
                </c:pt>
                <c:pt idx="11">
                  <c:v>95.3</c:v>
                </c:pt>
                <c:pt idx="12">
                  <c:v>97.1</c:v>
                </c:pt>
                <c:pt idx="13">
                  <c:v>98.1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Genel Trend</c:v>
                </c:pt>
              </c:strCache>
            </c:strRef>
          </c:tx>
          <c:spPr>
            <a:solidFill>
              <a:srgbClr val="B45309"/>
            </a:solidFill>
            <a:ln w="3175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Sheet1!$A$2:$A$15</c:f>
              <c:multiLvlStrCache>
                <c:ptCount val="14"/>
                <c:lvl>
                  <c:pt idx="0">
                    <c:v>17.06</c:v>
                  </c:pt>
                  <c:pt idx="1">
                    <c:v>21.06</c:v>
                  </c:pt>
                  <c:pt idx="2">
                    <c:v>25.06</c:v>
                  </c:pt>
                  <c:pt idx="3">
                    <c:v>26.06</c:v>
                  </c:pt>
                  <c:pt idx="4">
                    <c:v>27.06</c:v>
                  </c:pt>
                  <c:pt idx="5">
                    <c:v>28.06</c:v>
                  </c:pt>
                  <c:pt idx="6">
                    <c:v>29.06</c:v>
                  </c:pt>
                  <c:pt idx="7">
                    <c:v>30.06</c:v>
                  </c:pt>
                  <c:pt idx="8">
                    <c:v>01.07</c:v>
                  </c:pt>
                  <c:pt idx="9">
                    <c:v>02.07</c:v>
                  </c:pt>
                  <c:pt idx="10">
                    <c:v>04.07</c:v>
                  </c:pt>
                  <c:pt idx="11">
                    <c:v>05.07</c:v>
                  </c:pt>
                  <c:pt idx="12">
                    <c:v>06.07</c:v>
                  </c:pt>
                  <c:pt idx="13">
                    <c:v>07.07</c:v>
                  </c:pt>
                </c:lvl>
              </c:multiLvlStrCache>
            </c:multiLvl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75.9</c:v>
                </c:pt>
                <c:pt idx="1">
                  <c:v>77.6</c:v>
                </c:pt>
                <c:pt idx="2">
                  <c:v>79.3</c:v>
                </c:pt>
                <c:pt idx="3">
                  <c:v>81</c:v>
                </c:pt>
                <c:pt idx="4">
                  <c:v>82.7</c:v>
                </c:pt>
                <c:pt idx="5">
                  <c:v>84.4</c:v>
                </c:pt>
                <c:pt idx="6">
                  <c:v>86.1</c:v>
                </c:pt>
                <c:pt idx="7">
                  <c:v>87.8</c:v>
                </c:pt>
                <c:pt idx="8">
                  <c:v>89.5</c:v>
                </c:pt>
                <c:pt idx="9">
                  <c:v>91.2</c:v>
                </c:pt>
                <c:pt idx="10">
                  <c:v>93</c:v>
                </c:pt>
                <c:pt idx="11">
                  <c:v>94.7</c:v>
                </c:pt>
                <c:pt idx="12">
                  <c:v>96.4</c:v>
                </c:pt>
                <c:pt idx="13">
                  <c:v>98.1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0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00" b="0" i="0" u="none" strike="noStrike">
                    <a:solidFill>
                      <a:srgbClr val="8590A6"/>
                    </a:solidFill>
                    <a:latin typeface="Arial"/>
                  </a:rPr>
                  <a:t>%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8590A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Duruş Süresi (dk)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E276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94A3B8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2829</c:v>
                </c:pt>
                <c:pt idx="1">
                  <c:v>2288</c:v>
                </c:pt>
                <c:pt idx="2">
                  <c:v>2273</c:v>
                </c:pt>
                <c:pt idx="3">
                  <c:v>2094</c:v>
                </c:pt>
                <c:pt idx="4">
                  <c:v>2021</c:v>
                </c:pt>
                <c:pt idx="5">
                  <c:v>1826</c:v>
                </c:pt>
                <c:pt idx="6">
                  <c:v>1680</c:v>
                </c:pt>
                <c:pt idx="7">
                  <c:v>1479</c:v>
                </c:pt>
                <c:pt idx="8">
                  <c:v>672</c:v>
                </c:pt>
                <c:pt idx="9">
                  <c:v>544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Olay Sayısı</c:v>
                </c:pt>
              </c:strCache>
            </c:strRef>
          </c:tx>
          <c:spPr>
            <a:solidFill>
              <a:srgbClr val="B45309"/>
            </a:solidFill>
            <a:ln w="25400" cap="flat">
              <a:solidFill>
                <a:srgbClr val="B4530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45309"/>
              </a:solidFill>
              <a:ln w="9525" cap="flat">
                <a:solidFill>
                  <a:srgbClr val="B4530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Pres</c:v>
                  </c:pt>
                  <c:pt idx="1">
                    <c:v>N602</c:v>
                  </c:pt>
                  <c:pt idx="2">
                    <c:v>ROB110-111</c:v>
                  </c:pt>
                  <c:pt idx="3">
                    <c:v>Flowform</c:v>
                  </c:pt>
                  <c:pt idx="4">
                    <c:v>ROB108</c:v>
                  </c:pt>
                  <c:pt idx="5">
                    <c:v>ROB104</c:v>
                  </c:pt>
                  <c:pt idx="6">
                    <c:v>Quench</c:v>
                  </c:pt>
                  <c:pt idx="7">
                    <c:v>ROB109</c:v>
                  </c:pt>
                  <c:pt idx="8">
                    <c:v>ETM</c:v>
                  </c:pt>
                  <c:pt idx="9">
                    <c:v>N603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86</c:v>
                </c:pt>
                <c:pt idx="1">
                  <c:v>93</c:v>
                </c:pt>
                <c:pt idx="2">
                  <c:v>81</c:v>
                </c:pt>
                <c:pt idx="3">
                  <c:v>80</c:v>
                </c:pt>
                <c:pt idx="4">
                  <c:v>84</c:v>
                </c:pt>
                <c:pt idx="5">
                  <c:v>73</c:v>
                </c:pt>
                <c:pt idx="6">
                  <c:v>6</c:v>
                </c:pt>
                <c:pt idx="7">
                  <c:v>121</c:v>
                </c:pt>
                <c:pt idx="8">
                  <c:v>42</c:v>
                </c:pt>
                <c:pt idx="9">
                  <c:v>14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8DEEC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Duruş Süresi (dk)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in val="0"/>
        </c:scaling>
        <c:delete val="0"/>
        <c:axPos val="r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950" b="0" i="0" u="none" strike="noStrike">
                    <a:solidFill>
                      <a:srgbClr val="8590A6"/>
                    </a:solidFill>
                    <a:latin typeface="Arial"/>
                  </a:defRPr>
                </a:pPr>
                <a:r>
                  <a:rPr sz="950" b="0" i="0" u="none" strike="noStrike">
                    <a:solidFill>
                      <a:srgbClr val="8590A6"/>
                    </a:solidFill>
                    <a:latin typeface="Arial"/>
                  </a:rPr>
                  <a:t>Olay Sayısı (Adet)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Kayıp Süresi (dk)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B45309"/>
              </a:solidFill>
              <a:effectLst/>
            </c:spPr>
          </c:dPt>
          <c:dPt>
            <c:idx val="2"/>
            <c:bubble3D val="0"/>
            <c:spPr>
              <a:solidFill>
                <a:srgbClr val="15803D"/>
              </a:solidFill>
              <a:effectLst/>
            </c:spPr>
          </c:dPt>
          <c:dPt>
            <c:idx val="3"/>
            <c:bubble3D val="0"/>
            <c:spPr>
              <a:solidFill>
                <a:srgbClr val="475569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Pt>
            <c:idx val="5"/>
            <c:bubble3D val="0"/>
            <c:spPr>
              <a:solidFill>
                <a:srgbClr val="CBD5E1"/>
              </a:solidFill>
              <a:effectLst/>
            </c:spPr>
          </c:dPt>
          <c:dPt>
            <c:idx val="6"/>
            <c:bubble3D val="0"/>
            <c:spPr>
              <a:solidFill>
                <a:srgbClr val="E2E8F0"/>
              </a:solidFill>
              <a:effectLst/>
            </c:spPr>
          </c:dPt>
          <c:dPt>
            <c:idx val="7"/>
            <c:bubble3D val="0"/>
            <c:spPr>
              <a:solidFill>
                <a:srgbClr val="CBD5E1"/>
              </a:solidFill>
              <a:effectLst/>
            </c:spPr>
          </c:dPt>
          <c:dPt>
            <c:idx val="8"/>
            <c:bubble3D val="0"/>
            <c:spPr>
              <a:solidFill>
                <a:srgbClr val="15803D"/>
              </a:solidFill>
              <a:effectLst/>
            </c:spPr>
          </c:dPt>
          <c:dPt>
            <c:idx val="9"/>
            <c:bubble3D val="0"/>
            <c:spPr>
              <a:solidFill>
                <a:srgbClr val="1E276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9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Sheet1!$A$2:$A$11</c:f>
              <c:strCache>
                <c:ptCount val="10"/>
                <c:pt idx="0">
                  <c:v>Mekanik Arıza</c:v>
                </c:pt>
                <c:pt idx="1">
                  <c:v>Takım / Kalıp Değişimi</c:v>
                </c:pt>
                <c:pt idx="2">
                  <c:v>Elektrik Arıza</c:v>
                </c:pt>
                <c:pt idx="3">
                  <c:v>Müşteri Kaynaklı</c:v>
                </c:pt>
                <c:pt idx="4">
                  <c:v>Akışkan Arıza</c:v>
                </c:pt>
                <c:pt idx="5">
                  <c:v>Setup / Ayar</c:v>
                </c:pt>
                <c:pt idx="6">
                  <c:v>Diğer</c:v>
                </c:pt>
                <c:pt idx="7">
                  <c:v>Yardımcı Süreç Kayıpları</c:v>
                </c:pt>
                <c:pt idx="8">
                  <c:v>Kalite Kaynaklı</c:v>
                </c:pt>
                <c:pt idx="9">
                  <c:v>Müşteri / Kalite</c:v>
                </c:pt>
              </c:strCache>
            </c:strRef>
          </c:cat>
          <c:val>
            <c:numRef>
              <c:f>Sheet1!$B$2:$B$11</c:f>
              <c:numCache>
                <c:ptCount val="10"/>
                <c:pt idx="0">
                  <c:v>3754</c:v>
                </c:pt>
                <c:pt idx="1">
                  <c:v>3328</c:v>
                </c:pt>
                <c:pt idx="2">
                  <c:v>2440</c:v>
                </c:pt>
                <c:pt idx="3">
                  <c:v>2174</c:v>
                </c:pt>
                <c:pt idx="4">
                  <c:v>2063</c:v>
                </c:pt>
                <c:pt idx="5">
                  <c:v>1814</c:v>
                </c:pt>
                <c:pt idx="6">
                  <c:v>1122</c:v>
                </c:pt>
                <c:pt idx="7">
                  <c:v>648</c:v>
                </c:pt>
                <c:pt idx="8">
                  <c:v>343</c:v>
                </c:pt>
                <c:pt idx="9">
                  <c:v>20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5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Durum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B45309"/>
              </a:solidFill>
              <a:effectLst/>
            </c:spPr>
          </c:dPt>
          <c:dPt>
            <c:idx val="1"/>
            <c:bubble3D val="0"/>
            <c:spPr>
              <a:solidFill>
                <a:srgbClr val="15803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Açık</c:v>
                </c:pt>
                <c:pt idx="1">
                  <c:v>Tamamlandı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60</c:v>
                </c:pt>
                <c:pt idx="1">
                  <c:v>14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475569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1" Type="http://schemas.openxmlformats.org/officeDocument/2006/relationships/image" Target="../media/image-4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12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5943600" cy="5943600"/>
          </a:xfrm>
          <a:prstGeom prst="ellipse">
            <a:avLst/>
          </a:prstGeom>
          <a:solidFill>
            <a:srgbClr val="1E2761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377440" y="4206240"/>
            <a:ext cx="4572000" cy="4572000"/>
          </a:xfrm>
          <a:prstGeom prst="ellipse">
            <a:avLst/>
          </a:prstGeom>
          <a:solidFill>
            <a:srgbClr val="1E2761">
              <a:alpha val="45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CADCFC">
              <a:alpha val="90000"/>
            </a:srgbClr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4128" y="1115568"/>
            <a:ext cx="420624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1031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REPKON HF901 · SERİ ÜRETİM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2514600"/>
            <a:ext cx="10058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Performans Raporu</a:t>
            </a:r>
            <a:endParaRPr lang="en-US" sz="4400" dirty="0"/>
          </a:p>
        </p:txBody>
      </p:sp>
      <p:sp>
        <p:nvSpPr>
          <p:cNvPr id="8" name="Shape 5"/>
          <p:cNvSpPr/>
          <p:nvPr/>
        </p:nvSpPr>
        <p:spPr>
          <a:xfrm>
            <a:off x="822960" y="4892040"/>
            <a:ext cx="201168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Hücre Bazlı Üretim Adetleri (Haziran–Temmuz)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1732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Üretim Adedi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10424160" y="3529584"/>
            <a:ext cx="109728" cy="109728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" name="Text 4"/>
          <p:cNvSpPr/>
          <p:nvPr/>
        </p:nvSpPr>
        <p:spPr>
          <a:xfrm>
            <a:off x="10607040" y="347472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Nisan–Mayıs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10424160" y="3849624"/>
            <a:ext cx="109728" cy="109728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" name="Text 6"/>
          <p:cNvSpPr/>
          <p:nvPr/>
        </p:nvSpPr>
        <p:spPr>
          <a:xfrm>
            <a:off x="10607040" y="3794760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Haziran–Temmuz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10424160" y="4169664"/>
            <a:ext cx="109728" cy="109728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1" name="Text 8"/>
          <p:cNvSpPr/>
          <p:nvPr/>
        </p:nvSpPr>
        <p:spPr>
          <a:xfrm>
            <a:off x="10607040" y="411480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Hedef (Günlük 200)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2743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377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4457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091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6172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8064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8867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520940" y="562356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9601200" y="1645920"/>
            <a:ext cx="0" cy="3931920"/>
          </a:xfrm>
          <a:prstGeom prst="line">
            <a:avLst/>
          </a:prstGeom>
          <a:noFill/>
          <a:ln w="12700">
            <a:solidFill>
              <a:srgbClr val="D8DEE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869680" y="5623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adet/gün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17190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537835" y="1828800"/>
            <a:ext cx="155333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091172" y="1828800"/>
            <a:ext cx="251002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473827" y="176479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6" name="Shape 23"/>
          <p:cNvSpPr/>
          <p:nvPr/>
        </p:nvSpPr>
        <p:spPr>
          <a:xfrm>
            <a:off x="7027164" y="17647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7" name="Shape 24"/>
          <p:cNvSpPr/>
          <p:nvPr/>
        </p:nvSpPr>
        <p:spPr>
          <a:xfrm>
            <a:off x="9537192" y="176479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28" name="Text 25"/>
          <p:cNvSpPr/>
          <p:nvPr/>
        </p:nvSpPr>
        <p:spPr>
          <a:xfrm>
            <a:off x="5080635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81.5</a:t>
            </a:r>
            <a:endParaRPr lang="en-US" sz="850" dirty="0"/>
          </a:p>
        </p:txBody>
      </p:sp>
      <p:sp>
        <p:nvSpPr>
          <p:cNvPr id="29" name="Text 26"/>
          <p:cNvSpPr/>
          <p:nvPr/>
        </p:nvSpPr>
        <p:spPr>
          <a:xfrm>
            <a:off x="6633972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126.8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5857304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+56%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888986" y="159105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+%58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548640" y="206654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ETM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4505706" y="2176272"/>
            <a:ext cx="284264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348347" y="2176272"/>
            <a:ext cx="225285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41698" y="211226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6" name="Shape 33"/>
          <p:cNvSpPr/>
          <p:nvPr/>
        </p:nvSpPr>
        <p:spPr>
          <a:xfrm>
            <a:off x="7284339" y="211226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7" name="Shape 34"/>
          <p:cNvSpPr/>
          <p:nvPr/>
        </p:nvSpPr>
        <p:spPr>
          <a:xfrm>
            <a:off x="9537192" y="211226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38" name="Text 35"/>
          <p:cNvSpPr/>
          <p:nvPr/>
        </p:nvSpPr>
        <p:spPr>
          <a:xfrm>
            <a:off x="4048506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</a:t>
            </a:r>
            <a:endParaRPr lang="en-US" sz="850" dirty="0"/>
          </a:p>
        </p:txBody>
      </p:sp>
      <p:sp>
        <p:nvSpPr>
          <p:cNvPr id="39" name="Text 36"/>
          <p:cNvSpPr/>
          <p:nvPr/>
        </p:nvSpPr>
        <p:spPr>
          <a:xfrm>
            <a:off x="689114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134.3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5469827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+161%</a:t>
            </a:r>
            <a:endParaRPr lang="en-US" sz="900" dirty="0"/>
          </a:p>
        </p:txBody>
      </p:sp>
      <p:sp>
        <p:nvSpPr>
          <p:cNvPr id="41" name="Text 38"/>
          <p:cNvSpPr/>
          <p:nvPr/>
        </p:nvSpPr>
        <p:spPr>
          <a:xfrm>
            <a:off x="8017574" y="193852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+%49</a:t>
            </a:r>
            <a:endParaRPr lang="en-US" sz="900" dirty="0"/>
          </a:p>
        </p:txBody>
      </p:sp>
      <p:sp>
        <p:nvSpPr>
          <p:cNvPr id="42" name="Text 39"/>
          <p:cNvSpPr/>
          <p:nvPr/>
        </p:nvSpPr>
        <p:spPr>
          <a:xfrm>
            <a:off x="548640" y="241401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ROB108</a:t>
            </a:r>
            <a:endParaRPr lang="en-US" sz="1200" dirty="0"/>
          </a:p>
        </p:txBody>
      </p:sp>
      <p:sp>
        <p:nvSpPr>
          <p:cNvPr id="43" name="Shape 40"/>
          <p:cNvSpPr/>
          <p:nvPr/>
        </p:nvSpPr>
        <p:spPr>
          <a:xfrm>
            <a:off x="4265676" y="2523744"/>
            <a:ext cx="229743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563106" y="2523744"/>
            <a:ext cx="3038094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4201668" y="245973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46" name="Shape 43"/>
          <p:cNvSpPr/>
          <p:nvPr/>
        </p:nvSpPr>
        <p:spPr>
          <a:xfrm>
            <a:off x="6499098" y="245973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47" name="Shape 44"/>
          <p:cNvSpPr/>
          <p:nvPr/>
        </p:nvSpPr>
        <p:spPr>
          <a:xfrm>
            <a:off x="9537192" y="245973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48" name="Text 45"/>
          <p:cNvSpPr/>
          <p:nvPr/>
        </p:nvSpPr>
        <p:spPr>
          <a:xfrm>
            <a:off x="380847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44.4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6105906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111.4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4957191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+151%</a:t>
            </a:r>
            <a:endParaRPr lang="en-US" sz="900" dirty="0"/>
          </a:p>
        </p:txBody>
      </p:sp>
      <p:sp>
        <p:nvSpPr>
          <p:cNvPr id="51" name="Text 48"/>
          <p:cNvSpPr/>
          <p:nvPr/>
        </p:nvSpPr>
        <p:spPr>
          <a:xfrm>
            <a:off x="7624953" y="22860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+%80</a:t>
            </a:r>
            <a:endParaRPr lang="en-US" sz="900" dirty="0"/>
          </a:p>
        </p:txBody>
      </p:sp>
      <p:sp>
        <p:nvSpPr>
          <p:cNvPr id="52" name="Text 49"/>
          <p:cNvSpPr/>
          <p:nvPr/>
        </p:nvSpPr>
        <p:spPr>
          <a:xfrm>
            <a:off x="548640" y="27614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Flowform</a:t>
            </a:r>
            <a:endParaRPr lang="en-US" sz="1200" dirty="0"/>
          </a:p>
        </p:txBody>
      </p:sp>
      <p:sp>
        <p:nvSpPr>
          <p:cNvPr id="53" name="Shape 50"/>
          <p:cNvSpPr/>
          <p:nvPr/>
        </p:nvSpPr>
        <p:spPr>
          <a:xfrm>
            <a:off x="4310253" y="2871216"/>
            <a:ext cx="222542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35674" y="2871216"/>
            <a:ext cx="306552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46245" y="280720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56" name="Shape 53"/>
          <p:cNvSpPr/>
          <p:nvPr/>
        </p:nvSpPr>
        <p:spPr>
          <a:xfrm>
            <a:off x="6471666" y="280720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57" name="Shape 54"/>
          <p:cNvSpPr/>
          <p:nvPr/>
        </p:nvSpPr>
        <p:spPr>
          <a:xfrm>
            <a:off x="9537192" y="280720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58" name="Text 55"/>
          <p:cNvSpPr/>
          <p:nvPr/>
        </p:nvSpPr>
        <p:spPr>
          <a:xfrm>
            <a:off x="385305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45.7</a:t>
            </a:r>
            <a:endParaRPr lang="en-US" sz="850" dirty="0"/>
          </a:p>
        </p:txBody>
      </p:sp>
      <p:sp>
        <p:nvSpPr>
          <p:cNvPr id="59" name="Text 56"/>
          <p:cNvSpPr/>
          <p:nvPr/>
        </p:nvSpPr>
        <p:spPr>
          <a:xfrm>
            <a:off x="6078474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110.6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4965763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7611237" y="263347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548640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ROB104</a:t>
            </a:r>
            <a:endParaRPr lang="en-US" sz="1200" dirty="0"/>
          </a:p>
        </p:txBody>
      </p:sp>
      <p:sp>
        <p:nvSpPr>
          <p:cNvPr id="63" name="Shape 60"/>
          <p:cNvSpPr/>
          <p:nvPr/>
        </p:nvSpPr>
        <p:spPr>
          <a:xfrm>
            <a:off x="4248531" y="3218688"/>
            <a:ext cx="2132838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6381369" y="3218688"/>
            <a:ext cx="3219831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4184523" y="3154680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66" name="Shape 63"/>
          <p:cNvSpPr/>
          <p:nvPr/>
        </p:nvSpPr>
        <p:spPr>
          <a:xfrm>
            <a:off x="6317361" y="3154680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67" name="Shape 64"/>
          <p:cNvSpPr/>
          <p:nvPr/>
        </p:nvSpPr>
        <p:spPr>
          <a:xfrm>
            <a:off x="9537192" y="3154680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68" name="Text 65"/>
          <p:cNvSpPr/>
          <p:nvPr/>
        </p:nvSpPr>
        <p:spPr>
          <a:xfrm>
            <a:off x="3791331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43.9</a:t>
            </a:r>
            <a:endParaRPr lang="en-US" sz="850" dirty="0"/>
          </a:p>
        </p:txBody>
      </p:sp>
      <p:sp>
        <p:nvSpPr>
          <p:cNvPr id="69" name="Text 66"/>
          <p:cNvSpPr/>
          <p:nvPr/>
        </p:nvSpPr>
        <p:spPr>
          <a:xfrm>
            <a:off x="5924169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106.1</a:t>
            </a:r>
            <a:endParaRPr lang="en-US" sz="850" dirty="0"/>
          </a:p>
        </p:txBody>
      </p:sp>
      <p:sp>
        <p:nvSpPr>
          <p:cNvPr id="70" name="Text 67"/>
          <p:cNvSpPr/>
          <p:nvPr/>
        </p:nvSpPr>
        <p:spPr>
          <a:xfrm>
            <a:off x="4857750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+142%</a:t>
            </a:r>
            <a:endParaRPr lang="en-US" sz="900" dirty="0"/>
          </a:p>
        </p:txBody>
      </p:sp>
      <p:sp>
        <p:nvSpPr>
          <p:cNvPr id="71" name="Text 68"/>
          <p:cNvSpPr/>
          <p:nvPr/>
        </p:nvSpPr>
        <p:spPr>
          <a:xfrm>
            <a:off x="7534084" y="2980944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+%89</a:t>
            </a:r>
            <a:endParaRPr lang="en-US" sz="900" dirty="0"/>
          </a:p>
        </p:txBody>
      </p:sp>
      <p:sp>
        <p:nvSpPr>
          <p:cNvPr id="72" name="Text 69"/>
          <p:cNvSpPr/>
          <p:nvPr/>
        </p:nvSpPr>
        <p:spPr>
          <a:xfrm>
            <a:off x="548640" y="345643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N602-603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4197096" y="3566160"/>
            <a:ext cx="1848231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045327" y="3566160"/>
            <a:ext cx="3555873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75" name="Shape 72"/>
          <p:cNvSpPr/>
          <p:nvPr/>
        </p:nvSpPr>
        <p:spPr>
          <a:xfrm>
            <a:off x="4133088" y="3502152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76" name="Shape 73"/>
          <p:cNvSpPr/>
          <p:nvPr/>
        </p:nvSpPr>
        <p:spPr>
          <a:xfrm>
            <a:off x="5981319" y="350215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7" name="Shape 74"/>
          <p:cNvSpPr/>
          <p:nvPr/>
        </p:nvSpPr>
        <p:spPr>
          <a:xfrm>
            <a:off x="9537192" y="3502152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78" name="Text 75"/>
          <p:cNvSpPr/>
          <p:nvPr/>
        </p:nvSpPr>
        <p:spPr>
          <a:xfrm>
            <a:off x="3739896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42.4</a:t>
            </a:r>
            <a:endParaRPr lang="en-US" sz="850" dirty="0"/>
          </a:p>
        </p:txBody>
      </p:sp>
      <p:sp>
        <p:nvSpPr>
          <p:cNvPr id="79" name="Text 76"/>
          <p:cNvSpPr/>
          <p:nvPr/>
        </p:nvSpPr>
        <p:spPr>
          <a:xfrm>
            <a:off x="5588127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96.3</a:t>
            </a:r>
            <a:endParaRPr lang="en-US" sz="850" dirty="0"/>
          </a:p>
        </p:txBody>
      </p:sp>
      <p:sp>
        <p:nvSpPr>
          <p:cNvPr id="80" name="Text 77"/>
          <p:cNvSpPr/>
          <p:nvPr/>
        </p:nvSpPr>
        <p:spPr>
          <a:xfrm>
            <a:off x="4664012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+127%</a:t>
            </a:r>
            <a:endParaRPr lang="en-US" sz="900" dirty="0"/>
          </a:p>
        </p:txBody>
      </p:sp>
      <p:sp>
        <p:nvSpPr>
          <p:cNvPr id="81" name="Text 78"/>
          <p:cNvSpPr/>
          <p:nvPr/>
        </p:nvSpPr>
        <p:spPr>
          <a:xfrm>
            <a:off x="7366063" y="332841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+%108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548640" y="380390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ROB109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4077081" y="3913632"/>
            <a:ext cx="2060829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84" name="Shape 81"/>
          <p:cNvSpPr/>
          <p:nvPr/>
        </p:nvSpPr>
        <p:spPr>
          <a:xfrm>
            <a:off x="6137910" y="3913632"/>
            <a:ext cx="3463290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85" name="Shape 82"/>
          <p:cNvSpPr/>
          <p:nvPr/>
        </p:nvSpPr>
        <p:spPr>
          <a:xfrm>
            <a:off x="4013073" y="3849624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86" name="Shape 83"/>
          <p:cNvSpPr/>
          <p:nvPr/>
        </p:nvSpPr>
        <p:spPr>
          <a:xfrm>
            <a:off x="6073902" y="384962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87" name="Shape 84"/>
          <p:cNvSpPr/>
          <p:nvPr/>
        </p:nvSpPr>
        <p:spPr>
          <a:xfrm>
            <a:off x="9537192" y="3849624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88" name="Text 85"/>
          <p:cNvSpPr/>
          <p:nvPr/>
        </p:nvSpPr>
        <p:spPr>
          <a:xfrm>
            <a:off x="3619881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38.9</a:t>
            </a:r>
            <a:endParaRPr lang="en-US" sz="850" dirty="0"/>
          </a:p>
        </p:txBody>
      </p:sp>
      <p:sp>
        <p:nvSpPr>
          <p:cNvPr id="89" name="Text 86"/>
          <p:cNvSpPr/>
          <p:nvPr/>
        </p:nvSpPr>
        <p:spPr>
          <a:xfrm>
            <a:off x="5680710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99.0</a:t>
            </a:r>
            <a:endParaRPr lang="en-US" sz="850" dirty="0"/>
          </a:p>
        </p:txBody>
      </p:sp>
      <p:sp>
        <p:nvSpPr>
          <p:cNvPr id="90" name="Text 87"/>
          <p:cNvSpPr/>
          <p:nvPr/>
        </p:nvSpPr>
        <p:spPr>
          <a:xfrm>
            <a:off x="4650296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+154%</a:t>
            </a:r>
            <a:endParaRPr lang="en-US" sz="900" dirty="0"/>
          </a:p>
        </p:txBody>
      </p:sp>
      <p:sp>
        <p:nvSpPr>
          <p:cNvPr id="91" name="Text 88"/>
          <p:cNvSpPr/>
          <p:nvPr/>
        </p:nvSpPr>
        <p:spPr>
          <a:xfrm>
            <a:off x="7412355" y="3675888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+%102</a:t>
            </a:r>
            <a:endParaRPr lang="en-US" sz="900" dirty="0"/>
          </a:p>
        </p:txBody>
      </p:sp>
      <p:sp>
        <p:nvSpPr>
          <p:cNvPr id="92" name="Text 89"/>
          <p:cNvSpPr/>
          <p:nvPr/>
        </p:nvSpPr>
        <p:spPr>
          <a:xfrm>
            <a:off x="548640" y="415137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Quench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4186809" y="4261104"/>
            <a:ext cx="1903095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94" name="Shape 91"/>
          <p:cNvSpPr/>
          <p:nvPr/>
        </p:nvSpPr>
        <p:spPr>
          <a:xfrm>
            <a:off x="6089904" y="4261104"/>
            <a:ext cx="3511296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95" name="Shape 92"/>
          <p:cNvSpPr/>
          <p:nvPr/>
        </p:nvSpPr>
        <p:spPr>
          <a:xfrm>
            <a:off x="4122801" y="4197096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96" name="Shape 93"/>
          <p:cNvSpPr/>
          <p:nvPr/>
        </p:nvSpPr>
        <p:spPr>
          <a:xfrm>
            <a:off x="6025896" y="419709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97" name="Shape 94"/>
          <p:cNvSpPr/>
          <p:nvPr/>
        </p:nvSpPr>
        <p:spPr>
          <a:xfrm>
            <a:off x="9537192" y="4197096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98" name="Text 95"/>
          <p:cNvSpPr/>
          <p:nvPr/>
        </p:nvSpPr>
        <p:spPr>
          <a:xfrm>
            <a:off x="3729609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42.1</a:t>
            </a:r>
            <a:endParaRPr lang="en-US" sz="850" dirty="0"/>
          </a:p>
        </p:txBody>
      </p:sp>
      <p:sp>
        <p:nvSpPr>
          <p:cNvPr id="99" name="Text 96"/>
          <p:cNvSpPr/>
          <p:nvPr/>
        </p:nvSpPr>
        <p:spPr>
          <a:xfrm>
            <a:off x="5632704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97.6</a:t>
            </a:r>
            <a:endParaRPr lang="en-US" sz="850" dirty="0"/>
          </a:p>
        </p:txBody>
      </p:sp>
      <p:sp>
        <p:nvSpPr>
          <p:cNvPr id="100" name="Text 97"/>
          <p:cNvSpPr/>
          <p:nvPr/>
        </p:nvSpPr>
        <p:spPr>
          <a:xfrm>
            <a:off x="4681157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+132%</a:t>
            </a:r>
            <a:endParaRPr lang="en-US" sz="900" dirty="0"/>
          </a:p>
        </p:txBody>
      </p:sp>
      <p:sp>
        <p:nvSpPr>
          <p:cNvPr id="101" name="Text 98"/>
          <p:cNvSpPr/>
          <p:nvPr/>
        </p:nvSpPr>
        <p:spPr>
          <a:xfrm>
            <a:off x="7388352" y="40233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+%105</a:t>
            </a:r>
            <a:endParaRPr lang="en-US" sz="900" dirty="0"/>
          </a:p>
        </p:txBody>
      </p:sp>
      <p:sp>
        <p:nvSpPr>
          <p:cNvPr id="102" name="Text 99"/>
          <p:cNvSpPr/>
          <p:nvPr/>
        </p:nvSpPr>
        <p:spPr>
          <a:xfrm>
            <a:off x="548640" y="44988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41B4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ROB110-111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3994785" y="4608576"/>
            <a:ext cx="2342007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</a:ln>
        </p:spPr>
      </p:sp>
      <p:sp>
        <p:nvSpPr>
          <p:cNvPr id="104" name="Shape 101"/>
          <p:cNvSpPr/>
          <p:nvPr/>
        </p:nvSpPr>
        <p:spPr>
          <a:xfrm>
            <a:off x="6336792" y="4608576"/>
            <a:ext cx="3264408" cy="0"/>
          </a:xfrm>
          <a:prstGeom prst="line">
            <a:avLst/>
          </a:prstGeom>
          <a:noFill/>
          <a:ln w="19050">
            <a:solidFill>
              <a:srgbClr val="B91C1C"/>
            </a:solidFill>
            <a:prstDash val="solid"/>
          </a:ln>
        </p:spPr>
      </p:sp>
      <p:sp>
        <p:nvSpPr>
          <p:cNvPr id="105" name="Shape 102"/>
          <p:cNvSpPr/>
          <p:nvPr/>
        </p:nvSpPr>
        <p:spPr>
          <a:xfrm>
            <a:off x="3930777" y="4544568"/>
            <a:ext cx="128016" cy="128016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106" name="Shape 103"/>
          <p:cNvSpPr/>
          <p:nvPr/>
        </p:nvSpPr>
        <p:spPr>
          <a:xfrm>
            <a:off x="6272784" y="4544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7" name="Shape 104"/>
          <p:cNvSpPr/>
          <p:nvPr/>
        </p:nvSpPr>
        <p:spPr>
          <a:xfrm>
            <a:off x="9537192" y="4544568"/>
            <a:ext cx="128016" cy="128016"/>
          </a:xfrm>
          <a:prstGeom prst="ellipse">
            <a:avLst/>
          </a:prstGeom>
          <a:solidFill>
            <a:srgbClr val="B91C1C"/>
          </a:solidFill>
          <a:ln/>
        </p:spPr>
      </p:sp>
      <p:sp>
        <p:nvSpPr>
          <p:cNvPr id="108" name="Text 105"/>
          <p:cNvSpPr/>
          <p:nvPr/>
        </p:nvSpPr>
        <p:spPr>
          <a:xfrm>
            <a:off x="3537585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36.5</a:t>
            </a:r>
            <a:endParaRPr lang="en-US" sz="850" dirty="0"/>
          </a:p>
        </p:txBody>
      </p:sp>
      <p:sp>
        <p:nvSpPr>
          <p:cNvPr id="109" name="Text 106"/>
          <p:cNvSpPr/>
          <p:nvPr/>
        </p:nvSpPr>
        <p:spPr>
          <a:xfrm>
            <a:off x="5879592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41B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104.8</a:t>
            </a:r>
            <a:endParaRPr lang="en-US" sz="850" dirty="0"/>
          </a:p>
        </p:txBody>
      </p:sp>
      <p:sp>
        <p:nvSpPr>
          <p:cNvPr id="110" name="Text 107"/>
          <p:cNvSpPr/>
          <p:nvPr/>
        </p:nvSpPr>
        <p:spPr>
          <a:xfrm>
            <a:off x="4708589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80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+187%</a:t>
            </a:r>
            <a:endParaRPr lang="en-US" sz="900" dirty="0"/>
          </a:p>
        </p:txBody>
      </p:sp>
      <p:sp>
        <p:nvSpPr>
          <p:cNvPr id="111" name="Text 108"/>
          <p:cNvSpPr/>
          <p:nvPr/>
        </p:nvSpPr>
        <p:spPr>
          <a:xfrm>
            <a:off x="7511796" y="4370832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+%91</a:t>
            </a:r>
            <a:endParaRPr lang="en-US" sz="900" dirty="0"/>
          </a:p>
        </p:txBody>
      </p:sp>
      <p:sp>
        <p:nvSpPr>
          <p:cNvPr id="112" name="Text 10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13" name="Text 1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BAKIŞ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Azalışı ile Üretim Artışı İlişkisi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45720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TOPLAM KAYIP TRENDİ</a:t>
            </a:r>
            <a:endParaRPr lang="en-US" sz="13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Yüksek: 1600 dk  ·  Günlük Ort: 836 dk</a:t>
            </a:r>
            <a:endParaRPr lang="en-US" sz="1050" dirty="0"/>
          </a:p>
        </p:txBody>
      </p:sp>
      <p:sp>
        <p:nvSpPr>
          <p:cNvPr id="9" name="Text 5"/>
          <p:cNvSpPr/>
          <p:nvPr/>
        </p:nvSpPr>
        <p:spPr>
          <a:xfrm>
            <a:off x="6309360" y="16459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GÜNLÜK ORTALAMA ÜRETİM TRENDİ</a:t>
            </a:r>
            <a:endParaRPr lang="en-US" sz="13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6309360" y="1920240"/>
          <a:ext cx="539496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6309360" y="5760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Yüksek Ort: 130.8  ·  Dönem Ort: 104.5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Bakış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OEE — Ekipman Etkinliği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 (Ekipman Etkinlik Oranı); kullanılabilirlik (Availability), performans (Performance) ve kalite (Quality) bileşenlerini birleştirerek hattın net verimliliğini ölçer.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1078992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645920"/>
                <a:gridCol w="1645920"/>
                <a:gridCol w="1645920"/>
                <a:gridCol w="1645920"/>
                <a:gridCol w="1828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Availability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Performance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OEE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Potansiyel Ort. (OEE %100)*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177.3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164.2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127.7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113.4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 ORTALAMASI (Zincirleme)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1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Hücrenin Haziran–Temmuz dönemi gerçekleşen günlük ortalama üretim adedi ve hesaplanan OEE verimliliği baz alınarak, OEE %100 olsaydı ulaşabileceği teorik günlük ortalama üretimi gösterir.</a:t>
            </a:r>
            <a:endParaRPr lang="en-US" sz="950" dirty="0"/>
          </a:p>
        </p:txBody>
      </p:sp>
      <p:sp>
        <p:nvSpPr>
          <p:cNvPr id="9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MTBF ve MTTR — Arıza Bazlı Güvenilirlik (Haziran–Temmuz)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48640" y="13258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MTBF, ekipmanın iki arıza arasında ortalama ne kadar süre durmaksızın çalıştığını gösteren güvenilirlik metriğidir. MTTR ise meydana gelen bir arızanın giderilmesi için geçen ortalama tamir süresini ifade eder.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078992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377440"/>
                <a:gridCol w="2377440"/>
                <a:gridCol w="23774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MTBF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MTTR (dk)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Arıza Kaydı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523.6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2640.0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135.9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OEE, MTBF &amp; MTTR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Final Ölçüm Sonrası Kalite Durumu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46304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88036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1.115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4290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KONTROL EDİLEN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377440"/>
                <a:gridCol w="1463040"/>
                <a:gridCol w="914400"/>
                <a:gridCol w="100584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Tür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Tanımı / Detayı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 Kaynağı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Dış Geçer Taraf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%10.22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%5.74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Rework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3C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Angle at rear of rotating band relief groove missing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Borrelet Çapı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%3.77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%2.24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Dip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Kırılması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Torna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Ogive İşlenmemiş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Hot Spinning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 Kalınlığı İnce + Dağılımı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B91C1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 Sebepler (5 başlık)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Çeşitli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%1.35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11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KALİTE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Zamana Bağlı Uygunluk (Okey + Rework) Oranı Değişimi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4526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(Pareto)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11064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Pareto duruş süresi (bar, sol eksen) ve Duruş sıklığı (turuncu çizgi, sağ eksen), ilk 3 neden vurgulu. İlk 3 neden toplam duruş süresinin %42'ini oluşturmaktadır.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9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Analizi — Detay Kırılım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914400"/>
                <a:gridCol w="822960"/>
                <a:gridCol w="3474720"/>
                <a:gridCol w="3474720"/>
                <a:gridCol w="9144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Payı 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Sebebi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Aksiyon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%33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Kalıp Montaj/Demontaj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Oransal Valf Kaynaklı Duruşlar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876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Tırnaklı Değişim/Salgı Kontrolleri/Offset Ayarlama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Lubrication Kaynaklı Sorunlar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Hatalı sensör değişimi/ braket eklenmesi ve dağıtıcı blok değişimi yapılmıştır. Sorunlar çözülmüştür.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1.477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Hidrolik Yağ Sıcaklığı Alarmı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İç Kumlama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Parça yükleme ve kumlama yapamama sorunlar yapılan ayarlar sonrasında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281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 Kaynak Makinesi Kaynaklı Duruş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Kaynak yapmama sorunu çözümü için kart siparişi verildi. Sahaya ulaşması akabinde değişim ve testler yapılacaktır.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4530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●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Haberleşme Sorunu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Ezilen kablo tespit edilerek yenisi ile değiştirilmiştir. Sorun kalıcı olarak giderilmiştir.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ROB110-111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Shuttle Konveyör Motor Arızası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Motor yenisi ile değiştirilmiş, hata tekrarlanmaması adına shuttle yavaşlama otomasyonu güncellenmiştir.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580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7" name="Text 3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ANALİZİ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Kayıp Türlerine Göre Dağılım — 13.06.2026 ve Sonrası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463040"/>
          <a:ext cx="530352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463040"/>
          <a:ext cx="53949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1097280"/>
                <a:gridCol w="914400"/>
              </a:tblGrid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Kayıp Türü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 Süre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Duruş Sayısı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Pay (%)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Mekanik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Takım / Kalıp Değişimi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3.328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Elektrik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Müşteri Kaynaklı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2.174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Akışkan Arıza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2.063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Setup / Ayar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1.814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Diğer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1.122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Yardımcı Süreç Kayıpları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648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Kalite Kaynaklı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343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Müşteri / Kalite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dk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8" name="Text 3"/>
          <p:cNvSpPr/>
          <p:nvPr/>
        </p:nvSpPr>
        <p:spPr>
          <a:xfrm>
            <a:off x="548640" y="548640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Grafik: Kayıp kategorilerinin toplam duruş sürelerine göre yüzde dağılımı. Veriler 13.06.2026 sonrası seçili hücrelerin kategorize edilmiş duruş verileridir.</a:t>
            </a:r>
            <a:endParaRPr lang="en-US" sz="1050" dirty="0"/>
          </a:p>
        </p:txBody>
      </p:sp>
      <p:sp>
        <p:nvSpPr>
          <p:cNvPr id="9" name="Text 4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Duruş Analizi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AKSİYON TAKİBİ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 Madde — Genel Durum</a:t>
            </a:r>
            <a:endParaRPr lang="en-US" sz="26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371600"/>
          <a:ext cx="420624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3"/>
          <p:cNvSpPr/>
          <p:nvPr/>
        </p:nvSpPr>
        <p:spPr>
          <a:xfrm>
            <a:off x="457200" y="2788920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</a:t>
            </a:r>
            <a:endParaRPr lang="en-US" sz="3600" dirty="0"/>
          </a:p>
        </p:txBody>
      </p:sp>
      <p:sp>
        <p:nvSpPr>
          <p:cNvPr id="8" name="Text 4"/>
          <p:cNvSpPr/>
          <p:nvPr/>
        </p:nvSpPr>
        <p:spPr>
          <a:xfrm>
            <a:off x="457200" y="3337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TOPLAM MADDE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0" y="1417320"/>
          <a:ext cx="6675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188720"/>
                <a:gridCol w="1188720"/>
                <a:gridCol w="1188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Hücre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Tamamlandı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Açık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Toplam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Flowform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N602-N603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Final Ölçüm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Quench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ETM Hücresi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47556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C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/>
          <p:nvPr/>
        </p:nvSpPr>
        <p:spPr>
          <a:xfrm>
            <a:off x="5029200" y="4160520"/>
            <a:ext cx="6675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Nisan-Mayıs döneminde tamamlanan madde sayısı sıfırdı; 14 maddenin tamamı Haziran-Temmuz'da kapatıldı.</a:t>
            </a:r>
            <a:endParaRPr lang="en-US" sz="1150" dirty="0"/>
          </a:p>
        </p:txBody>
      </p:sp>
      <p:sp>
        <p:nvSpPr>
          <p:cNvPr id="11" name="Text 6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Aksiyon Takibi</a:t>
            </a:r>
            <a:endParaRPr lang="en-US" sz="900" dirty="0"/>
          </a:p>
        </p:txBody>
      </p:sp>
      <p:sp>
        <p:nvSpPr>
          <p:cNvPr id="12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50292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662940"/>
            <a:ext cx="256032" cy="2560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45720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1280160" y="71323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Müşteriden Talep Edilecekler</a:t>
            </a:r>
            <a:endParaRPr lang="en-US" sz="2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107899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5875">
            <a:solidFill>
              <a:srgbClr val="D8DEEC"/>
            </a:solidFill>
            <a:prstDash val="dash"/>
          </a:ln>
        </p:spPr>
      </p:sp>
      <p:sp>
        <p:nvSpPr>
          <p:cNvPr id="7" name="Shape 4"/>
          <p:cNvSpPr/>
          <p:nvPr/>
        </p:nvSpPr>
        <p:spPr>
          <a:xfrm>
            <a:off x="868680" y="1874520"/>
            <a:ext cx="2606040" cy="329184"/>
          </a:xfrm>
          <a:prstGeom prst="roundRect">
            <a:avLst>
              <a:gd name="adj" fmla="val 22222"/>
            </a:avLst>
          </a:prstGeom>
          <a:solidFill>
            <a:srgbClr val="FEE2E2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" y="1947672"/>
            <a:ext cx="182880" cy="1828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16152" y="1874520"/>
            <a:ext cx="22219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İçerik Bekliyor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868680" y="2377440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 bölümün madde listesi henüz kesinleşmedi. Sunum hazırlığı sırasında ilgili paydaşlarla birlikte netleştirilecek.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868680" y="3017520"/>
            <a:ext cx="10149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DOLDURULACAK ŞABLON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868680" y="3337560"/>
            <a:ext cx="10149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[Talep Konusu]  —  Gerekçe  —  Beklenen Katkı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i="1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Örnek aday (bu oturumda netleşmedi): sunum hazırlığı sırasında ilgili paydaşlarla netleştirilecek.</a:t>
            </a:r>
            <a:endParaRPr lang="en-US" sz="1250" dirty="0"/>
          </a:p>
        </p:txBody>
      </p:sp>
      <p:sp>
        <p:nvSpPr>
          <p:cNvPr id="13" name="Text 9"/>
          <p:cNvSpPr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Talep / Karar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Repkon HF901 Seri Üretim — Performans Raporu ve Aksiyon Talebi</dc:title>
  <dc:subject>PptxGenJS Presentation</dc:subject>
  <dc:creator>Repkon HF901</dc:creator>
  <cp:lastModifiedBy>Repkon HF901</cp:lastModifiedBy>
  <cp:revision>1</cp:revision>
  <dcterms:created xsi:type="dcterms:W3CDTF">2026-07-08T08:09:03Z</dcterms:created>
  <dcterms:modified xsi:type="dcterms:W3CDTF">2026-07-08T08:09:03Z</dcterms:modified>
</cp:coreProperties>
</file>