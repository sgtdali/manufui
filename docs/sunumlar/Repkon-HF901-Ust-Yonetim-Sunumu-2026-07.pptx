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rts/chart1.xml" ContentType="application/vnd.openxmlformats-officedocument.drawingml.chart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charts/chart4.xml" ContentType="application/vnd.openxmlformats-officedocument.drawingml.chart+xml"/>
  <Override PartName="/ppt/notesSlides/notesSlide8.xml" ContentType="application/vnd.openxmlformats-officedocument.presentationml.notesSlide+xml"/>
  <Override PartName="/ppt/charts/chart5.xml" ContentType="application/vnd.openxmlformats-officedocument.drawingml.chart+xml"/>
  <Override PartName="/ppt/notesSlides/notesSlide9.xml" ContentType="application/vnd.openxmlformats-officedocument.presentationml.notesSlide+xml"/>
  <Override PartName="/ppt/charts/chart6.xml" ContentType="application/vnd.openxmlformats-officedocument.drawingml.chart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charts/chart7.xml" ContentType="application/vnd.openxmlformats-officedocument.drawingml.chart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14" d="100"/>
          <a:sy n="114" d="100"/>
        </p:scale>
        <p:origin x="438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notesMaster" Target="notesMasters/notesMaster1.xml"/><Relationship Id="rId8" Type="http://schemas.openxmlformats.org/officeDocument/2006/relationships/slide" Target="slides/slide7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5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6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7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tr-TR"/>
  <c:roundedCorners val="1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Üretim (adet)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 b="0" i="0" u="none" strike="noStrike">
                    <a:solidFill>
                      <a:srgbClr val="475569"/>
                    </a:solidFill>
                    <a:latin typeface="Arial"/>
                  </a:defRPr>
                </a:pPr>
                <a:endParaRPr lang="tr-T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ROB110-111</c:v>
                </c:pt>
                <c:pt idx="1">
                  <c:v>Quench</c:v>
                </c:pt>
                <c:pt idx="2">
                  <c:v>ROB109</c:v>
                </c:pt>
                <c:pt idx="3">
                  <c:v>N602-N603</c:v>
                </c:pt>
                <c:pt idx="4">
                  <c:v>Flowform</c:v>
                </c:pt>
                <c:pt idx="5">
                  <c:v>ROB104</c:v>
                </c:pt>
                <c:pt idx="6">
                  <c:v>ROB108</c:v>
                </c:pt>
                <c:pt idx="7">
                  <c:v>ETM</c:v>
                </c:pt>
                <c:pt idx="8">
                  <c:v>Pres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1151</c:v>
                </c:pt>
                <c:pt idx="1">
                  <c:v>1744</c:v>
                </c:pt>
                <c:pt idx="2">
                  <c:v>1934</c:v>
                </c:pt>
                <c:pt idx="3">
                  <c:v>2031</c:v>
                </c:pt>
                <c:pt idx="4">
                  <c:v>2034</c:v>
                </c:pt>
                <c:pt idx="5">
                  <c:v>2037</c:v>
                </c:pt>
                <c:pt idx="6">
                  <c:v>2038</c:v>
                </c:pt>
                <c:pt idx="7">
                  <c:v>2054</c:v>
                </c:pt>
                <c:pt idx="8">
                  <c:v>2060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59A3-4068-BD29-7FBC31EEA520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3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475569"/>
                </a:solidFill>
                <a:latin typeface="Arial"/>
              </a:defRPr>
            </a:pPr>
            <a:endParaRPr lang="tr-TR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D8DEEC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8590A6"/>
                    </a:solidFill>
                    <a:latin typeface="Arial"/>
                  </a:defRPr>
                </a:pPr>
                <a:r>
                  <a:rPr sz="1000" b="0" i="0" u="none" strike="noStrike">
                    <a:solidFill>
                      <a:srgbClr val="8590A6"/>
                    </a:solidFill>
                    <a:latin typeface="Arial"/>
                  </a:rPr>
                  <a:t>adet</a:t>
                </a:r>
              </a:p>
            </c:rich>
          </c:tx>
          <c:overlay val="0"/>
        </c:title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590A6"/>
                </a:solidFill>
                <a:latin typeface="Arial"/>
              </a:defRPr>
            </a:pPr>
            <a:endParaRPr lang="tr-TR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tr-TR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Günlük Kayıp Süresi (dk)</c:v>
                </c:pt>
              </c:strCache>
            </c:strRef>
          </c:tx>
          <c:spPr>
            <a:ln w="31750" cap="flat">
              <a:solidFill>
                <a:srgbClr val="1E2761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1E2761"/>
              </a:solidFill>
              <a:ln w="9525" cap="flat">
                <a:solidFill>
                  <a:srgbClr val="1E2761"/>
                </a:solidFill>
                <a:prstDash val="solid"/>
                <a:round/>
              </a:ln>
              <a:effectLst/>
            </c:spPr>
          </c:marker>
          <c:cat>
            <c:strRef>
              <c:f>Sheet1!$A$2:$A$19</c:f>
              <c:strCache>
                <c:ptCount val="18"/>
                <c:pt idx="0">
                  <c:v>14.06</c:v>
                </c:pt>
                <c:pt idx="1">
                  <c:v>15.06</c:v>
                </c:pt>
                <c:pt idx="2">
                  <c:v>16.06</c:v>
                </c:pt>
                <c:pt idx="3">
                  <c:v>17.06</c:v>
                </c:pt>
                <c:pt idx="4">
                  <c:v>18.06</c:v>
                </c:pt>
                <c:pt idx="5">
                  <c:v>21.06</c:v>
                </c:pt>
                <c:pt idx="6">
                  <c:v>22.06</c:v>
                </c:pt>
                <c:pt idx="7">
                  <c:v>23.06</c:v>
                </c:pt>
                <c:pt idx="8">
                  <c:v>24.06</c:v>
                </c:pt>
                <c:pt idx="9">
                  <c:v>25.06</c:v>
                </c:pt>
                <c:pt idx="10">
                  <c:v>28.06</c:v>
                </c:pt>
                <c:pt idx="11">
                  <c:v>29.06</c:v>
                </c:pt>
                <c:pt idx="12">
                  <c:v>30.06</c:v>
                </c:pt>
                <c:pt idx="13">
                  <c:v>01.07</c:v>
                </c:pt>
                <c:pt idx="14">
                  <c:v>02.07</c:v>
                </c:pt>
                <c:pt idx="15">
                  <c:v>04.07</c:v>
                </c:pt>
                <c:pt idx="16">
                  <c:v>05.07</c:v>
                </c:pt>
                <c:pt idx="17">
                  <c:v>06.07</c:v>
                </c:pt>
              </c:strCache>
            </c:strRef>
          </c:cat>
          <c:val>
            <c:numRef>
              <c:f>Sheet1!$B$2:$B$19</c:f>
              <c:numCache>
                <c:formatCode>General</c:formatCode>
                <c:ptCount val="18"/>
                <c:pt idx="0">
                  <c:v>140</c:v>
                </c:pt>
                <c:pt idx="1">
                  <c:v>739</c:v>
                </c:pt>
                <c:pt idx="2">
                  <c:v>1099</c:v>
                </c:pt>
                <c:pt idx="3">
                  <c:v>1386</c:v>
                </c:pt>
                <c:pt idx="4">
                  <c:v>1558</c:v>
                </c:pt>
                <c:pt idx="5">
                  <c:v>826</c:v>
                </c:pt>
                <c:pt idx="6">
                  <c:v>1011</c:v>
                </c:pt>
                <c:pt idx="7">
                  <c:v>937</c:v>
                </c:pt>
                <c:pt idx="8">
                  <c:v>1060</c:v>
                </c:pt>
                <c:pt idx="9">
                  <c:v>873</c:v>
                </c:pt>
                <c:pt idx="10">
                  <c:v>485</c:v>
                </c:pt>
                <c:pt idx="11">
                  <c:v>1286</c:v>
                </c:pt>
                <c:pt idx="12">
                  <c:v>1056</c:v>
                </c:pt>
                <c:pt idx="13">
                  <c:v>986</c:v>
                </c:pt>
                <c:pt idx="14">
                  <c:v>569</c:v>
                </c:pt>
                <c:pt idx="15">
                  <c:v>372</c:v>
                </c:pt>
                <c:pt idx="16">
                  <c:v>415</c:v>
                </c:pt>
                <c:pt idx="17">
                  <c:v>721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ECE2-4171-B25B-B35B42AAF40E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Genel Trend</c:v>
                </c:pt>
              </c:strCache>
            </c:strRef>
          </c:tx>
          <c:spPr>
            <a:ln w="31750" cap="flat">
              <a:solidFill>
                <a:srgbClr val="B45309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B45309"/>
              </a:solidFill>
              <a:ln w="9525" cap="flat">
                <a:solidFill>
                  <a:srgbClr val="B45309"/>
                </a:solidFill>
                <a:prstDash val="solid"/>
                <a:round/>
              </a:ln>
              <a:effectLst/>
            </c:spPr>
          </c:marker>
          <c:cat>
            <c:strRef>
              <c:f>Sheet1!$A$2:$A$19</c:f>
              <c:strCache>
                <c:ptCount val="18"/>
                <c:pt idx="0">
                  <c:v>14.06</c:v>
                </c:pt>
                <c:pt idx="1">
                  <c:v>15.06</c:v>
                </c:pt>
                <c:pt idx="2">
                  <c:v>16.06</c:v>
                </c:pt>
                <c:pt idx="3">
                  <c:v>17.06</c:v>
                </c:pt>
                <c:pt idx="4">
                  <c:v>18.06</c:v>
                </c:pt>
                <c:pt idx="5">
                  <c:v>21.06</c:v>
                </c:pt>
                <c:pt idx="6">
                  <c:v>22.06</c:v>
                </c:pt>
                <c:pt idx="7">
                  <c:v>23.06</c:v>
                </c:pt>
                <c:pt idx="8">
                  <c:v>24.06</c:v>
                </c:pt>
                <c:pt idx="9">
                  <c:v>25.06</c:v>
                </c:pt>
                <c:pt idx="10">
                  <c:v>28.06</c:v>
                </c:pt>
                <c:pt idx="11">
                  <c:v>29.06</c:v>
                </c:pt>
                <c:pt idx="12">
                  <c:v>30.06</c:v>
                </c:pt>
                <c:pt idx="13">
                  <c:v>01.07</c:v>
                </c:pt>
                <c:pt idx="14">
                  <c:v>02.07</c:v>
                </c:pt>
                <c:pt idx="15">
                  <c:v>04.07</c:v>
                </c:pt>
                <c:pt idx="16">
                  <c:v>05.07</c:v>
                </c:pt>
                <c:pt idx="17">
                  <c:v>06.07</c:v>
                </c:pt>
              </c:strCache>
            </c:strRef>
          </c:cat>
          <c:val>
            <c:numRef>
              <c:f>Sheet1!$C$2:$C$19</c:f>
              <c:numCache>
                <c:formatCode>General</c:formatCode>
                <c:ptCount val="18"/>
                <c:pt idx="0">
                  <c:v>1012.4</c:v>
                </c:pt>
                <c:pt idx="1">
                  <c:v>994.7</c:v>
                </c:pt>
                <c:pt idx="2">
                  <c:v>977.1</c:v>
                </c:pt>
                <c:pt idx="3">
                  <c:v>959.4</c:v>
                </c:pt>
                <c:pt idx="4">
                  <c:v>941.7</c:v>
                </c:pt>
                <c:pt idx="5">
                  <c:v>924</c:v>
                </c:pt>
                <c:pt idx="6">
                  <c:v>906.4</c:v>
                </c:pt>
                <c:pt idx="7">
                  <c:v>888.7</c:v>
                </c:pt>
                <c:pt idx="8">
                  <c:v>871</c:v>
                </c:pt>
                <c:pt idx="9">
                  <c:v>853.3</c:v>
                </c:pt>
                <c:pt idx="10">
                  <c:v>835.7</c:v>
                </c:pt>
                <c:pt idx="11">
                  <c:v>818</c:v>
                </c:pt>
                <c:pt idx="12">
                  <c:v>800.3</c:v>
                </c:pt>
                <c:pt idx="13">
                  <c:v>782.6</c:v>
                </c:pt>
                <c:pt idx="14">
                  <c:v>765</c:v>
                </c:pt>
                <c:pt idx="15">
                  <c:v>747.3</c:v>
                </c:pt>
                <c:pt idx="16">
                  <c:v>729.6</c:v>
                </c:pt>
                <c:pt idx="17">
                  <c:v>711.9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ECE2-4171-B25B-B35B42AAF40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50" b="0" i="0" u="none" strike="noStrike">
                <a:solidFill>
                  <a:srgbClr val="475569"/>
                </a:solidFill>
                <a:latin typeface="Arial"/>
              </a:defRPr>
            </a:pPr>
            <a:endParaRPr lang="tr-TR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8DEEC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850" b="0" i="0" u="none" strike="noStrike">
                    <a:solidFill>
                      <a:srgbClr val="8590A6"/>
                    </a:solidFill>
                    <a:latin typeface="Arial"/>
                  </a:defRPr>
                </a:pPr>
                <a:r>
                  <a:rPr sz="850" b="0" i="0" u="none" strike="noStrike">
                    <a:solidFill>
                      <a:srgbClr val="8590A6"/>
                    </a:solidFill>
                    <a:latin typeface="Arial"/>
                  </a:rPr>
                  <a:t>dk</a:t>
                </a:r>
              </a:p>
            </c:rich>
          </c:tx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50" b="0" i="0" u="none" strike="noStrike">
                <a:solidFill>
                  <a:srgbClr val="8590A6"/>
                </a:solidFill>
                <a:latin typeface="Arial"/>
              </a:defRPr>
            </a:pPr>
            <a:endParaRPr lang="tr-TR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tr-TR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Ortalama Üretim (adet/gün)</c:v>
                </c:pt>
              </c:strCache>
            </c:strRef>
          </c:tx>
          <c:spPr>
            <a:ln w="31750" cap="flat">
              <a:solidFill>
                <a:srgbClr val="1E2761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1E2761"/>
              </a:solidFill>
              <a:ln w="9525" cap="flat">
                <a:solidFill>
                  <a:srgbClr val="1E2761"/>
                </a:solidFill>
                <a:prstDash val="solid"/>
                <a:round/>
              </a:ln>
              <a:effectLst/>
            </c:spPr>
          </c:marker>
          <c:cat>
            <c:strRef>
              <c:f>Sheet1!$A$2:$A$21</c:f>
              <c:strCache>
                <c:ptCount val="20"/>
                <c:pt idx="0">
                  <c:v>13.06</c:v>
                </c:pt>
                <c:pt idx="1">
                  <c:v>14.06</c:v>
                </c:pt>
                <c:pt idx="2">
                  <c:v>15.06</c:v>
                </c:pt>
                <c:pt idx="3">
                  <c:v>16.06</c:v>
                </c:pt>
                <c:pt idx="4">
                  <c:v>17.06</c:v>
                </c:pt>
                <c:pt idx="5">
                  <c:v>18.06</c:v>
                </c:pt>
                <c:pt idx="6">
                  <c:v>21.06</c:v>
                </c:pt>
                <c:pt idx="7">
                  <c:v>22.06</c:v>
                </c:pt>
                <c:pt idx="8">
                  <c:v>23.06</c:v>
                </c:pt>
                <c:pt idx="9">
                  <c:v>24.06</c:v>
                </c:pt>
                <c:pt idx="10">
                  <c:v>25.06</c:v>
                </c:pt>
                <c:pt idx="11">
                  <c:v>26.06</c:v>
                </c:pt>
                <c:pt idx="12">
                  <c:v>28.06</c:v>
                </c:pt>
                <c:pt idx="13">
                  <c:v>29.06</c:v>
                </c:pt>
                <c:pt idx="14">
                  <c:v>30.06</c:v>
                </c:pt>
                <c:pt idx="15">
                  <c:v>01.07</c:v>
                </c:pt>
                <c:pt idx="16">
                  <c:v>02.07</c:v>
                </c:pt>
                <c:pt idx="17">
                  <c:v>04.07</c:v>
                </c:pt>
                <c:pt idx="18">
                  <c:v>05.07</c:v>
                </c:pt>
                <c:pt idx="19">
                  <c:v>06.07</c:v>
                </c:pt>
              </c:strCache>
            </c:strRef>
          </c:cat>
          <c:val>
            <c:numRef>
              <c:f>Sheet1!$B$2:$B$21</c:f>
              <c:numCache>
                <c:formatCode>General</c:formatCode>
                <c:ptCount val="20"/>
                <c:pt idx="0">
                  <c:v>80</c:v>
                </c:pt>
                <c:pt idx="1">
                  <c:v>112.7</c:v>
                </c:pt>
                <c:pt idx="2">
                  <c:v>72.8</c:v>
                </c:pt>
                <c:pt idx="3">
                  <c:v>85.1</c:v>
                </c:pt>
                <c:pt idx="4">
                  <c:v>80.400000000000006</c:v>
                </c:pt>
                <c:pt idx="5">
                  <c:v>125.4</c:v>
                </c:pt>
                <c:pt idx="6">
                  <c:v>114.4</c:v>
                </c:pt>
                <c:pt idx="7">
                  <c:v>119.4</c:v>
                </c:pt>
                <c:pt idx="8">
                  <c:v>98.5</c:v>
                </c:pt>
                <c:pt idx="9">
                  <c:v>107.8</c:v>
                </c:pt>
                <c:pt idx="10">
                  <c:v>117.1</c:v>
                </c:pt>
                <c:pt idx="11">
                  <c:v>107</c:v>
                </c:pt>
                <c:pt idx="12">
                  <c:v>126.4</c:v>
                </c:pt>
                <c:pt idx="13">
                  <c:v>108.6</c:v>
                </c:pt>
                <c:pt idx="14">
                  <c:v>115.9</c:v>
                </c:pt>
                <c:pt idx="15">
                  <c:v>117.8</c:v>
                </c:pt>
                <c:pt idx="16">
                  <c:v>130.80000000000001</c:v>
                </c:pt>
                <c:pt idx="17">
                  <c:v>93</c:v>
                </c:pt>
                <c:pt idx="18">
                  <c:v>116.6</c:v>
                </c:pt>
                <c:pt idx="19">
                  <c:v>123.1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B506-47E2-9DD6-95D8D064904F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Genel Trend</c:v>
                </c:pt>
              </c:strCache>
            </c:strRef>
          </c:tx>
          <c:spPr>
            <a:ln w="31750" cap="flat">
              <a:solidFill>
                <a:srgbClr val="B45309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B45309"/>
              </a:solidFill>
              <a:ln w="9525" cap="flat">
                <a:solidFill>
                  <a:srgbClr val="B45309"/>
                </a:solidFill>
                <a:prstDash val="solid"/>
                <a:round/>
              </a:ln>
              <a:effectLst/>
            </c:spPr>
          </c:marker>
          <c:cat>
            <c:strRef>
              <c:f>Sheet1!$A$2:$A$21</c:f>
              <c:strCache>
                <c:ptCount val="20"/>
                <c:pt idx="0">
                  <c:v>13.06</c:v>
                </c:pt>
                <c:pt idx="1">
                  <c:v>14.06</c:v>
                </c:pt>
                <c:pt idx="2">
                  <c:v>15.06</c:v>
                </c:pt>
                <c:pt idx="3">
                  <c:v>16.06</c:v>
                </c:pt>
                <c:pt idx="4">
                  <c:v>17.06</c:v>
                </c:pt>
                <c:pt idx="5">
                  <c:v>18.06</c:v>
                </c:pt>
                <c:pt idx="6">
                  <c:v>21.06</c:v>
                </c:pt>
                <c:pt idx="7">
                  <c:v>22.06</c:v>
                </c:pt>
                <c:pt idx="8">
                  <c:v>23.06</c:v>
                </c:pt>
                <c:pt idx="9">
                  <c:v>24.06</c:v>
                </c:pt>
                <c:pt idx="10">
                  <c:v>25.06</c:v>
                </c:pt>
                <c:pt idx="11">
                  <c:v>26.06</c:v>
                </c:pt>
                <c:pt idx="12">
                  <c:v>28.06</c:v>
                </c:pt>
                <c:pt idx="13">
                  <c:v>29.06</c:v>
                </c:pt>
                <c:pt idx="14">
                  <c:v>30.06</c:v>
                </c:pt>
                <c:pt idx="15">
                  <c:v>01.07</c:v>
                </c:pt>
                <c:pt idx="16">
                  <c:v>02.07</c:v>
                </c:pt>
                <c:pt idx="17">
                  <c:v>04.07</c:v>
                </c:pt>
                <c:pt idx="18">
                  <c:v>05.07</c:v>
                </c:pt>
                <c:pt idx="19">
                  <c:v>06.07</c:v>
                </c:pt>
              </c:strCache>
            </c:strRef>
          </c:cat>
          <c:val>
            <c:numRef>
              <c:f>Sheet1!$C$2:$C$21</c:f>
              <c:numCache>
                <c:formatCode>General</c:formatCode>
                <c:ptCount val="20"/>
                <c:pt idx="0">
                  <c:v>92.4</c:v>
                </c:pt>
                <c:pt idx="1">
                  <c:v>94</c:v>
                </c:pt>
                <c:pt idx="2">
                  <c:v>95.6</c:v>
                </c:pt>
                <c:pt idx="3">
                  <c:v>97.2</c:v>
                </c:pt>
                <c:pt idx="4">
                  <c:v>98.8</c:v>
                </c:pt>
                <c:pt idx="5">
                  <c:v>100.4</c:v>
                </c:pt>
                <c:pt idx="6">
                  <c:v>102</c:v>
                </c:pt>
                <c:pt idx="7">
                  <c:v>103.6</c:v>
                </c:pt>
                <c:pt idx="8">
                  <c:v>105.2</c:v>
                </c:pt>
                <c:pt idx="9">
                  <c:v>106.8</c:v>
                </c:pt>
                <c:pt idx="10">
                  <c:v>108.4</c:v>
                </c:pt>
                <c:pt idx="11">
                  <c:v>110.1</c:v>
                </c:pt>
                <c:pt idx="12">
                  <c:v>111.7</c:v>
                </c:pt>
                <c:pt idx="13">
                  <c:v>113.3</c:v>
                </c:pt>
                <c:pt idx="14">
                  <c:v>114.9</c:v>
                </c:pt>
                <c:pt idx="15">
                  <c:v>116.5</c:v>
                </c:pt>
                <c:pt idx="16">
                  <c:v>118.1</c:v>
                </c:pt>
                <c:pt idx="17">
                  <c:v>119.7</c:v>
                </c:pt>
                <c:pt idx="18">
                  <c:v>121.3</c:v>
                </c:pt>
                <c:pt idx="19">
                  <c:v>122.9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B506-47E2-9DD6-95D8D064904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50" b="0" i="0" u="none" strike="noStrike">
                <a:solidFill>
                  <a:srgbClr val="475569"/>
                </a:solidFill>
                <a:latin typeface="Arial"/>
              </a:defRPr>
            </a:pPr>
            <a:endParaRPr lang="tr-TR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8DEEC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850" b="0" i="0" u="none" strike="noStrike">
                    <a:solidFill>
                      <a:srgbClr val="8590A6"/>
                    </a:solidFill>
                    <a:latin typeface="Arial"/>
                  </a:defRPr>
                </a:pPr>
                <a:r>
                  <a:rPr sz="850" b="0" i="0" u="none" strike="noStrike">
                    <a:solidFill>
                      <a:srgbClr val="8590A6"/>
                    </a:solidFill>
                    <a:latin typeface="Arial"/>
                  </a:rPr>
                  <a:t>adet/gün</a:t>
                </a:r>
              </a:p>
            </c:rich>
          </c:tx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50" b="0" i="0" u="none" strike="noStrike">
                <a:solidFill>
                  <a:srgbClr val="8590A6"/>
                </a:solidFill>
                <a:latin typeface="Arial"/>
              </a:defRPr>
            </a:pPr>
            <a:endParaRPr lang="tr-TR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tr-TR"/>
  <c:roundedCorners val="1"/>
  <c:style val="2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Kalite Durumu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5803D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2DF2-4952-91B0-E6BF64433633}"/>
              </c:ext>
            </c:extLst>
          </c:dPt>
          <c:dPt>
            <c:idx val="1"/>
            <c:bubble3D val="0"/>
            <c:spPr>
              <a:solidFill>
                <a:srgbClr val="B45309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2DF2-4952-91B0-E6BF64433633}"/>
              </c:ext>
            </c:extLst>
          </c:dPt>
          <c:dPt>
            <c:idx val="2"/>
            <c:bubble3D val="0"/>
            <c:spPr>
              <a:solidFill>
                <a:srgbClr val="B91C1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2DF2-4952-91B0-E6BF64433633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tr-TR"/>
                </a:p>
              </c:txPr>
              <c:showLegendKey val="0"/>
              <c:showVal val="1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2DF2-4952-91B0-E6BF64433633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tr-TR"/>
                </a:p>
              </c:txPr>
              <c:showLegendKey val="0"/>
              <c:showVal val="1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2DF2-4952-91B0-E6BF64433633}"/>
                </c:ext>
              </c:extLst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tr-TR"/>
                </a:p>
              </c:txPr>
              <c:showLegendKey val="0"/>
              <c:showVal val="1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2DF2-4952-91B0-E6BF64433633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tr-TR"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Sheet1!$A$2:$A$4</c:f>
              <c:strCache>
                <c:ptCount val="3"/>
                <c:pt idx="0">
                  <c:v>Uygun</c:v>
                </c:pt>
                <c:pt idx="1">
                  <c:v>Rework</c:v>
                </c:pt>
                <c:pt idx="2">
                  <c:v>Ret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783</c:v>
                </c:pt>
                <c:pt idx="1">
                  <c:v>212</c:v>
                </c:pt>
                <c:pt idx="2">
                  <c:v>120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2DF2-4952-91B0-E6BF6443363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5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475569"/>
              </a:solidFill>
            </a:defRPr>
          </a:pPr>
          <a:endParaRPr lang="tr-TR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tr-TR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Uygunluk (Okey + Rework) Oranı %</c:v>
                </c:pt>
              </c:strCache>
            </c:strRef>
          </c:tx>
          <c:spPr>
            <a:ln w="31750" cap="flat">
              <a:solidFill>
                <a:srgbClr val="1E2761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1E2761"/>
              </a:solidFill>
              <a:ln w="9525" cap="flat">
                <a:solidFill>
                  <a:srgbClr val="1E2761"/>
                </a:solidFill>
                <a:prstDash val="solid"/>
                <a:round/>
              </a:ln>
              <a:effectLst/>
            </c:spPr>
          </c:marker>
          <c:cat>
            <c:strRef>
              <c:f>Sheet1!$A$2:$A$15</c:f>
              <c:strCache>
                <c:ptCount val="14"/>
                <c:pt idx="0">
                  <c:v>17.06</c:v>
                </c:pt>
                <c:pt idx="1">
                  <c:v>21.06</c:v>
                </c:pt>
                <c:pt idx="2">
                  <c:v>25.06</c:v>
                </c:pt>
                <c:pt idx="3">
                  <c:v>26.06</c:v>
                </c:pt>
                <c:pt idx="4">
                  <c:v>27.06</c:v>
                </c:pt>
                <c:pt idx="5">
                  <c:v>28.06</c:v>
                </c:pt>
                <c:pt idx="6">
                  <c:v>29.06</c:v>
                </c:pt>
                <c:pt idx="7">
                  <c:v>30.06</c:v>
                </c:pt>
                <c:pt idx="8">
                  <c:v>01.07</c:v>
                </c:pt>
                <c:pt idx="9">
                  <c:v>02.07</c:v>
                </c:pt>
                <c:pt idx="10">
                  <c:v>04.07</c:v>
                </c:pt>
                <c:pt idx="11">
                  <c:v>05.07</c:v>
                </c:pt>
                <c:pt idx="12">
                  <c:v>06.07</c:v>
                </c:pt>
                <c:pt idx="13">
                  <c:v>07.07</c:v>
                </c:pt>
              </c:strCache>
            </c:strRef>
          </c:cat>
          <c:val>
            <c:numRef>
              <c:f>Sheet1!$B$2:$B$15</c:f>
              <c:numCache>
                <c:formatCode>General</c:formatCode>
                <c:ptCount val="14"/>
                <c:pt idx="0">
                  <c:v>71.400000000000006</c:v>
                </c:pt>
                <c:pt idx="1">
                  <c:v>81.8</c:v>
                </c:pt>
                <c:pt idx="2">
                  <c:v>91.2</c:v>
                </c:pt>
                <c:pt idx="3">
                  <c:v>92</c:v>
                </c:pt>
                <c:pt idx="4">
                  <c:v>76</c:v>
                </c:pt>
                <c:pt idx="5">
                  <c:v>50.5</c:v>
                </c:pt>
                <c:pt idx="6">
                  <c:v>93.5</c:v>
                </c:pt>
                <c:pt idx="7">
                  <c:v>93.3</c:v>
                </c:pt>
                <c:pt idx="8">
                  <c:v>87.7</c:v>
                </c:pt>
                <c:pt idx="9">
                  <c:v>94.7</c:v>
                </c:pt>
                <c:pt idx="10">
                  <c:v>95</c:v>
                </c:pt>
                <c:pt idx="11">
                  <c:v>95.3</c:v>
                </c:pt>
                <c:pt idx="12">
                  <c:v>97.1</c:v>
                </c:pt>
                <c:pt idx="13">
                  <c:v>98.1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2157-4B67-937B-0BC4D7604580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Genel Trend</c:v>
                </c:pt>
              </c:strCache>
            </c:strRef>
          </c:tx>
          <c:spPr>
            <a:ln w="31750" cap="flat">
              <a:solidFill>
                <a:srgbClr val="B45309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B45309"/>
              </a:solidFill>
              <a:ln w="9525" cap="flat">
                <a:solidFill>
                  <a:srgbClr val="B45309"/>
                </a:solidFill>
                <a:prstDash val="solid"/>
                <a:round/>
              </a:ln>
              <a:effectLst/>
            </c:spPr>
          </c:marker>
          <c:cat>
            <c:strRef>
              <c:f>Sheet1!$A$2:$A$15</c:f>
              <c:strCache>
                <c:ptCount val="14"/>
                <c:pt idx="0">
                  <c:v>17.06</c:v>
                </c:pt>
                <c:pt idx="1">
                  <c:v>21.06</c:v>
                </c:pt>
                <c:pt idx="2">
                  <c:v>25.06</c:v>
                </c:pt>
                <c:pt idx="3">
                  <c:v>26.06</c:v>
                </c:pt>
                <c:pt idx="4">
                  <c:v>27.06</c:v>
                </c:pt>
                <c:pt idx="5">
                  <c:v>28.06</c:v>
                </c:pt>
                <c:pt idx="6">
                  <c:v>29.06</c:v>
                </c:pt>
                <c:pt idx="7">
                  <c:v>30.06</c:v>
                </c:pt>
                <c:pt idx="8">
                  <c:v>01.07</c:v>
                </c:pt>
                <c:pt idx="9">
                  <c:v>02.07</c:v>
                </c:pt>
                <c:pt idx="10">
                  <c:v>04.07</c:v>
                </c:pt>
                <c:pt idx="11">
                  <c:v>05.07</c:v>
                </c:pt>
                <c:pt idx="12">
                  <c:v>06.07</c:v>
                </c:pt>
                <c:pt idx="13">
                  <c:v>07.07</c:v>
                </c:pt>
              </c:strCache>
            </c:strRef>
          </c:cat>
          <c:val>
            <c:numRef>
              <c:f>Sheet1!$C$2:$C$15</c:f>
              <c:numCache>
                <c:formatCode>General</c:formatCode>
                <c:ptCount val="14"/>
                <c:pt idx="0">
                  <c:v>75.900000000000006</c:v>
                </c:pt>
                <c:pt idx="1">
                  <c:v>77.599999999999994</c:v>
                </c:pt>
                <c:pt idx="2">
                  <c:v>79.3</c:v>
                </c:pt>
                <c:pt idx="3">
                  <c:v>81</c:v>
                </c:pt>
                <c:pt idx="4">
                  <c:v>82.7</c:v>
                </c:pt>
                <c:pt idx="5">
                  <c:v>84.4</c:v>
                </c:pt>
                <c:pt idx="6">
                  <c:v>86.1</c:v>
                </c:pt>
                <c:pt idx="7">
                  <c:v>87.8</c:v>
                </c:pt>
                <c:pt idx="8">
                  <c:v>89.5</c:v>
                </c:pt>
                <c:pt idx="9">
                  <c:v>91.2</c:v>
                </c:pt>
                <c:pt idx="10">
                  <c:v>93</c:v>
                </c:pt>
                <c:pt idx="11">
                  <c:v>94.7</c:v>
                </c:pt>
                <c:pt idx="12">
                  <c:v>96.4</c:v>
                </c:pt>
                <c:pt idx="13">
                  <c:v>98.1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2157-4B67-937B-0BC4D760458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475569"/>
                </a:solidFill>
                <a:latin typeface="Arial"/>
              </a:defRPr>
            </a:pPr>
            <a:endParaRPr lang="tr-TR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00"/>
        </c:scaling>
        <c:delete val="0"/>
        <c:axPos val="l"/>
        <c:majorGridlines>
          <c:spPr>
            <a:ln w="6350" cap="flat">
              <a:solidFill>
                <a:srgbClr val="D8DEEC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900" b="0" i="0" u="none" strike="noStrike">
                    <a:solidFill>
                      <a:srgbClr val="8590A6"/>
                    </a:solidFill>
                    <a:latin typeface="Arial"/>
                  </a:defRPr>
                </a:pPr>
                <a:r>
                  <a:rPr sz="900" b="0" i="0" u="none" strike="noStrike">
                    <a:solidFill>
                      <a:srgbClr val="8590A6"/>
                    </a:solidFill>
                    <a:latin typeface="Arial"/>
                  </a:rPr>
                  <a:t>%</a:t>
                </a:r>
              </a:p>
            </c:rich>
          </c:tx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590A6"/>
                </a:solidFill>
                <a:latin typeface="Arial"/>
              </a:defRPr>
            </a:pPr>
            <a:endParaRPr lang="tr-TR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tr-TR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Duruş Süresi (dk)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4F16-4ECF-BDEE-6281F510C816}"/>
              </c:ext>
            </c:extLst>
          </c:dPt>
          <c:dPt>
            <c:idx val="1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3-4F16-4ECF-BDEE-6281F510C816}"/>
              </c:ext>
            </c:extLst>
          </c:dPt>
          <c:dPt>
            <c:idx val="2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5-4F16-4ECF-BDEE-6281F510C816}"/>
              </c:ext>
            </c:extLst>
          </c:dPt>
          <c:dPt>
            <c:idx val="3"/>
            <c:invertIfNegative val="0"/>
            <c:bubble3D val="0"/>
            <c:spPr>
              <a:solidFill>
                <a:srgbClr val="94A3B8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4F16-4ECF-BDEE-6281F510C816}"/>
              </c:ext>
            </c:extLst>
          </c:dPt>
          <c:dPt>
            <c:idx val="4"/>
            <c:invertIfNegative val="0"/>
            <c:bubble3D val="0"/>
            <c:spPr>
              <a:solidFill>
                <a:srgbClr val="94A3B8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4F16-4ECF-BDEE-6281F510C816}"/>
              </c:ext>
            </c:extLst>
          </c:dPt>
          <c:dPt>
            <c:idx val="5"/>
            <c:invertIfNegative val="0"/>
            <c:bubble3D val="0"/>
            <c:spPr>
              <a:solidFill>
                <a:srgbClr val="94A3B8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4F16-4ECF-BDEE-6281F510C816}"/>
              </c:ext>
            </c:extLst>
          </c:dPt>
          <c:dPt>
            <c:idx val="6"/>
            <c:invertIfNegative val="0"/>
            <c:bubble3D val="0"/>
            <c:spPr>
              <a:solidFill>
                <a:srgbClr val="94A3B8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D-4F16-4ECF-BDEE-6281F510C816}"/>
              </c:ext>
            </c:extLst>
          </c:dPt>
          <c:dPt>
            <c:idx val="7"/>
            <c:invertIfNegative val="0"/>
            <c:bubble3D val="0"/>
            <c:spPr>
              <a:solidFill>
                <a:srgbClr val="94A3B8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F-4F16-4ECF-BDEE-6281F510C816}"/>
              </c:ext>
            </c:extLst>
          </c:dPt>
          <c:dPt>
            <c:idx val="8"/>
            <c:invertIfNegative val="0"/>
            <c:bubble3D val="0"/>
            <c:spPr>
              <a:solidFill>
                <a:srgbClr val="94A3B8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11-4F16-4ECF-BDEE-6281F510C816}"/>
              </c:ext>
            </c:extLst>
          </c:dPt>
          <c:dPt>
            <c:idx val="9"/>
            <c:invertIfNegative val="0"/>
            <c:bubble3D val="0"/>
            <c:spPr>
              <a:solidFill>
                <a:srgbClr val="94A3B8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13-4F16-4ECF-BDEE-6281F510C816}"/>
              </c:ext>
            </c:extLst>
          </c:dPt>
          <c:cat>
            <c:strRef>
              <c:f>Sheet1!$A$2:$A$11</c:f>
              <c:strCache>
                <c:ptCount val="10"/>
                <c:pt idx="0">
                  <c:v>Pres</c:v>
                </c:pt>
                <c:pt idx="1">
                  <c:v>N602</c:v>
                </c:pt>
                <c:pt idx="2">
                  <c:v>Flowform</c:v>
                </c:pt>
                <c:pt idx="3">
                  <c:v>ROB110-111</c:v>
                </c:pt>
                <c:pt idx="4">
                  <c:v>ROB108</c:v>
                </c:pt>
                <c:pt idx="5">
                  <c:v>ROB104</c:v>
                </c:pt>
                <c:pt idx="6">
                  <c:v>Quench</c:v>
                </c:pt>
                <c:pt idx="7">
                  <c:v>ROB109</c:v>
                </c:pt>
                <c:pt idx="8">
                  <c:v>ETM</c:v>
                </c:pt>
                <c:pt idx="9">
                  <c:v>N603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2829</c:v>
                </c:pt>
                <c:pt idx="1">
                  <c:v>2655</c:v>
                </c:pt>
                <c:pt idx="2">
                  <c:v>2519</c:v>
                </c:pt>
                <c:pt idx="3">
                  <c:v>2268</c:v>
                </c:pt>
                <c:pt idx="4">
                  <c:v>2021</c:v>
                </c:pt>
                <c:pt idx="5">
                  <c:v>1804</c:v>
                </c:pt>
                <c:pt idx="6">
                  <c:v>1680</c:v>
                </c:pt>
                <c:pt idx="7">
                  <c:v>1434</c:v>
                </c:pt>
                <c:pt idx="8">
                  <c:v>622</c:v>
                </c:pt>
                <c:pt idx="9">
                  <c:v>559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4-4F16-4ECF-BDEE-6281F510C81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Olay Sayısı</c:v>
                </c:pt>
              </c:strCache>
            </c:strRef>
          </c:tx>
          <c:spPr>
            <a:ln w="25400" cap="flat">
              <a:solidFill>
                <a:srgbClr val="B45309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B45309"/>
              </a:solidFill>
              <a:ln w="9525" cap="flat">
                <a:solidFill>
                  <a:srgbClr val="B45309"/>
                </a:solidFill>
                <a:prstDash val="solid"/>
                <a:round/>
              </a:ln>
              <a:effectLst/>
            </c:spPr>
          </c:marker>
          <c:cat>
            <c:strRef>
              <c:f>Sheet1!$A$2:$A$11</c:f>
              <c:strCache>
                <c:ptCount val="10"/>
                <c:pt idx="0">
                  <c:v>Pres</c:v>
                </c:pt>
                <c:pt idx="1">
                  <c:v>N602</c:v>
                </c:pt>
                <c:pt idx="2">
                  <c:v>Flowform</c:v>
                </c:pt>
                <c:pt idx="3">
                  <c:v>ROB110-111</c:v>
                </c:pt>
                <c:pt idx="4">
                  <c:v>ROB108</c:v>
                </c:pt>
                <c:pt idx="5">
                  <c:v>ROB104</c:v>
                </c:pt>
                <c:pt idx="6">
                  <c:v>Quench</c:v>
                </c:pt>
                <c:pt idx="7">
                  <c:v>ROB109</c:v>
                </c:pt>
                <c:pt idx="8">
                  <c:v>ETM</c:v>
                </c:pt>
                <c:pt idx="9">
                  <c:v>N603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86</c:v>
                </c:pt>
                <c:pt idx="1">
                  <c:v>106</c:v>
                </c:pt>
                <c:pt idx="2">
                  <c:v>91</c:v>
                </c:pt>
                <c:pt idx="3">
                  <c:v>80</c:v>
                </c:pt>
                <c:pt idx="4">
                  <c:v>84</c:v>
                </c:pt>
                <c:pt idx="5">
                  <c:v>73</c:v>
                </c:pt>
                <c:pt idx="6">
                  <c:v>6</c:v>
                </c:pt>
                <c:pt idx="7">
                  <c:v>127</c:v>
                </c:pt>
                <c:pt idx="8">
                  <c:v>40</c:v>
                </c:pt>
                <c:pt idx="9">
                  <c:v>15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15-4F16-4ECF-BDEE-6281F510C81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5"/>
        <c:axId val="2094734553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50" b="0" i="0" u="none" strike="noStrike">
                <a:solidFill>
                  <a:srgbClr val="475569"/>
                </a:solidFill>
                <a:latin typeface="Arial"/>
              </a:defRPr>
            </a:pPr>
            <a:endParaRPr lang="tr-TR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8DEEC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950" b="0" i="0" u="none" strike="noStrike">
                    <a:solidFill>
                      <a:srgbClr val="8590A6"/>
                    </a:solidFill>
                    <a:latin typeface="Arial"/>
                  </a:defRPr>
                </a:pPr>
                <a:r>
                  <a:rPr sz="950" b="0" i="0" u="none" strike="noStrike">
                    <a:solidFill>
                      <a:srgbClr val="8590A6"/>
                    </a:solidFill>
                    <a:latin typeface="Arial"/>
                  </a:rPr>
                  <a:t>Duruş Süresi (dk)</a:t>
                </a:r>
              </a:p>
            </c:rich>
          </c:tx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475569"/>
                </a:solidFill>
                <a:latin typeface="Arial"/>
              </a:defRPr>
            </a:pPr>
            <a:endParaRPr lang="tr-TR"/>
          </a:p>
        </c:txPr>
        <c:crossAx val="2094734554"/>
        <c:crosses val="autoZero"/>
        <c:crossBetween val="between"/>
      </c:valAx>
      <c:valAx>
        <c:axId val="2094734553"/>
        <c:scaling>
          <c:orientation val="minMax"/>
          <c:min val="0"/>
        </c:scaling>
        <c:delete val="0"/>
        <c:axPos val="r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950" b="0" i="0" u="none" strike="noStrike">
                    <a:solidFill>
                      <a:srgbClr val="8590A6"/>
                    </a:solidFill>
                    <a:latin typeface="Arial"/>
                  </a:defRPr>
                </a:pPr>
                <a:r>
                  <a:rPr sz="950" b="0" i="0" u="none" strike="noStrike">
                    <a:solidFill>
                      <a:srgbClr val="8590A6"/>
                    </a:solidFill>
                    <a:latin typeface="Arial"/>
                  </a:rPr>
                  <a:t>Olay Sayısı (Adet)</a:t>
                </a:r>
              </a:p>
            </c:rich>
          </c:tx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475569"/>
                </a:solidFill>
                <a:latin typeface="Arial"/>
              </a:defRPr>
            </a:pPr>
            <a:endParaRPr lang="tr-TR"/>
          </a:p>
        </c:txPr>
        <c:crossAx val="2094734555"/>
        <c:crosses val="max"/>
        <c:crossBetween val="between"/>
      </c:valAx>
      <c:catAx>
        <c:axId val="2094734555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crossAx val="2094734553"/>
        <c:crosses val="autoZero"/>
        <c:auto val="1"/>
        <c:lblAlgn val="ctr"/>
        <c:lblOffset val="100"/>
        <c:noMultiLvlLbl val="1"/>
      </c:cat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tr-TR"/>
  <c:roundedCorners val="1"/>
  <c:style val="2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Durum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B45309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B340-4760-B99F-5F187CA481E0}"/>
              </c:ext>
            </c:extLst>
          </c:dPt>
          <c:dPt>
            <c:idx val="1"/>
            <c:bubble3D val="0"/>
            <c:spPr>
              <a:solidFill>
                <a:srgbClr val="15803D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B340-4760-B99F-5F187CA481E0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tr-TR"/>
                </a:p>
              </c:txPr>
              <c:showLegendKey val="0"/>
              <c:showVal val="1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B340-4760-B99F-5F187CA481E0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tr-TR"/>
                </a:p>
              </c:txPr>
              <c:showLegendKey val="0"/>
              <c:showVal val="1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B340-4760-B99F-5F187CA481E0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tr-TR"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Sheet1!$A$2:$A$3</c:f>
              <c:strCache>
                <c:ptCount val="2"/>
                <c:pt idx="0">
                  <c:v>Açık</c:v>
                </c:pt>
                <c:pt idx="1">
                  <c:v>Tamamlandı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76</c:v>
                </c:pt>
                <c:pt idx="1">
                  <c:v>87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B340-4760-B99F-5F187CA481E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5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475569"/>
              </a:solidFill>
            </a:defRPr>
          </a:pPr>
          <a:endParaRPr lang="tr-TR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3238594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5" Type="http://schemas.openxmlformats.org/officeDocument/2006/relationships/chart" Target="../charts/chart3.xml"/><Relationship Id="rId4" Type="http://schemas.openxmlformats.org/officeDocument/2006/relationships/chart" Target="../charts/char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5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6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B4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194560"/>
            <a:ext cx="5943600" cy="5943600"/>
          </a:xfrm>
          <a:prstGeom prst="ellipse">
            <a:avLst/>
          </a:prstGeom>
          <a:solidFill>
            <a:srgbClr val="1E2761">
              <a:alpha val="6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2377440" y="4206240"/>
            <a:ext cx="4572000" cy="4572000"/>
          </a:xfrm>
          <a:prstGeom prst="ellipse">
            <a:avLst/>
          </a:prstGeom>
          <a:solidFill>
            <a:srgbClr val="1E2761">
              <a:alpha val="4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822960" y="914400"/>
            <a:ext cx="822960" cy="822960"/>
          </a:xfrm>
          <a:prstGeom prst="ellipse">
            <a:avLst/>
          </a:prstGeom>
          <a:solidFill>
            <a:srgbClr val="CADCFC">
              <a:alpha val="90000"/>
            </a:srgbClr>
          </a:solidFill>
          <a:ln/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4128" y="1115568"/>
            <a:ext cx="420624" cy="42062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22960" y="210312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REPKON HF901 · SERİ ÜRETİM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777240" y="2514600"/>
            <a:ext cx="100584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Performans Raporu</a:t>
            </a:r>
            <a:endParaRPr lang="en-US" sz="4400" dirty="0"/>
          </a:p>
        </p:txBody>
      </p:sp>
      <p:sp>
        <p:nvSpPr>
          <p:cNvPr id="8" name="Shape 5"/>
          <p:cNvSpPr/>
          <p:nvPr/>
        </p:nvSpPr>
        <p:spPr>
          <a:xfrm>
            <a:off x="822960" y="4892040"/>
            <a:ext cx="2011680" cy="0"/>
          </a:xfrm>
          <a:prstGeom prst="line">
            <a:avLst/>
          </a:prstGeom>
          <a:noFill/>
          <a:ln w="19050">
            <a:solidFill>
              <a:srgbClr val="CADCFC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8660" y="662940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GENEL BAKIŞ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1280160" y="71323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Hücre Bazlı Üretim Adetleri (Haziran–Temmuz)</a:t>
            </a:r>
            <a:endParaRPr lang="en-US" sz="26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417320"/>
          <a:ext cx="11064240" cy="4526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7" name="Text 3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Genel Bakış</a:t>
            </a:r>
            <a:endParaRPr lang="en-US" sz="900" dirty="0"/>
          </a:p>
        </p:txBody>
      </p:sp>
      <p:sp>
        <p:nvSpPr>
          <p:cNvPr id="8" name="Text 4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8660" y="662940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GENEL BAKIŞ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1280160" y="71323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Günlük Ortalama Üretim Adedi</a:t>
            </a:r>
            <a:endParaRPr lang="en-US" sz="2600" dirty="0"/>
          </a:p>
        </p:txBody>
      </p:sp>
      <p:sp>
        <p:nvSpPr>
          <p:cNvPr id="6" name="Shape 3"/>
          <p:cNvSpPr/>
          <p:nvPr/>
        </p:nvSpPr>
        <p:spPr>
          <a:xfrm>
            <a:off x="10424160" y="3529584"/>
            <a:ext cx="109728" cy="109728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7" name="Text 4"/>
          <p:cNvSpPr/>
          <p:nvPr/>
        </p:nvSpPr>
        <p:spPr>
          <a:xfrm>
            <a:off x="10607040" y="3474720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Nisan–Mayıs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10424160" y="3849624"/>
            <a:ext cx="109728" cy="10972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9" name="Text 6"/>
          <p:cNvSpPr/>
          <p:nvPr/>
        </p:nvSpPr>
        <p:spPr>
          <a:xfrm>
            <a:off x="10607040" y="3794760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Haziran–Temmuz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10424160" y="4169664"/>
            <a:ext cx="109728" cy="109728"/>
          </a:xfrm>
          <a:prstGeom prst="ellipse">
            <a:avLst/>
          </a:prstGeom>
          <a:solidFill>
            <a:srgbClr val="B91C1C"/>
          </a:solidFill>
          <a:ln/>
        </p:spPr>
      </p:sp>
      <p:sp>
        <p:nvSpPr>
          <p:cNvPr id="11" name="Text 8"/>
          <p:cNvSpPr/>
          <p:nvPr/>
        </p:nvSpPr>
        <p:spPr>
          <a:xfrm>
            <a:off x="10607040" y="4114800"/>
            <a:ext cx="1920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Hedef (Günlük 200)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2743200" y="1645920"/>
            <a:ext cx="0" cy="3931920"/>
          </a:xfrm>
          <a:prstGeom prst="line">
            <a:avLst/>
          </a:prstGeom>
          <a:noFill/>
          <a:ln w="12700">
            <a:solidFill>
              <a:srgbClr val="D8DEE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2377440" y="56235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4457700" y="1645920"/>
            <a:ext cx="0" cy="3931920"/>
          </a:xfrm>
          <a:prstGeom prst="line">
            <a:avLst/>
          </a:prstGeom>
          <a:noFill/>
          <a:ln w="12700">
            <a:solidFill>
              <a:srgbClr val="D8DEEC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4091940" y="56235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6172200" y="1645920"/>
            <a:ext cx="0" cy="3931920"/>
          </a:xfrm>
          <a:prstGeom prst="line">
            <a:avLst/>
          </a:prstGeom>
          <a:noFill/>
          <a:ln w="12700">
            <a:solidFill>
              <a:srgbClr val="D8DEEC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806440" y="56235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7886700" y="1645920"/>
            <a:ext cx="0" cy="3931920"/>
          </a:xfrm>
          <a:prstGeom prst="line">
            <a:avLst/>
          </a:prstGeom>
          <a:noFill/>
          <a:ln w="12700">
            <a:solidFill>
              <a:srgbClr val="D8DEEC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7520940" y="56235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150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9601200" y="1645920"/>
            <a:ext cx="0" cy="3931920"/>
          </a:xfrm>
          <a:prstGeom prst="line">
            <a:avLst/>
          </a:prstGeom>
          <a:noFill/>
          <a:ln w="12700">
            <a:solidFill>
              <a:srgbClr val="D8DEEC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8869680" y="562356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 adet/gün</a:t>
            </a:r>
            <a:endParaRPr lang="en-US" sz="1000" dirty="0"/>
          </a:p>
        </p:txBody>
      </p:sp>
      <p:sp>
        <p:nvSpPr>
          <p:cNvPr id="22" name="Text 19"/>
          <p:cNvSpPr/>
          <p:nvPr/>
        </p:nvSpPr>
        <p:spPr>
          <a:xfrm>
            <a:off x="548640" y="171907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41B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Pres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537835" y="1828800"/>
            <a:ext cx="1553337" cy="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7091172" y="1828800"/>
            <a:ext cx="2510028" cy="0"/>
          </a:xfrm>
          <a:prstGeom prst="line">
            <a:avLst/>
          </a:prstGeom>
          <a:noFill/>
          <a:ln w="19050">
            <a:solidFill>
              <a:srgbClr val="B91C1C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5473827" y="1764792"/>
            <a:ext cx="128016" cy="128016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26" name="Shape 23"/>
          <p:cNvSpPr/>
          <p:nvPr/>
        </p:nvSpPr>
        <p:spPr>
          <a:xfrm>
            <a:off x="7027164" y="1764792"/>
            <a:ext cx="128016" cy="12801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7" name="Shape 24"/>
          <p:cNvSpPr/>
          <p:nvPr/>
        </p:nvSpPr>
        <p:spPr>
          <a:xfrm>
            <a:off x="9537192" y="1764792"/>
            <a:ext cx="128016" cy="128016"/>
          </a:xfrm>
          <a:prstGeom prst="ellipse">
            <a:avLst/>
          </a:prstGeom>
          <a:solidFill>
            <a:srgbClr val="B91C1C"/>
          </a:solidFill>
          <a:ln/>
        </p:spPr>
      </p:sp>
      <p:sp>
        <p:nvSpPr>
          <p:cNvPr id="28" name="Text 25"/>
          <p:cNvSpPr/>
          <p:nvPr/>
        </p:nvSpPr>
        <p:spPr>
          <a:xfrm>
            <a:off x="5080635" y="1591056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81.5</a:t>
            </a:r>
            <a:endParaRPr lang="en-US" sz="850" dirty="0"/>
          </a:p>
        </p:txBody>
      </p:sp>
      <p:sp>
        <p:nvSpPr>
          <p:cNvPr id="29" name="Text 26"/>
          <p:cNvSpPr/>
          <p:nvPr/>
        </p:nvSpPr>
        <p:spPr>
          <a:xfrm>
            <a:off x="6633972" y="1591056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141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126.8</a:t>
            </a:r>
            <a:endParaRPr lang="en-US" sz="850" dirty="0"/>
          </a:p>
        </p:txBody>
      </p:sp>
      <p:sp>
        <p:nvSpPr>
          <p:cNvPr id="30" name="Text 27"/>
          <p:cNvSpPr/>
          <p:nvPr/>
        </p:nvSpPr>
        <p:spPr>
          <a:xfrm>
            <a:off x="5857304" y="1591056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+56%</a:t>
            </a:r>
            <a:endParaRPr lang="en-US" sz="900" dirty="0"/>
          </a:p>
        </p:txBody>
      </p:sp>
      <p:sp>
        <p:nvSpPr>
          <p:cNvPr id="31" name="Text 28"/>
          <p:cNvSpPr/>
          <p:nvPr/>
        </p:nvSpPr>
        <p:spPr>
          <a:xfrm>
            <a:off x="7888986" y="1591056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+%58</a:t>
            </a:r>
            <a:endParaRPr lang="en-US" sz="900" dirty="0"/>
          </a:p>
        </p:txBody>
      </p:sp>
      <p:sp>
        <p:nvSpPr>
          <p:cNvPr id="32" name="Text 29"/>
          <p:cNvSpPr/>
          <p:nvPr/>
        </p:nvSpPr>
        <p:spPr>
          <a:xfrm>
            <a:off x="548640" y="206654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41B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ETM</a:t>
            </a:r>
            <a:endParaRPr lang="en-US" sz="1200" dirty="0"/>
          </a:p>
        </p:txBody>
      </p:sp>
      <p:sp>
        <p:nvSpPr>
          <p:cNvPr id="33" name="Shape 30"/>
          <p:cNvSpPr/>
          <p:nvPr/>
        </p:nvSpPr>
        <p:spPr>
          <a:xfrm>
            <a:off x="4505706" y="2176272"/>
            <a:ext cx="2842641" cy="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7348347" y="2176272"/>
            <a:ext cx="2252853" cy="0"/>
          </a:xfrm>
          <a:prstGeom prst="line">
            <a:avLst/>
          </a:prstGeom>
          <a:noFill/>
          <a:ln w="19050">
            <a:solidFill>
              <a:srgbClr val="B91C1C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4441698" y="2112264"/>
            <a:ext cx="128016" cy="128016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36" name="Shape 33"/>
          <p:cNvSpPr/>
          <p:nvPr/>
        </p:nvSpPr>
        <p:spPr>
          <a:xfrm>
            <a:off x="7284339" y="2112264"/>
            <a:ext cx="128016" cy="12801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37" name="Shape 34"/>
          <p:cNvSpPr/>
          <p:nvPr/>
        </p:nvSpPr>
        <p:spPr>
          <a:xfrm>
            <a:off x="9537192" y="2112264"/>
            <a:ext cx="128016" cy="128016"/>
          </a:xfrm>
          <a:prstGeom prst="ellipse">
            <a:avLst/>
          </a:prstGeom>
          <a:solidFill>
            <a:srgbClr val="B91C1C"/>
          </a:solidFill>
          <a:ln/>
        </p:spPr>
      </p:sp>
      <p:sp>
        <p:nvSpPr>
          <p:cNvPr id="38" name="Text 35"/>
          <p:cNvSpPr/>
          <p:nvPr/>
        </p:nvSpPr>
        <p:spPr>
          <a:xfrm>
            <a:off x="4048506" y="1938528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51.4</a:t>
            </a:r>
            <a:endParaRPr lang="en-US" sz="850" dirty="0"/>
          </a:p>
        </p:txBody>
      </p:sp>
      <p:sp>
        <p:nvSpPr>
          <p:cNvPr id="39" name="Text 36"/>
          <p:cNvSpPr/>
          <p:nvPr/>
        </p:nvSpPr>
        <p:spPr>
          <a:xfrm>
            <a:off x="6891147" y="1938528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141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134.3</a:t>
            </a:r>
            <a:endParaRPr lang="en-US" sz="850" dirty="0"/>
          </a:p>
        </p:txBody>
      </p:sp>
      <p:sp>
        <p:nvSpPr>
          <p:cNvPr id="40" name="Text 37"/>
          <p:cNvSpPr/>
          <p:nvPr/>
        </p:nvSpPr>
        <p:spPr>
          <a:xfrm>
            <a:off x="5469827" y="1938528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+161%</a:t>
            </a:r>
            <a:endParaRPr lang="en-US" sz="900" dirty="0"/>
          </a:p>
        </p:txBody>
      </p:sp>
      <p:sp>
        <p:nvSpPr>
          <p:cNvPr id="41" name="Text 38"/>
          <p:cNvSpPr/>
          <p:nvPr/>
        </p:nvSpPr>
        <p:spPr>
          <a:xfrm>
            <a:off x="8017574" y="1938528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+%49</a:t>
            </a:r>
            <a:endParaRPr lang="en-US" sz="900" dirty="0"/>
          </a:p>
        </p:txBody>
      </p:sp>
      <p:sp>
        <p:nvSpPr>
          <p:cNvPr id="42" name="Text 39"/>
          <p:cNvSpPr/>
          <p:nvPr/>
        </p:nvSpPr>
        <p:spPr>
          <a:xfrm>
            <a:off x="548640" y="241401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41B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ROB108</a:t>
            </a:r>
            <a:endParaRPr lang="en-US" sz="1200" dirty="0"/>
          </a:p>
        </p:txBody>
      </p:sp>
      <p:sp>
        <p:nvSpPr>
          <p:cNvPr id="43" name="Shape 40"/>
          <p:cNvSpPr/>
          <p:nvPr/>
        </p:nvSpPr>
        <p:spPr>
          <a:xfrm>
            <a:off x="4265676" y="2523744"/>
            <a:ext cx="2297430" cy="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6563106" y="2523744"/>
            <a:ext cx="3038094" cy="0"/>
          </a:xfrm>
          <a:prstGeom prst="line">
            <a:avLst/>
          </a:prstGeom>
          <a:noFill/>
          <a:ln w="19050">
            <a:solidFill>
              <a:srgbClr val="B91C1C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4201668" y="2459736"/>
            <a:ext cx="128016" cy="128016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46" name="Shape 43"/>
          <p:cNvSpPr/>
          <p:nvPr/>
        </p:nvSpPr>
        <p:spPr>
          <a:xfrm>
            <a:off x="6499098" y="2459736"/>
            <a:ext cx="128016" cy="12801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47" name="Shape 44"/>
          <p:cNvSpPr/>
          <p:nvPr/>
        </p:nvSpPr>
        <p:spPr>
          <a:xfrm>
            <a:off x="9537192" y="2459736"/>
            <a:ext cx="128016" cy="128016"/>
          </a:xfrm>
          <a:prstGeom prst="ellipse">
            <a:avLst/>
          </a:prstGeom>
          <a:solidFill>
            <a:srgbClr val="B91C1C"/>
          </a:solidFill>
          <a:ln/>
        </p:spPr>
      </p:sp>
      <p:sp>
        <p:nvSpPr>
          <p:cNvPr id="48" name="Text 45"/>
          <p:cNvSpPr/>
          <p:nvPr/>
        </p:nvSpPr>
        <p:spPr>
          <a:xfrm>
            <a:off x="3808476" y="228600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44.4</a:t>
            </a:r>
            <a:endParaRPr lang="en-US" sz="850" dirty="0"/>
          </a:p>
        </p:txBody>
      </p:sp>
      <p:sp>
        <p:nvSpPr>
          <p:cNvPr id="49" name="Text 46"/>
          <p:cNvSpPr/>
          <p:nvPr/>
        </p:nvSpPr>
        <p:spPr>
          <a:xfrm>
            <a:off x="6105906" y="228600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141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111.4</a:t>
            </a:r>
            <a:endParaRPr lang="en-US" sz="850" dirty="0"/>
          </a:p>
        </p:txBody>
      </p:sp>
      <p:sp>
        <p:nvSpPr>
          <p:cNvPr id="50" name="Text 47"/>
          <p:cNvSpPr/>
          <p:nvPr/>
        </p:nvSpPr>
        <p:spPr>
          <a:xfrm>
            <a:off x="4957191" y="228600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+151%</a:t>
            </a:r>
            <a:endParaRPr lang="en-US" sz="900" dirty="0"/>
          </a:p>
        </p:txBody>
      </p:sp>
      <p:sp>
        <p:nvSpPr>
          <p:cNvPr id="51" name="Text 48"/>
          <p:cNvSpPr/>
          <p:nvPr/>
        </p:nvSpPr>
        <p:spPr>
          <a:xfrm>
            <a:off x="7624953" y="228600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+%80</a:t>
            </a:r>
            <a:endParaRPr lang="en-US" sz="900" dirty="0"/>
          </a:p>
        </p:txBody>
      </p:sp>
      <p:sp>
        <p:nvSpPr>
          <p:cNvPr id="52" name="Text 49"/>
          <p:cNvSpPr/>
          <p:nvPr/>
        </p:nvSpPr>
        <p:spPr>
          <a:xfrm>
            <a:off x="548640" y="276148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41B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Flowform</a:t>
            </a:r>
            <a:endParaRPr lang="en-US" sz="1200" dirty="0"/>
          </a:p>
        </p:txBody>
      </p:sp>
      <p:sp>
        <p:nvSpPr>
          <p:cNvPr id="53" name="Shape 50"/>
          <p:cNvSpPr/>
          <p:nvPr/>
        </p:nvSpPr>
        <p:spPr>
          <a:xfrm>
            <a:off x="4310253" y="2871216"/>
            <a:ext cx="2225421" cy="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>
            <a:off x="6535674" y="2871216"/>
            <a:ext cx="3065526" cy="0"/>
          </a:xfrm>
          <a:prstGeom prst="line">
            <a:avLst/>
          </a:prstGeom>
          <a:noFill/>
          <a:ln w="19050">
            <a:solidFill>
              <a:srgbClr val="B91C1C"/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>
            <a:off x="4246245" y="2807208"/>
            <a:ext cx="128016" cy="128016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56" name="Shape 53"/>
          <p:cNvSpPr/>
          <p:nvPr/>
        </p:nvSpPr>
        <p:spPr>
          <a:xfrm>
            <a:off x="6471666" y="2807208"/>
            <a:ext cx="128016" cy="12801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57" name="Shape 54"/>
          <p:cNvSpPr/>
          <p:nvPr/>
        </p:nvSpPr>
        <p:spPr>
          <a:xfrm>
            <a:off x="9537192" y="2807208"/>
            <a:ext cx="128016" cy="128016"/>
          </a:xfrm>
          <a:prstGeom prst="ellipse">
            <a:avLst/>
          </a:prstGeom>
          <a:solidFill>
            <a:srgbClr val="B91C1C"/>
          </a:solidFill>
          <a:ln/>
        </p:spPr>
      </p:sp>
      <p:sp>
        <p:nvSpPr>
          <p:cNvPr id="58" name="Text 55"/>
          <p:cNvSpPr/>
          <p:nvPr/>
        </p:nvSpPr>
        <p:spPr>
          <a:xfrm>
            <a:off x="3853053" y="2633472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45.7</a:t>
            </a:r>
            <a:endParaRPr lang="en-US" sz="850" dirty="0"/>
          </a:p>
        </p:txBody>
      </p:sp>
      <p:sp>
        <p:nvSpPr>
          <p:cNvPr id="59" name="Text 56"/>
          <p:cNvSpPr/>
          <p:nvPr/>
        </p:nvSpPr>
        <p:spPr>
          <a:xfrm>
            <a:off x="6078474" y="2633472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141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110.6</a:t>
            </a:r>
            <a:endParaRPr lang="en-US" sz="850" dirty="0"/>
          </a:p>
        </p:txBody>
      </p:sp>
      <p:sp>
        <p:nvSpPr>
          <p:cNvPr id="60" name="Text 57"/>
          <p:cNvSpPr/>
          <p:nvPr/>
        </p:nvSpPr>
        <p:spPr>
          <a:xfrm>
            <a:off x="4965763" y="2633472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+142%</a:t>
            </a:r>
            <a:endParaRPr lang="en-US" sz="900" dirty="0"/>
          </a:p>
        </p:txBody>
      </p:sp>
      <p:sp>
        <p:nvSpPr>
          <p:cNvPr id="61" name="Text 58"/>
          <p:cNvSpPr/>
          <p:nvPr/>
        </p:nvSpPr>
        <p:spPr>
          <a:xfrm>
            <a:off x="7611237" y="2633472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+%81</a:t>
            </a:r>
            <a:endParaRPr lang="en-US" sz="900" dirty="0"/>
          </a:p>
        </p:txBody>
      </p:sp>
      <p:sp>
        <p:nvSpPr>
          <p:cNvPr id="62" name="Text 59"/>
          <p:cNvSpPr/>
          <p:nvPr/>
        </p:nvSpPr>
        <p:spPr>
          <a:xfrm>
            <a:off x="548640" y="31089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41B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ROB104</a:t>
            </a:r>
            <a:endParaRPr lang="en-US" sz="1200" dirty="0"/>
          </a:p>
        </p:txBody>
      </p:sp>
      <p:sp>
        <p:nvSpPr>
          <p:cNvPr id="63" name="Shape 60"/>
          <p:cNvSpPr/>
          <p:nvPr/>
        </p:nvSpPr>
        <p:spPr>
          <a:xfrm>
            <a:off x="4248531" y="3218688"/>
            <a:ext cx="2132838" cy="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</a:ln>
        </p:spPr>
      </p:sp>
      <p:sp>
        <p:nvSpPr>
          <p:cNvPr id="64" name="Shape 61"/>
          <p:cNvSpPr/>
          <p:nvPr/>
        </p:nvSpPr>
        <p:spPr>
          <a:xfrm>
            <a:off x="6381369" y="3218688"/>
            <a:ext cx="3219831" cy="0"/>
          </a:xfrm>
          <a:prstGeom prst="line">
            <a:avLst/>
          </a:prstGeom>
          <a:noFill/>
          <a:ln w="19050">
            <a:solidFill>
              <a:srgbClr val="B91C1C"/>
            </a:solidFill>
            <a:prstDash val="solid"/>
          </a:ln>
        </p:spPr>
      </p:sp>
      <p:sp>
        <p:nvSpPr>
          <p:cNvPr id="65" name="Shape 62"/>
          <p:cNvSpPr/>
          <p:nvPr/>
        </p:nvSpPr>
        <p:spPr>
          <a:xfrm>
            <a:off x="4184523" y="3154680"/>
            <a:ext cx="128016" cy="128016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66" name="Shape 63"/>
          <p:cNvSpPr/>
          <p:nvPr/>
        </p:nvSpPr>
        <p:spPr>
          <a:xfrm>
            <a:off x="6317361" y="3154680"/>
            <a:ext cx="128016" cy="12801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67" name="Shape 64"/>
          <p:cNvSpPr/>
          <p:nvPr/>
        </p:nvSpPr>
        <p:spPr>
          <a:xfrm>
            <a:off x="9537192" y="3154680"/>
            <a:ext cx="128016" cy="128016"/>
          </a:xfrm>
          <a:prstGeom prst="ellipse">
            <a:avLst/>
          </a:prstGeom>
          <a:solidFill>
            <a:srgbClr val="B91C1C"/>
          </a:solidFill>
          <a:ln/>
        </p:spPr>
      </p:sp>
      <p:sp>
        <p:nvSpPr>
          <p:cNvPr id="68" name="Text 65"/>
          <p:cNvSpPr/>
          <p:nvPr/>
        </p:nvSpPr>
        <p:spPr>
          <a:xfrm>
            <a:off x="3791331" y="2980944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43.9</a:t>
            </a:r>
            <a:endParaRPr lang="en-US" sz="850" dirty="0"/>
          </a:p>
        </p:txBody>
      </p:sp>
      <p:sp>
        <p:nvSpPr>
          <p:cNvPr id="69" name="Text 66"/>
          <p:cNvSpPr/>
          <p:nvPr/>
        </p:nvSpPr>
        <p:spPr>
          <a:xfrm>
            <a:off x="5924169" y="2980944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141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106.1</a:t>
            </a:r>
            <a:endParaRPr lang="en-US" sz="850" dirty="0"/>
          </a:p>
        </p:txBody>
      </p:sp>
      <p:sp>
        <p:nvSpPr>
          <p:cNvPr id="70" name="Text 67"/>
          <p:cNvSpPr/>
          <p:nvPr/>
        </p:nvSpPr>
        <p:spPr>
          <a:xfrm>
            <a:off x="4857750" y="2980944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+142%</a:t>
            </a:r>
            <a:endParaRPr lang="en-US" sz="900" dirty="0"/>
          </a:p>
        </p:txBody>
      </p:sp>
      <p:sp>
        <p:nvSpPr>
          <p:cNvPr id="71" name="Text 68"/>
          <p:cNvSpPr/>
          <p:nvPr/>
        </p:nvSpPr>
        <p:spPr>
          <a:xfrm>
            <a:off x="7534084" y="2980944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+%89</a:t>
            </a:r>
            <a:endParaRPr lang="en-US" sz="900" dirty="0"/>
          </a:p>
        </p:txBody>
      </p:sp>
      <p:sp>
        <p:nvSpPr>
          <p:cNvPr id="72" name="Text 69"/>
          <p:cNvSpPr/>
          <p:nvPr/>
        </p:nvSpPr>
        <p:spPr>
          <a:xfrm>
            <a:off x="548640" y="345643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41B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N602-603</a:t>
            </a:r>
            <a:endParaRPr lang="en-US" sz="1200" dirty="0"/>
          </a:p>
        </p:txBody>
      </p:sp>
      <p:sp>
        <p:nvSpPr>
          <p:cNvPr id="73" name="Shape 70"/>
          <p:cNvSpPr/>
          <p:nvPr/>
        </p:nvSpPr>
        <p:spPr>
          <a:xfrm>
            <a:off x="4197096" y="3566160"/>
            <a:ext cx="2019681" cy="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</a:ln>
        </p:spPr>
      </p:sp>
      <p:sp>
        <p:nvSpPr>
          <p:cNvPr id="74" name="Shape 71"/>
          <p:cNvSpPr/>
          <p:nvPr/>
        </p:nvSpPr>
        <p:spPr>
          <a:xfrm>
            <a:off x="6216777" y="3566160"/>
            <a:ext cx="3384423" cy="0"/>
          </a:xfrm>
          <a:prstGeom prst="line">
            <a:avLst/>
          </a:prstGeom>
          <a:noFill/>
          <a:ln w="19050">
            <a:solidFill>
              <a:srgbClr val="B91C1C"/>
            </a:solidFill>
            <a:prstDash val="solid"/>
          </a:ln>
        </p:spPr>
      </p:sp>
      <p:sp>
        <p:nvSpPr>
          <p:cNvPr id="75" name="Shape 72"/>
          <p:cNvSpPr/>
          <p:nvPr/>
        </p:nvSpPr>
        <p:spPr>
          <a:xfrm>
            <a:off x="4133088" y="3502152"/>
            <a:ext cx="128016" cy="128016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76" name="Shape 73"/>
          <p:cNvSpPr/>
          <p:nvPr/>
        </p:nvSpPr>
        <p:spPr>
          <a:xfrm>
            <a:off x="6152769" y="3502152"/>
            <a:ext cx="128016" cy="12801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77" name="Shape 74"/>
          <p:cNvSpPr/>
          <p:nvPr/>
        </p:nvSpPr>
        <p:spPr>
          <a:xfrm>
            <a:off x="9537192" y="3502152"/>
            <a:ext cx="128016" cy="128016"/>
          </a:xfrm>
          <a:prstGeom prst="ellipse">
            <a:avLst/>
          </a:prstGeom>
          <a:solidFill>
            <a:srgbClr val="B91C1C"/>
          </a:solidFill>
          <a:ln/>
        </p:spPr>
      </p:sp>
      <p:sp>
        <p:nvSpPr>
          <p:cNvPr id="78" name="Text 75"/>
          <p:cNvSpPr/>
          <p:nvPr/>
        </p:nvSpPr>
        <p:spPr>
          <a:xfrm>
            <a:off x="3739896" y="3328416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42.4</a:t>
            </a:r>
            <a:endParaRPr lang="en-US" sz="850" dirty="0"/>
          </a:p>
        </p:txBody>
      </p:sp>
      <p:sp>
        <p:nvSpPr>
          <p:cNvPr id="79" name="Text 76"/>
          <p:cNvSpPr/>
          <p:nvPr/>
        </p:nvSpPr>
        <p:spPr>
          <a:xfrm>
            <a:off x="5759577" y="3328416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141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101.3</a:t>
            </a:r>
            <a:endParaRPr lang="en-US" sz="850" dirty="0"/>
          </a:p>
        </p:txBody>
      </p:sp>
      <p:sp>
        <p:nvSpPr>
          <p:cNvPr id="80" name="Text 77"/>
          <p:cNvSpPr/>
          <p:nvPr/>
        </p:nvSpPr>
        <p:spPr>
          <a:xfrm>
            <a:off x="4749737" y="3328416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+139%</a:t>
            </a:r>
            <a:endParaRPr lang="en-US" sz="900" dirty="0"/>
          </a:p>
        </p:txBody>
      </p:sp>
      <p:sp>
        <p:nvSpPr>
          <p:cNvPr id="81" name="Text 78"/>
          <p:cNvSpPr/>
          <p:nvPr/>
        </p:nvSpPr>
        <p:spPr>
          <a:xfrm>
            <a:off x="7451788" y="3328416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+%97</a:t>
            </a:r>
            <a:endParaRPr lang="en-US" sz="900" dirty="0"/>
          </a:p>
        </p:txBody>
      </p:sp>
      <p:sp>
        <p:nvSpPr>
          <p:cNvPr id="82" name="Text 79"/>
          <p:cNvSpPr/>
          <p:nvPr/>
        </p:nvSpPr>
        <p:spPr>
          <a:xfrm>
            <a:off x="548640" y="380390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41B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ROB109</a:t>
            </a:r>
            <a:endParaRPr lang="en-US" sz="1200" dirty="0"/>
          </a:p>
        </p:txBody>
      </p:sp>
      <p:sp>
        <p:nvSpPr>
          <p:cNvPr id="83" name="Shape 80"/>
          <p:cNvSpPr/>
          <p:nvPr/>
        </p:nvSpPr>
        <p:spPr>
          <a:xfrm>
            <a:off x="4077081" y="3913632"/>
            <a:ext cx="2232279" cy="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</a:ln>
        </p:spPr>
      </p:sp>
      <p:sp>
        <p:nvSpPr>
          <p:cNvPr id="84" name="Shape 81"/>
          <p:cNvSpPr/>
          <p:nvPr/>
        </p:nvSpPr>
        <p:spPr>
          <a:xfrm>
            <a:off x="6309360" y="3913632"/>
            <a:ext cx="3291840" cy="0"/>
          </a:xfrm>
          <a:prstGeom prst="line">
            <a:avLst/>
          </a:prstGeom>
          <a:noFill/>
          <a:ln w="19050">
            <a:solidFill>
              <a:srgbClr val="B91C1C"/>
            </a:solidFill>
            <a:prstDash val="solid"/>
          </a:ln>
        </p:spPr>
      </p:sp>
      <p:sp>
        <p:nvSpPr>
          <p:cNvPr id="85" name="Shape 82"/>
          <p:cNvSpPr/>
          <p:nvPr/>
        </p:nvSpPr>
        <p:spPr>
          <a:xfrm>
            <a:off x="4013073" y="3849624"/>
            <a:ext cx="128016" cy="128016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86" name="Shape 83"/>
          <p:cNvSpPr/>
          <p:nvPr/>
        </p:nvSpPr>
        <p:spPr>
          <a:xfrm>
            <a:off x="6245352" y="3849624"/>
            <a:ext cx="128016" cy="12801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87" name="Shape 84"/>
          <p:cNvSpPr/>
          <p:nvPr/>
        </p:nvSpPr>
        <p:spPr>
          <a:xfrm>
            <a:off x="9537192" y="3849624"/>
            <a:ext cx="128016" cy="128016"/>
          </a:xfrm>
          <a:prstGeom prst="ellipse">
            <a:avLst/>
          </a:prstGeom>
          <a:solidFill>
            <a:srgbClr val="B91C1C"/>
          </a:solidFill>
          <a:ln/>
        </p:spPr>
      </p:sp>
      <p:sp>
        <p:nvSpPr>
          <p:cNvPr id="88" name="Text 85"/>
          <p:cNvSpPr/>
          <p:nvPr/>
        </p:nvSpPr>
        <p:spPr>
          <a:xfrm>
            <a:off x="3619881" y="3675888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38.9</a:t>
            </a:r>
            <a:endParaRPr lang="en-US" sz="850" dirty="0"/>
          </a:p>
        </p:txBody>
      </p:sp>
      <p:sp>
        <p:nvSpPr>
          <p:cNvPr id="89" name="Text 86"/>
          <p:cNvSpPr/>
          <p:nvPr/>
        </p:nvSpPr>
        <p:spPr>
          <a:xfrm>
            <a:off x="5852160" y="3675888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141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104.0</a:t>
            </a:r>
            <a:endParaRPr lang="en-US" sz="850" dirty="0"/>
          </a:p>
        </p:txBody>
      </p:sp>
      <p:sp>
        <p:nvSpPr>
          <p:cNvPr id="90" name="Text 87"/>
          <p:cNvSpPr/>
          <p:nvPr/>
        </p:nvSpPr>
        <p:spPr>
          <a:xfrm>
            <a:off x="4736021" y="3675888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+167%</a:t>
            </a:r>
            <a:endParaRPr lang="en-US" sz="900" dirty="0"/>
          </a:p>
        </p:txBody>
      </p:sp>
      <p:sp>
        <p:nvSpPr>
          <p:cNvPr id="91" name="Text 88"/>
          <p:cNvSpPr/>
          <p:nvPr/>
        </p:nvSpPr>
        <p:spPr>
          <a:xfrm>
            <a:off x="7498080" y="3675888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+%92</a:t>
            </a:r>
            <a:endParaRPr lang="en-US" sz="900" dirty="0"/>
          </a:p>
        </p:txBody>
      </p:sp>
      <p:sp>
        <p:nvSpPr>
          <p:cNvPr id="92" name="Text 89"/>
          <p:cNvSpPr/>
          <p:nvPr/>
        </p:nvSpPr>
        <p:spPr>
          <a:xfrm>
            <a:off x="548640" y="415137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41B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Quench</a:t>
            </a:r>
            <a:endParaRPr lang="en-US" sz="1200" dirty="0"/>
          </a:p>
        </p:txBody>
      </p:sp>
      <p:sp>
        <p:nvSpPr>
          <p:cNvPr id="93" name="Shape 90"/>
          <p:cNvSpPr/>
          <p:nvPr/>
        </p:nvSpPr>
        <p:spPr>
          <a:xfrm>
            <a:off x="4186809" y="4261104"/>
            <a:ext cx="2074545" cy="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</a:ln>
        </p:spPr>
      </p:sp>
      <p:sp>
        <p:nvSpPr>
          <p:cNvPr id="94" name="Shape 91"/>
          <p:cNvSpPr/>
          <p:nvPr/>
        </p:nvSpPr>
        <p:spPr>
          <a:xfrm>
            <a:off x="6261354" y="4261104"/>
            <a:ext cx="3339846" cy="0"/>
          </a:xfrm>
          <a:prstGeom prst="line">
            <a:avLst/>
          </a:prstGeom>
          <a:noFill/>
          <a:ln w="19050">
            <a:solidFill>
              <a:srgbClr val="B91C1C"/>
            </a:solidFill>
            <a:prstDash val="solid"/>
          </a:ln>
        </p:spPr>
      </p:sp>
      <p:sp>
        <p:nvSpPr>
          <p:cNvPr id="95" name="Shape 92"/>
          <p:cNvSpPr/>
          <p:nvPr/>
        </p:nvSpPr>
        <p:spPr>
          <a:xfrm>
            <a:off x="4122801" y="4197096"/>
            <a:ext cx="128016" cy="128016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96" name="Shape 93"/>
          <p:cNvSpPr/>
          <p:nvPr/>
        </p:nvSpPr>
        <p:spPr>
          <a:xfrm>
            <a:off x="6197346" y="4197096"/>
            <a:ext cx="128016" cy="12801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97" name="Shape 94"/>
          <p:cNvSpPr/>
          <p:nvPr/>
        </p:nvSpPr>
        <p:spPr>
          <a:xfrm>
            <a:off x="9537192" y="4197096"/>
            <a:ext cx="128016" cy="128016"/>
          </a:xfrm>
          <a:prstGeom prst="ellipse">
            <a:avLst/>
          </a:prstGeom>
          <a:solidFill>
            <a:srgbClr val="B91C1C"/>
          </a:solidFill>
          <a:ln/>
        </p:spPr>
      </p:sp>
      <p:sp>
        <p:nvSpPr>
          <p:cNvPr id="98" name="Text 95"/>
          <p:cNvSpPr/>
          <p:nvPr/>
        </p:nvSpPr>
        <p:spPr>
          <a:xfrm>
            <a:off x="3729609" y="402336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42.1</a:t>
            </a:r>
            <a:endParaRPr lang="en-US" sz="850" dirty="0"/>
          </a:p>
        </p:txBody>
      </p:sp>
      <p:sp>
        <p:nvSpPr>
          <p:cNvPr id="99" name="Text 96"/>
          <p:cNvSpPr/>
          <p:nvPr/>
        </p:nvSpPr>
        <p:spPr>
          <a:xfrm>
            <a:off x="5804154" y="402336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141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102.6</a:t>
            </a:r>
            <a:endParaRPr lang="en-US" sz="850" dirty="0"/>
          </a:p>
        </p:txBody>
      </p:sp>
      <p:sp>
        <p:nvSpPr>
          <p:cNvPr id="100" name="Text 97"/>
          <p:cNvSpPr/>
          <p:nvPr/>
        </p:nvSpPr>
        <p:spPr>
          <a:xfrm>
            <a:off x="4766882" y="402336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+144%</a:t>
            </a:r>
            <a:endParaRPr lang="en-US" sz="900" dirty="0"/>
          </a:p>
        </p:txBody>
      </p:sp>
      <p:sp>
        <p:nvSpPr>
          <p:cNvPr id="101" name="Text 98"/>
          <p:cNvSpPr/>
          <p:nvPr/>
        </p:nvSpPr>
        <p:spPr>
          <a:xfrm>
            <a:off x="7474077" y="402336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+%95</a:t>
            </a:r>
            <a:endParaRPr lang="en-US" sz="900" dirty="0"/>
          </a:p>
        </p:txBody>
      </p:sp>
      <p:sp>
        <p:nvSpPr>
          <p:cNvPr id="102" name="Text 99"/>
          <p:cNvSpPr/>
          <p:nvPr/>
        </p:nvSpPr>
        <p:spPr>
          <a:xfrm>
            <a:off x="548640" y="449884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41B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ROB110-111</a:t>
            </a:r>
            <a:endParaRPr lang="en-US" sz="1200" dirty="0"/>
          </a:p>
        </p:txBody>
      </p:sp>
      <p:sp>
        <p:nvSpPr>
          <p:cNvPr id="103" name="Shape 100"/>
          <p:cNvSpPr/>
          <p:nvPr/>
        </p:nvSpPr>
        <p:spPr>
          <a:xfrm>
            <a:off x="3994785" y="4608576"/>
            <a:ext cx="2342007" cy="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</a:ln>
        </p:spPr>
      </p:sp>
      <p:sp>
        <p:nvSpPr>
          <p:cNvPr id="104" name="Shape 101"/>
          <p:cNvSpPr/>
          <p:nvPr/>
        </p:nvSpPr>
        <p:spPr>
          <a:xfrm>
            <a:off x="6336792" y="4608576"/>
            <a:ext cx="3264408" cy="0"/>
          </a:xfrm>
          <a:prstGeom prst="line">
            <a:avLst/>
          </a:prstGeom>
          <a:noFill/>
          <a:ln w="19050">
            <a:solidFill>
              <a:srgbClr val="B91C1C"/>
            </a:solidFill>
            <a:prstDash val="solid"/>
          </a:ln>
        </p:spPr>
      </p:sp>
      <p:sp>
        <p:nvSpPr>
          <p:cNvPr id="105" name="Shape 102"/>
          <p:cNvSpPr/>
          <p:nvPr/>
        </p:nvSpPr>
        <p:spPr>
          <a:xfrm>
            <a:off x="3930777" y="4544568"/>
            <a:ext cx="128016" cy="128016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106" name="Shape 103"/>
          <p:cNvSpPr/>
          <p:nvPr/>
        </p:nvSpPr>
        <p:spPr>
          <a:xfrm>
            <a:off x="6272784" y="4544568"/>
            <a:ext cx="128016" cy="12801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07" name="Shape 104"/>
          <p:cNvSpPr/>
          <p:nvPr/>
        </p:nvSpPr>
        <p:spPr>
          <a:xfrm>
            <a:off x="9537192" y="4544568"/>
            <a:ext cx="128016" cy="128016"/>
          </a:xfrm>
          <a:prstGeom prst="ellipse">
            <a:avLst/>
          </a:prstGeom>
          <a:solidFill>
            <a:srgbClr val="B91C1C"/>
          </a:solidFill>
          <a:ln/>
        </p:spPr>
      </p:sp>
      <p:sp>
        <p:nvSpPr>
          <p:cNvPr id="108" name="Text 105"/>
          <p:cNvSpPr/>
          <p:nvPr/>
        </p:nvSpPr>
        <p:spPr>
          <a:xfrm>
            <a:off x="3537585" y="4370832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36.5</a:t>
            </a:r>
            <a:endParaRPr lang="en-US" sz="850" dirty="0"/>
          </a:p>
        </p:txBody>
      </p:sp>
      <p:sp>
        <p:nvSpPr>
          <p:cNvPr id="109" name="Text 106"/>
          <p:cNvSpPr/>
          <p:nvPr/>
        </p:nvSpPr>
        <p:spPr>
          <a:xfrm>
            <a:off x="5879592" y="4370832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141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104.8</a:t>
            </a:r>
            <a:endParaRPr lang="en-US" sz="850" dirty="0"/>
          </a:p>
        </p:txBody>
      </p:sp>
      <p:sp>
        <p:nvSpPr>
          <p:cNvPr id="110" name="Text 107"/>
          <p:cNvSpPr/>
          <p:nvPr/>
        </p:nvSpPr>
        <p:spPr>
          <a:xfrm>
            <a:off x="4708589" y="4370832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+187%</a:t>
            </a:r>
            <a:endParaRPr lang="en-US" sz="900" dirty="0"/>
          </a:p>
        </p:txBody>
      </p:sp>
      <p:sp>
        <p:nvSpPr>
          <p:cNvPr id="111" name="Text 108"/>
          <p:cNvSpPr/>
          <p:nvPr/>
        </p:nvSpPr>
        <p:spPr>
          <a:xfrm>
            <a:off x="7511796" y="4370832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+%91</a:t>
            </a:r>
            <a:endParaRPr lang="en-US" sz="900" dirty="0"/>
          </a:p>
        </p:txBody>
      </p:sp>
      <p:sp>
        <p:nvSpPr>
          <p:cNvPr id="112" name="Text 109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Genel Bakış</a:t>
            </a:r>
            <a:endParaRPr lang="en-US" sz="900" dirty="0"/>
          </a:p>
        </p:txBody>
      </p:sp>
      <p:sp>
        <p:nvSpPr>
          <p:cNvPr id="113" name="Text 110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8660" y="662940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GENEL BAKIŞ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1280160" y="71323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Kayıp Azalışı ile Üretim Artışı İlişkisi (Haziran–Temmuz)</a:t>
            </a:r>
            <a:endParaRPr lang="en-US" sz="2600" dirty="0"/>
          </a:p>
        </p:txBody>
      </p:sp>
      <p:sp>
        <p:nvSpPr>
          <p:cNvPr id="6" name="Text 3"/>
          <p:cNvSpPr/>
          <p:nvPr/>
        </p:nvSpPr>
        <p:spPr>
          <a:xfrm>
            <a:off x="457200" y="164592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GÜNLÜK TOPLAM KAYIP TRENDİ</a:t>
            </a:r>
            <a:endParaRPr lang="en-US" sz="1300" dirty="0"/>
          </a:p>
        </p:txBody>
      </p:sp>
      <p:graphicFrame>
        <p:nvGraphicFramePr>
          <p:cNvPr id="7" name="Chart 0"/>
          <p:cNvGraphicFramePr/>
          <p:nvPr/>
        </p:nvGraphicFramePr>
        <p:xfrm>
          <a:off x="457200" y="1920240"/>
          <a:ext cx="5394960" cy="37490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8" name="Text 4"/>
          <p:cNvSpPr/>
          <p:nvPr/>
        </p:nvSpPr>
        <p:spPr>
          <a:xfrm>
            <a:off x="457200" y="576072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Yüksek: 1558 dk  ·  Günlük Ort: 862 dk</a:t>
            </a:r>
            <a:endParaRPr lang="en-US" sz="1050" dirty="0"/>
          </a:p>
        </p:txBody>
      </p:sp>
      <p:sp>
        <p:nvSpPr>
          <p:cNvPr id="9" name="Text 5"/>
          <p:cNvSpPr/>
          <p:nvPr/>
        </p:nvSpPr>
        <p:spPr>
          <a:xfrm>
            <a:off x="6309360" y="164592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GÜNLÜK ORTALAMA ÜRETİM TRENDİ</a:t>
            </a:r>
            <a:endParaRPr lang="en-US" sz="1300" dirty="0"/>
          </a:p>
        </p:txBody>
      </p:sp>
      <p:graphicFrame>
        <p:nvGraphicFramePr>
          <p:cNvPr id="10" name="Chart 1"/>
          <p:cNvGraphicFramePr/>
          <p:nvPr/>
        </p:nvGraphicFramePr>
        <p:xfrm>
          <a:off x="6309360" y="1920240"/>
          <a:ext cx="5394960" cy="37490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11" name="Text 6"/>
          <p:cNvSpPr/>
          <p:nvPr/>
        </p:nvSpPr>
        <p:spPr>
          <a:xfrm>
            <a:off x="6309360" y="576072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Yüksek Ort: 130.8  ·  Dönem Ort: 107.6</a:t>
            </a:r>
            <a:endParaRPr lang="en-US" sz="1050" dirty="0"/>
          </a:p>
        </p:txBody>
      </p:sp>
      <p:sp>
        <p:nvSpPr>
          <p:cNvPr id="12" name="Text 7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Genel Bakış</a:t>
            </a:r>
            <a:endParaRPr lang="en-US" sz="900" dirty="0"/>
          </a:p>
        </p:txBody>
      </p:sp>
      <p:sp>
        <p:nvSpPr>
          <p:cNvPr id="13" name="Text 8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8660" y="662940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OEE, MTBF &amp; MTTR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1280160" y="71323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OEE — Ekipman Etkinliği (Haziran–Temmuz)</a:t>
            </a:r>
            <a:endParaRPr lang="en-US" sz="2600" dirty="0"/>
          </a:p>
        </p:txBody>
      </p:sp>
      <p:sp>
        <p:nvSpPr>
          <p:cNvPr id="6" name="Text 3"/>
          <p:cNvSpPr/>
          <p:nvPr/>
        </p:nvSpPr>
        <p:spPr>
          <a:xfrm>
            <a:off x="548640" y="1325880"/>
            <a:ext cx="10789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300"/>
              </a:lnSpc>
              <a:buNone/>
            </a:pPr>
            <a:r>
              <a:rPr lang="en-US" sz="1000" i="1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OEE (Ekipman Etkinlik Oranı); kullanılabilirlik (Availability), performans (Performance) ve kalite (Quality) bileşenlerini birleştirerek hattın net verimliliğini ölçer.</a:t>
            </a:r>
            <a:endParaRPr lang="en-US" sz="10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057400"/>
          <a:ext cx="10789920" cy="914400"/>
        </p:xfrm>
        <a:graphic>
          <a:graphicData uri="http://schemas.openxmlformats.org/drawingml/2006/table">
            <a:tbl>
              <a:tblPr/>
              <a:tblGrid>
                <a:gridCol w="3474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Hücre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Availability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Performance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Quality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OEE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79.2%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92.5%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99.9%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73.2%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ETM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83.7%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98.2%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99.8%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82.0%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ROB108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86.0%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85.8%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99.9%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73.7%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Flowform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87.4%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77.6%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96.4%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65.4%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ROB104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86.1%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83.0%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99.8%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71.3%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N602-N603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82.9%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91.6%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99.3%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75.4%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ROB109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80.3%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81.8%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99.9%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65.6%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Quench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93.0%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93.3%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99.2%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86.1%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ROB110-111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69.5%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89.4%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93.0%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57.8%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HAT ORTALAMASI (Zincirleme)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83.1%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88.1%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87.7%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64.2%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8" name="Text 4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OEE, MTBF &amp; MTTR</a:t>
            </a:r>
            <a:endParaRPr lang="en-US" sz="900" dirty="0"/>
          </a:p>
        </p:txBody>
      </p:sp>
      <p:sp>
        <p:nvSpPr>
          <p:cNvPr id="9" name="Text 5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8660" y="662940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OEE, MTBF &amp; MTTR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1280160" y="71323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MTBF ve MTTR — Arıza Bazlı Güvenilirlik (Haziran–Temmuz)</a:t>
            </a:r>
            <a:endParaRPr lang="en-US" sz="2600" dirty="0"/>
          </a:p>
        </p:txBody>
      </p:sp>
      <p:sp>
        <p:nvSpPr>
          <p:cNvPr id="6" name="Text 3"/>
          <p:cNvSpPr/>
          <p:nvPr/>
        </p:nvSpPr>
        <p:spPr>
          <a:xfrm>
            <a:off x="548640" y="132588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300"/>
              </a:lnSpc>
              <a:buNone/>
            </a:pPr>
            <a:r>
              <a:rPr lang="en-US" sz="1050" i="1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MTBF, ekipmanın iki arıza arasında ortalama ne kadar süre durmaksızın çalıştığını gösteren güvenilirlik metriğidir. MTTR ise meydana gelen bir arızanın giderilmesi için geçen ortalama tamir süresini ifade eder.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74520"/>
          <a:ext cx="10789920" cy="914400"/>
        </p:xfrm>
        <a:graphic>
          <a:graphicData uri="http://schemas.openxmlformats.org/drawingml/2006/table">
            <a:tbl>
              <a:tblPr/>
              <a:tblGrid>
                <a:gridCol w="3657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Hücre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MTBF (dk)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MTTR (dk)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Arıza Kaydı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205.3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40.4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ETM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398.2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35.1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ROB108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1086.8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38.3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Flowform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362.7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ROB104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523.6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27.0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N602-N603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161.3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ROB109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311.8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Quench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2640.0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200.0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ROB110-111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135.9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30.2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8" name="Text 4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OEE, MTBF &amp; MTTR</a:t>
            </a:r>
            <a:endParaRPr lang="en-US" sz="900" dirty="0"/>
          </a:p>
        </p:txBody>
      </p:sp>
      <p:sp>
        <p:nvSpPr>
          <p:cNvPr id="9" name="Text 5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8660" y="662940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KALİTE ANALİZİ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1280160" y="71323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Final Ölçüm Sonrası Kalite Durumu</a:t>
            </a:r>
            <a:endParaRPr lang="en-US" sz="26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457200" y="1463040"/>
          <a:ext cx="4206240" cy="39319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7" name="Text 3"/>
          <p:cNvSpPr/>
          <p:nvPr/>
        </p:nvSpPr>
        <p:spPr>
          <a:xfrm>
            <a:off x="457200" y="2880360"/>
            <a:ext cx="4206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1.115</a:t>
            </a:r>
            <a:endParaRPr lang="en-US" sz="3600" dirty="0"/>
          </a:p>
        </p:txBody>
      </p:sp>
      <p:sp>
        <p:nvSpPr>
          <p:cNvPr id="8" name="Text 4"/>
          <p:cNvSpPr/>
          <p:nvPr/>
        </p:nvSpPr>
        <p:spPr>
          <a:xfrm>
            <a:off x="457200" y="342900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2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KONTROL EDİLEN</a:t>
            </a:r>
            <a:endParaRPr lang="en-US" sz="10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0" y="1417320"/>
          <a:ext cx="6675120" cy="914400"/>
        </p:xfrm>
        <a:graphic>
          <a:graphicData uri="http://schemas.openxmlformats.org/drawingml/2006/table">
            <a:tbl>
              <a:tblPr/>
              <a:tblGrid>
                <a:gridCol w="91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Tür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Hata Tanımı / Detayı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Hata Kaynağı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Adet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Oran 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B4530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Rework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3C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Dış Geçer Taraf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Final Torna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%10.22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B4530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Rework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3C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İç Kumlama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İç Kumlama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%5.74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B4530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Rework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3C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Angle at rear of rotating band relief groove missing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Final Torna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%3.05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B9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Reject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Borrelet Çapı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Final Torna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%3.77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B9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Reject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Et Kalınlığı İnce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Flowform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%2.24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B9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Reject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Dip İşlenmemiş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Final Torna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%1.08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B9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Reject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Et Kalınlığı Dağılımı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Flowform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%0.72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B9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Reject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Takım Kırılması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Final Torna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%0.54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B9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Reject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Ogive İşlenmemiş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Hot Spinning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%0.54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B9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Reject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Et Kalınlığı İnce + Dağılımı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Flowform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%0.54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B9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Reject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Diğer Sebepler (5 başlık)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Çeşitli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%1.35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10" name="Text 5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Kalite Analizi</a:t>
            </a:r>
            <a:endParaRPr lang="en-US" sz="900" dirty="0"/>
          </a:p>
        </p:txBody>
      </p:sp>
      <p:sp>
        <p:nvSpPr>
          <p:cNvPr id="11" name="Text 6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8660" y="662940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KALİTE ANALİZİ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1280160" y="71323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Zamana Bağlı Uygunluk (Okey + Rework) Oranı Değişimi</a:t>
            </a:r>
            <a:endParaRPr lang="en-US" sz="26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463040"/>
          <a:ext cx="11064240" cy="4526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7" name="Text 3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Kalite Analizi</a:t>
            </a:r>
            <a:endParaRPr lang="en-US" sz="900" dirty="0"/>
          </a:p>
        </p:txBody>
      </p:sp>
      <p:sp>
        <p:nvSpPr>
          <p:cNvPr id="8" name="Text 4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8660" y="662940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DURUŞ ANALİZİ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1280160" y="71323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Kayıp Analizi (Pareto)</a:t>
            </a:r>
            <a:endParaRPr lang="en-US" sz="26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463040"/>
          <a:ext cx="11064240" cy="39319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7" name="Text 3"/>
          <p:cNvSpPr/>
          <p:nvPr/>
        </p:nvSpPr>
        <p:spPr>
          <a:xfrm>
            <a:off x="548640" y="5486400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Grafik: Pareto duruş süresi (bar, sol eksen) ve Duruş sıklığı (turuncu çizgi, sağ eksen), ilk 3 neden vurgulu. İlk 3 neden toplam duruş süresinin %44'ini oluşturmaktadır. Veriler 13.06.2026 sonrası seçili hücrelerin kategorize edilmiş duruş verileridir.</a:t>
            </a:r>
            <a:endParaRPr lang="en-US" sz="1050" dirty="0"/>
          </a:p>
        </p:txBody>
      </p:sp>
      <p:sp>
        <p:nvSpPr>
          <p:cNvPr id="8" name="Text 4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Duruş Analizi</a:t>
            </a:r>
            <a:endParaRPr lang="en-US" sz="900" dirty="0"/>
          </a:p>
        </p:txBody>
      </p:sp>
      <p:sp>
        <p:nvSpPr>
          <p:cNvPr id="9" name="Text 5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8660" y="662940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DURUŞ ANALİZİ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1280160" y="71323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Kayıp Analizi — Detay Kırılım (Sayfa 1/6)</a:t>
            </a:r>
            <a:endParaRPr lang="en-US" sz="26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64240" cy="914400"/>
        </p:xfrm>
        <a:graphic>
          <a:graphicData uri="http://schemas.openxmlformats.org/drawingml/2006/table">
            <a:tbl>
              <a:tblPr/>
              <a:tblGrid>
                <a:gridCol w="14630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4747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4747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Hücre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Toplam Süre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Payı 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Duruş Sebebi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Aksiyon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Durum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939 dk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%33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Kalıp Montaj/Demontaj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B4530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●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523 dk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%18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Hazırlık (IHU rejim, Kalıp Isınma)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B4530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●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356 dk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%13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Cycle İyileştirme Çalışmaları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B4530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●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267 dk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Ironing Çıkış Konveyörü Kaynaklı Duruşlar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Mekanik düzeltmeler yapılmış sorunlar giderilmiştir.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1580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252 dk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Hidrolik Yağ Sıcaklığı Alarmı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B4530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●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234 dk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Oransal Valf Kaynaklı Duruşlar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Oransal valf değişimi yapılarak sorun çözülmüştür.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1580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181 dk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Diğer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B4530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●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 dk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WJS Kaynaklı Duruş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WJS emniyet valfi tamir edilmiştir.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1580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ETM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280 dk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%45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Gripper Sensör Sorunu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Sensör yenisi ile değiştirilmiştir.Sorun çözülmüştür.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1580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ETM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161 dk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%26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Kalite - Parça Ölçüm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B4530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●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7" name="Text 3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Duruş Analizi</a:t>
            </a:r>
            <a:endParaRPr lang="en-US" sz="900" dirty="0"/>
          </a:p>
        </p:txBody>
      </p:sp>
      <p:sp>
        <p:nvSpPr>
          <p:cNvPr id="8" name="Text 4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8660" y="662940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DURUŞ ANALİZİ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1280160" y="71323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Kayıp Analizi — Detay Kırılım (Sayfa 2/6)</a:t>
            </a:r>
            <a:endParaRPr lang="en-US" sz="26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64240" cy="914400"/>
        </p:xfrm>
        <a:graphic>
          <a:graphicData uri="http://schemas.openxmlformats.org/drawingml/2006/table">
            <a:tbl>
              <a:tblPr/>
              <a:tblGrid>
                <a:gridCol w="14630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4747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4747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Hücre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Toplam Süre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Payı 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Duruş Sebebi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Aksiyon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Durum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ETM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 dk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%11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Diğer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B4530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●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ETM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 dk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%10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Cycle İyileştirme Çalışmaları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B4530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●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ETM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 dk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Insert Değişimi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B4530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●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ROB108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811 dk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%40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Takım Değişimi / Kontrolü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B4530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●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ROB108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240 dk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%12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Fabrika Elektrik Kesintisi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B4530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●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ROB108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228 dk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%11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Talaş Kovaları Boşaltma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Talaş arabaları fence dışarısına alınarak hücrenin durma sorunu çözülmüştür.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1580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ROB108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 dk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%10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Program Değişikliği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Yeni flowform preform'a uygun program revizyonu yapılmıştır.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1580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ROB108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192 dk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%10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Bor Yağı Eksikliği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B4530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●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ROB108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160 dk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Elektrik Sigorta atma sorunu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Kısa devre yapan elektrik hattı bulunup kablo değiştirilmiştir. Sorun çözülmüştür.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1580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ROB108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 dk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Robot Arızaları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B4530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●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7" name="Text 3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Duruş Analizi</a:t>
            </a:r>
            <a:endParaRPr lang="en-US" sz="900" dirty="0"/>
          </a:p>
        </p:txBody>
      </p:sp>
      <p:sp>
        <p:nvSpPr>
          <p:cNvPr id="8" name="Text 4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8660" y="662940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DURUŞ ANALİZİ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1280160" y="71323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Kayıp Analizi — Detay Kırılım (Sayfa 3/6)</a:t>
            </a:r>
            <a:endParaRPr lang="en-US" sz="26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64240" cy="914400"/>
        </p:xfrm>
        <a:graphic>
          <a:graphicData uri="http://schemas.openxmlformats.org/drawingml/2006/table">
            <a:tbl>
              <a:tblPr/>
              <a:tblGrid>
                <a:gridCol w="14630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4747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4747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Hücre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Toplam Süre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Payı 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Duruş Sebebi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Aksiyon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Durum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ROB108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 dk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Diğer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B4530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●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Flowform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921 dk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%37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Tırnaklı Değişim/Salgı Kontrolleri/Offset Ayarlama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B4530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●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Flowform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382 dk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%15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Lubrication Kaynaklı Sorunlar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Hatalı sensör değişimi/ braket eklenmesi ve dağıtıcı blok değişimi yapılmıştır. Sorunlar çözülmüştür.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1580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Flowform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 dk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Consumables/Utility Bekleme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B4530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●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Flowform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188 dk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Robot Arızaları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B4530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●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Flowform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123 dk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Diğer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B4530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●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ROB104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659 dk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%37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Takım Değişimi / Kontrolü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B4530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●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ROB104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340 dk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%19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Utility Eksikliği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B4530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●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ROB104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147 dk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Talaş Kovaları Boşaltma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Talaş arabaları fence dışarısına alınarak hücrenin durma sorunu çözülmüştür.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1580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ROB104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128 dk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Bor Yağı Eksikliği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B4530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●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7" name="Text 3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Duruş Analizi</a:t>
            </a:r>
            <a:endParaRPr lang="en-US" sz="900" dirty="0"/>
          </a:p>
        </p:txBody>
      </p:sp>
      <p:sp>
        <p:nvSpPr>
          <p:cNvPr id="8" name="Text 4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8660" y="662940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DURUŞ ANALİZİ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1280160" y="71323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Kayıp Analizi — Detay Kırılım (Sayfa 4/6)</a:t>
            </a:r>
            <a:endParaRPr lang="en-US" sz="26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64240" cy="914400"/>
        </p:xfrm>
        <a:graphic>
          <a:graphicData uri="http://schemas.openxmlformats.org/drawingml/2006/table">
            <a:tbl>
              <a:tblPr/>
              <a:tblGrid>
                <a:gridCol w="14630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4747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4747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Hücre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Toplam Süre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Payı 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Duruş Sebebi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Aksiyon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Durum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ROB104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110 dk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Elektrik Sigorta atma sorunu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Kısa devre yapan elektrik hattı bulunup kablo değiştirilmiştir. Sorun çözülmüştür.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1580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ROB104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 dk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Otomasyon Arıza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B4530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●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ROB104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 dk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Program Değişikliği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Yeni flowform preform'a uygun program revizyonu yapılmıştır.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1580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ROB109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740 dk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%52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Takım Değişimi / Kontrolü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B4530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●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ROB109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239 dk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%17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Otomasyon Arızası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B4530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●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ROB109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234 dk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%16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Bor Yağı Eksikliği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B4530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●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ROB109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112 dk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Diğer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B4530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●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N602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1.489 dk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%56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Hidrolik Yağ Sıcaklığı Alarmı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B4530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●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N602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238 dk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Çıkış Konveyörü Dolu Olması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B4530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●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N602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191 dk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Diğer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B4530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●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7" name="Text 3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Duruş Analizi</a:t>
            </a:r>
            <a:endParaRPr lang="en-US" sz="900" dirty="0"/>
          </a:p>
        </p:txBody>
      </p:sp>
      <p:sp>
        <p:nvSpPr>
          <p:cNvPr id="8" name="Text 4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8660" y="662940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DURUŞ ANALİZİ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1280160" y="71323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Kayıp Analizi — Detay Kırılım (Sayfa 5/6)</a:t>
            </a:r>
            <a:endParaRPr lang="en-US" sz="26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64240" cy="914400"/>
        </p:xfrm>
        <a:graphic>
          <a:graphicData uri="http://schemas.openxmlformats.org/drawingml/2006/table">
            <a:tbl>
              <a:tblPr/>
              <a:tblGrid>
                <a:gridCol w="14630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4747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4747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Hücre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Toplam Süre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Payı 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Duruş Sebebi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Aksiyon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Durum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N602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 dk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Utility Eksikliği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B4530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●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N603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231 dk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%41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İndüksiyon Clamp Arızası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Robot Gripper Sensör yenisi ile değiştirilerek arıza giderilmiştir.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1580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N603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 dk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Diğer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B4530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●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Quench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780 dk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%46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Soğutma Kulesi Arıza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B4530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●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Quench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480 dk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%29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Aktüatörlü valf contası kesilmesi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Conta yenisi ile değiştirilmiştir.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1580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Quench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300 dk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%18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Parçanın fırın çıkışından zamanında alınmaması sebebiyle zincirler zarar görmüşür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Zincirin hasarlı bölümü yenisi ile değiştirilmiştir.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1580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ROB110-111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522 dk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%23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Haberleşme Sorunu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Ezilen kablo tespit edilerek yenisi ile değiştirilmiştir. Sorun kalıcı olarak giderilmiştir.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1580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ROB110-111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401 dk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%18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İç Kumlama Makinesi Kaynaklı Duruş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Parça yükleme ve kumlama yapamama sorunlar yapılan ayarlar sonrasında giderilmiştir.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1580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ROB110-111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281 dk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%12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Punta Kaynak Makinesi Kaynaklı Duruş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Kaynak yapmama sorunu çözümü için kart siparişi verildi. Sahaya ulaşması akabinde değişim ve testler yapılacaktır.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B4530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●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ROB110-111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243 dk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%11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Takım Değişimi / Kontrolü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B4530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●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7" name="Text 3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Duruş Analizi</a:t>
            </a:r>
            <a:endParaRPr lang="en-US" sz="900" dirty="0"/>
          </a:p>
        </p:txBody>
      </p:sp>
      <p:sp>
        <p:nvSpPr>
          <p:cNvPr id="8" name="Text 4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8660" y="662940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DURUŞ ANALİZİ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1280160" y="71323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Kayıp Analizi — Detay Kırılım (Sayfa 6/6)</a:t>
            </a:r>
            <a:endParaRPr lang="en-US" sz="26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64240" cy="914400"/>
        </p:xfrm>
        <a:graphic>
          <a:graphicData uri="http://schemas.openxmlformats.org/drawingml/2006/table">
            <a:tbl>
              <a:tblPr/>
              <a:tblGrid>
                <a:gridCol w="14630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4747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4747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Hücre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Toplam Süre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Payı 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Duruş Sebebi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Aksiyon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Durum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ROB110-111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217 dk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%10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Shuttle Konveyör Motor Arızası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Motor yenisi ile değiştirilmiş, hata tekrarlanmaması adına shuttle yavaşlama otomasyonu güncellenmiştir.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1580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ROB110-111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127 dk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Consumables/Utility Bekleme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B4530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●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ROB110-111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 dk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Kalite - Parça Ölçüm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B4530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●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ROB110-111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 dk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Cycle Time İyileştirme Çalışmaları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B4530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●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ROB110-111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81 dk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Lance Değişim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B4530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●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ROB110-111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 dk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Talaş Kovaları Boşaltma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B4530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●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ROB110-111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 dk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Diğer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B4530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●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7" name="Text 3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Duruş Analizi</a:t>
            </a:r>
            <a:endParaRPr lang="en-US" sz="900" dirty="0"/>
          </a:p>
        </p:txBody>
      </p:sp>
      <p:sp>
        <p:nvSpPr>
          <p:cNvPr id="8" name="Text 4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8660" y="662940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AKSİYON TAKİBİ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1280160" y="71323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Aksiyonlar</a:t>
            </a:r>
            <a:endParaRPr lang="en-US" sz="26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457200" y="1371600"/>
          <a:ext cx="4206240" cy="39319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7" name="Text 3"/>
          <p:cNvSpPr/>
          <p:nvPr/>
        </p:nvSpPr>
        <p:spPr>
          <a:xfrm>
            <a:off x="457200" y="2788920"/>
            <a:ext cx="4206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163</a:t>
            </a:r>
            <a:endParaRPr lang="en-US" sz="3600" dirty="0"/>
          </a:p>
        </p:txBody>
      </p:sp>
      <p:sp>
        <p:nvSpPr>
          <p:cNvPr id="8" name="Text 4"/>
          <p:cNvSpPr/>
          <p:nvPr/>
        </p:nvSpPr>
        <p:spPr>
          <a:xfrm>
            <a:off x="457200" y="333756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2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TOPLAM MADDE</a:t>
            </a:r>
            <a:endParaRPr lang="en-US" sz="10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0" y="1417320"/>
          <a:ext cx="6675120" cy="914400"/>
        </p:xfrm>
        <a:graphic>
          <a:graphicData uri="http://schemas.openxmlformats.org/drawingml/2006/table">
            <a:tbl>
              <a:tblPr/>
              <a:tblGrid>
                <a:gridCol w="31089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Hücre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Tamamlandı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Açık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Toplam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Pres Hücresi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N602-N603 Hücresi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Flowform Hücresi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ROB110-111 Hücresi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ETM Hücresi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Final Ölçüm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ROB104 Hücresi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ROB108 Hücresi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Genel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ROB109 Hücresi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Quench Hücresi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10" name="Text 5"/>
          <p:cNvSpPr/>
          <p:nvPr/>
        </p:nvSpPr>
        <p:spPr>
          <a:xfrm>
            <a:off x="5029200" y="5285232"/>
            <a:ext cx="6675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Nisan-Mayıs döneminde tamamlanan madde sayısı sıfırdı; 87 maddenin tamamı Haziran-Temmuz'da kapatıldı.</a:t>
            </a:r>
            <a:endParaRPr lang="en-US" sz="1150" dirty="0"/>
          </a:p>
        </p:txBody>
      </p:sp>
      <p:sp>
        <p:nvSpPr>
          <p:cNvPr id="11" name="Text 6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Aksiyon Takibi</a:t>
            </a:r>
            <a:endParaRPr lang="en-US" sz="900" dirty="0"/>
          </a:p>
        </p:txBody>
      </p:sp>
      <p:sp>
        <p:nvSpPr>
          <p:cNvPr id="12" name="Text 7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8660" y="662940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4000 HEDEFİ İÇİN YAPILACAKLAR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1280160" y="71323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Hücre Bazlı Çevrim Süreleri (Cycle Time)</a:t>
            </a:r>
            <a:endParaRPr lang="en-US" sz="26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834640" y="1463040"/>
          <a:ext cx="6492240" cy="914400"/>
        </p:xfrm>
        <a:graphic>
          <a:graphicData uri="http://schemas.openxmlformats.org/drawingml/2006/table">
            <a:tbl>
              <a:tblPr/>
              <a:tblGrid>
                <a:gridCol w="3474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175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Hücre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Ulaşılmış En İyi Çevrim Süresi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Pres Hücresi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dk 30 sn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ETM Hücresi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dk 15 sn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ROB108 Hücresi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dk 00 sn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Flowform Hücresi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dk 58 sn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ROB104 Hücresi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dk 30 sn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N602-N603 Hücresi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dk 00 sn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ROB109 Hücresi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dk 00 sn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Quench Hücresi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dk 00 sn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ROB110-111 Hücresi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dk 10 sn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7" name="Text 3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4000 Hedefi İçin Yapılacaklar</a:t>
            </a:r>
            <a:endParaRPr lang="en-US" sz="900" dirty="0"/>
          </a:p>
        </p:txBody>
      </p:sp>
      <p:sp>
        <p:nvSpPr>
          <p:cNvPr id="8" name="Text 4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7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8660" y="662940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4000 HEDEFİ İÇİN YAPILACAKLAR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1280160" y="71323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Nihai Hedef (200 Parça/Gün) Kapasite Analizi</a:t>
            </a:r>
            <a:endParaRPr lang="en-US" sz="26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0789920" cy="914400"/>
        </p:xfrm>
        <a:graphic>
          <a:graphicData uri="http://schemas.openxmlformats.org/drawingml/2006/table">
            <a:tbl>
              <a:tblPr/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Hücre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Mevcut OEE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 Saat Kapasite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Gerekli Hedef**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Gerekli 9s Kapasite*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Kapasite Farkı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73.2%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216 adet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228 adet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312 adet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B9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-96 adet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ETM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82.0%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240 adet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228 adet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278 adet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B9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-38 adet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ROB108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73.7%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180 adet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227 adet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308 adet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B9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-128 adet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Flowform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65.4%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136 adet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227 adet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347 adet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B9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-211 adet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ROB104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71.3%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216 adet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219 adet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307 adet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B9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-91 adet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N602-N603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75.4%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270 adet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219 adet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290 adet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B9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-20 adet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ROB109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65.6%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180 adet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217 adet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331 adet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B9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-151 adet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Quench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86.1%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270 adet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217 adet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252 adet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1580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+18 adet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ROB110-111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57.8%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170 adet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215 adet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372 adet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B9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-202 adet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7" name="Text 3"/>
          <p:cNvSpPr/>
          <p:nvPr/>
        </p:nvSpPr>
        <p:spPr>
          <a:xfrm>
            <a:off x="548640" y="5486400"/>
            <a:ext cx="10789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200"/>
              </a:lnSpc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 Gerekli 9s Kapasite: Mevcut OEE seviyesiyle gerekli günlük parça hedefini (Gerekli Hedef) yakalayabilmek için hücrenin sahip olması gereken teorik 9 saatlik kapasitedir.</a:t>
            </a:r>
            <a:endParaRPr lang="en-US" sz="900" dirty="0"/>
          </a:p>
          <a:p>
            <a:pPr marL="0" indent="0">
              <a:lnSpc>
                <a:spcPts val="1200"/>
              </a:lnSpc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** Gerekli Hedef: En sondaki ROB110-111 hücresinden günlük 200 adet sağlam parça çıkabilmesi için, her hücrenin kendi kalitesine (ıskarta payına) göre üretmesi gereken minimum parça adedidir.</a:t>
            </a:r>
            <a:endParaRPr lang="en-US" sz="900" dirty="0"/>
          </a:p>
        </p:txBody>
      </p:sp>
      <p:sp>
        <p:nvSpPr>
          <p:cNvPr id="8" name="Text 4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4000 Hedefi İçin Yapılacaklar</a:t>
            </a:r>
            <a:endParaRPr lang="en-US" sz="900" dirty="0"/>
          </a:p>
        </p:txBody>
      </p:sp>
      <p:sp>
        <p:nvSpPr>
          <p:cNvPr id="9" name="Text 5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7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8660" y="662940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4000 HEDEFİ İÇİN YAPILACAKLAR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1280160" y="71323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Pres Hücresi: 2.0 Dk Çevrim Süresi ve Teknik Engeller</a:t>
            </a:r>
            <a:endParaRPr lang="en-US" sz="2600" dirty="0"/>
          </a:p>
        </p:txBody>
      </p:sp>
      <p:sp>
        <p:nvSpPr>
          <p:cNvPr id="6" name="Shape 3"/>
          <p:cNvSpPr/>
          <p:nvPr/>
        </p:nvSpPr>
        <p:spPr>
          <a:xfrm>
            <a:off x="548640" y="1645920"/>
            <a:ext cx="4114800" cy="4389120"/>
          </a:xfrm>
          <a:prstGeom prst="roundRect">
            <a:avLst>
              <a:gd name="adj" fmla="val 1778"/>
            </a:avLst>
          </a:prstGeom>
          <a:solidFill>
            <a:srgbClr val="1E2761"/>
          </a:solidFill>
          <a:ln/>
        </p:spPr>
      </p:sp>
      <p:sp>
        <p:nvSpPr>
          <p:cNvPr id="7" name="Text 4"/>
          <p:cNvSpPr/>
          <p:nvPr/>
        </p:nvSpPr>
        <p:spPr>
          <a:xfrm>
            <a:off x="822960" y="192024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ÇEVRİM SÜRESİ HEDEFİ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822960" y="2286000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EF2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Mevcut Çevrim Süresi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22960" y="256032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3.0 dk / parça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822960" y="3108960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EF2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Ara Test Değeri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822960" y="338328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2.5 dk / parça</a:t>
            </a:r>
            <a:endParaRPr lang="en-US" sz="2200" dirty="0"/>
          </a:p>
        </p:txBody>
      </p:sp>
      <p:sp>
        <p:nvSpPr>
          <p:cNvPr id="12" name="Text 9"/>
          <p:cNvSpPr/>
          <p:nvPr/>
        </p:nvSpPr>
        <p:spPr>
          <a:xfrm>
            <a:off x="822960" y="3931920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EF2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Nihai Çalışma Hedefi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822960" y="420624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B4530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2.0 dk / parça</a:t>
            </a:r>
            <a:endParaRPr lang="en-US" sz="2800" dirty="0"/>
          </a:p>
        </p:txBody>
      </p:sp>
      <p:sp>
        <p:nvSpPr>
          <p:cNvPr id="14" name="Text 11"/>
          <p:cNvSpPr/>
          <p:nvPr/>
        </p:nvSpPr>
        <p:spPr>
          <a:xfrm>
            <a:off x="822960" y="4846320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400"/>
              </a:lnSpc>
              <a:buNone/>
            </a:pPr>
            <a:r>
              <a:rPr lang="en-US" sz="1050" dirty="0">
                <a:solidFill>
                  <a:srgbClr val="EEF2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Üretim kapasitesini artırmak için çevrim süresinin 2.0 dakikaya düşürülmesi hedeflenmektedir.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5120640" y="1645920"/>
            <a:ext cx="649224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/>
          <a:effectLst>
            <a:outerShdw blurRad="76200" dist="25400" dir="5400000" algn="bl" rotWithShape="0">
              <a:srgbClr val="1E2761">
                <a:alpha val="8000"/>
              </a:srgbClr>
            </a:outerShdw>
          </a:effectLst>
        </p:spPr>
      </p:sp>
      <p:sp>
        <p:nvSpPr>
          <p:cNvPr id="16" name="Text 13"/>
          <p:cNvSpPr/>
          <p:nvPr/>
        </p:nvSpPr>
        <p:spPr>
          <a:xfrm>
            <a:off x="5394960" y="1828800"/>
            <a:ext cx="5943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00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YÜKSEK TONAJ TALEBİ VE GÜÇ LİMİTLERİ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5394960" y="2103120"/>
            <a:ext cx="5943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1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Çevrim süresi 3 dakikadan 2 dakikaya çekildiğinde preslerin aşırı yüksek tonaj (yük) çekmeye başlaması ve sistem kapasite limitlerini zorlaması.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5120640" y="3108960"/>
            <a:ext cx="649224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/>
          <a:effectLst>
            <a:outerShdw blurRad="76200" dist="25400" dir="5400000" algn="bl" rotWithShape="0">
              <a:srgbClr val="1E2761">
                <a:alpha val="8000"/>
              </a:srgbClr>
            </a:outerShdw>
          </a:effectLst>
        </p:spPr>
      </p:sp>
      <p:sp>
        <p:nvSpPr>
          <p:cNvPr id="19" name="Text 16"/>
          <p:cNvSpPr/>
          <p:nvPr/>
        </p:nvSpPr>
        <p:spPr>
          <a:xfrm>
            <a:off x="5394960" y="3291840"/>
            <a:ext cx="5943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00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HIP PRESİ TİTREŞİM PROBLEMİ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5394960" y="3566160"/>
            <a:ext cx="5943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1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Hızlı çevrim çalışmalarında, HIP presinin üst üste 3-4 parça bastıktan sonra titremeye başlaması.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5120640" y="4572000"/>
            <a:ext cx="649224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/>
          <a:effectLst>
            <a:outerShdw blurRad="76200" dist="25400" dir="5400000" algn="bl" rotWithShape="0">
              <a:srgbClr val="1E2761">
                <a:alpha val="8000"/>
              </a:srgbClr>
            </a:outerShdw>
          </a:effectLst>
        </p:spPr>
      </p:sp>
      <p:sp>
        <p:nvSpPr>
          <p:cNvPr id="22" name="Text 19"/>
          <p:cNvSpPr/>
          <p:nvPr/>
        </p:nvSpPr>
        <p:spPr>
          <a:xfrm>
            <a:off x="5394960" y="4754880"/>
            <a:ext cx="5943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00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KALIP YAĞLAMA SİSTEMİ YETERSİZLİĞİ</a:t>
            </a:r>
            <a:endParaRPr lang="en-US" sz="1050" dirty="0"/>
          </a:p>
        </p:txBody>
      </p:sp>
      <p:sp>
        <p:nvSpPr>
          <p:cNvPr id="23" name="Text 20"/>
          <p:cNvSpPr/>
          <p:nvPr/>
        </p:nvSpPr>
        <p:spPr>
          <a:xfrm>
            <a:off x="5394960" y="5029200"/>
            <a:ext cx="5943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1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Artan hız temposu ile birlikte, mevcut kalıp yağlama (lubrication) çevrim süresi ve miktarının soğutma/yağlama için yetersiz kalması.</a:t>
            </a:r>
            <a:endParaRPr lang="en-US" sz="1150" dirty="0"/>
          </a:p>
        </p:txBody>
      </p:sp>
      <p:sp>
        <p:nvSpPr>
          <p:cNvPr id="24" name="Text 21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4000 Hedefi İçin Yapılacaklar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7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8660" y="662940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4000 HEDEFİ İÇİN YAPILACAKLAR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1280160" y="71323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Pres Hücresi: Hız Parametreleri ve Kalıp Ömrü Analizi</a:t>
            </a:r>
            <a:endParaRPr lang="en-US" sz="2600" dirty="0"/>
          </a:p>
        </p:txBody>
      </p:sp>
      <p:sp>
        <p:nvSpPr>
          <p:cNvPr id="6" name="Shape 3"/>
          <p:cNvSpPr/>
          <p:nvPr/>
        </p:nvSpPr>
        <p:spPr>
          <a:xfrm>
            <a:off x="548640" y="1645920"/>
            <a:ext cx="3474720" cy="256032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/>
          <a:effectLst>
            <a:outerShdw blurRad="76200" dist="25400" dir="5400000" algn="bl" rotWithShape="0">
              <a:srgbClr val="1E2761">
                <a:alpha val="8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731520" y="1828800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3.0 dk / parça Çevrim Hızı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731520" y="210312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580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1.200 Adet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731520" y="2651760"/>
            <a:ext cx="31089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4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Mevcut standart hızda (3.0 dk) HFP dişi kalıbının gözlemlenen ortalama ömrü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343400" y="1645920"/>
            <a:ext cx="3474720" cy="256032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/>
          <a:effectLst>
            <a:outerShdw blurRad="76200" dist="25400" dir="5400000" algn="bl" rotWithShape="0">
              <a:srgbClr val="1E2761">
                <a:alpha val="8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4526280" y="1828800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2.5 dk / parça Çevrim Hızı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4526280" y="210312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B4530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850 Adet</a:t>
            </a:r>
            <a:endParaRPr lang="en-US" sz="2400" dirty="0"/>
          </a:p>
        </p:txBody>
      </p:sp>
      <p:sp>
        <p:nvSpPr>
          <p:cNvPr id="13" name="Text 10"/>
          <p:cNvSpPr/>
          <p:nvPr/>
        </p:nvSpPr>
        <p:spPr>
          <a:xfrm>
            <a:off x="4526280" y="2651760"/>
            <a:ext cx="31089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4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Çevrim süresi 2.5 dakikaya indirildiğinde yapılan test çalışmalarında kalıp ömrü %30 azalarak erken kırılma göstermiştir.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8138160" y="1645920"/>
            <a:ext cx="3474720" cy="2560320"/>
          </a:xfrm>
          <a:prstGeom prst="roundRect">
            <a:avLst>
              <a:gd name="adj" fmla="val 2857"/>
            </a:avLst>
          </a:prstGeom>
          <a:solidFill>
            <a:srgbClr val="EEF2FC"/>
          </a:solidFill>
          <a:ln/>
          <a:effectLst>
            <a:outerShdw blurRad="76200" dist="25400" dir="5400000" algn="bl" rotWithShape="0">
              <a:srgbClr val="1E2761">
                <a:alpha val="8000"/>
              </a:srgbClr>
            </a:outerShdw>
          </a:effectLst>
        </p:spPr>
      </p:sp>
      <p:sp>
        <p:nvSpPr>
          <p:cNvPr id="15" name="Text 12"/>
          <p:cNvSpPr/>
          <p:nvPr/>
        </p:nvSpPr>
        <p:spPr>
          <a:xfrm>
            <a:off x="8321040" y="1828800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2.0 dk / parça Çevrim Hızı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8321040" y="210312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B91C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Kritik Aşınma / Risk</a:t>
            </a:r>
            <a:endParaRPr lang="en-US" sz="2100" dirty="0"/>
          </a:p>
        </p:txBody>
      </p:sp>
      <p:sp>
        <p:nvSpPr>
          <p:cNvPr id="17" name="Text 14"/>
          <p:cNvSpPr/>
          <p:nvPr/>
        </p:nvSpPr>
        <p:spPr>
          <a:xfrm>
            <a:off x="8321040" y="2651760"/>
            <a:ext cx="31089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4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2.5 dk testlerindeki dramatik ömür kaybı göz önüne alındığında, 2.0 dk hızında kalıp ömürlerinin daha da düşük seviyelere inme riski gözden geçirilmelidir.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548640" y="4480560"/>
            <a:ext cx="11064240" cy="1554480"/>
          </a:xfrm>
          <a:prstGeom prst="roundRect">
            <a:avLst>
              <a:gd name="adj" fmla="val 4706"/>
            </a:avLst>
          </a:prstGeom>
          <a:solidFill>
            <a:srgbClr val="1E2761"/>
          </a:solidFill>
          <a:ln/>
        </p:spPr>
      </p:sp>
      <p:sp>
        <p:nvSpPr>
          <p:cNvPr id="19" name="Text 16"/>
          <p:cNvSpPr/>
          <p:nvPr/>
        </p:nvSpPr>
        <p:spPr>
          <a:xfrm>
            <a:off x="822960" y="470916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KALIP ÖMÜRLERİNİN İYİLEŞTİRİLMESİ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822960" y="502920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Kalıp ömürlerinin sadece çalışma hızına (çevrim süresine) bağlanmaksızın; malzeme seçimi, ısıl işlem kalitesi, yüzey kaplamaları ve tasarımsal optimizasyonlar ile kökten ve yüksek oranda artırılması hedeflenmelidir.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4000 Hedefi İçin Yapılacaklar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7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8660" y="662940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4000 HEDEFİ İÇİN YAPILACAKLAR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1280160" y="71323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Talaşlı İmalat: Darboğaz Analizi (FF Preform, HS preform)</a:t>
            </a:r>
            <a:endParaRPr lang="en-US" sz="2600" dirty="0"/>
          </a:p>
        </p:txBody>
      </p:sp>
      <p:sp>
        <p:nvSpPr>
          <p:cNvPr id="6" name="Text 3"/>
          <p:cNvSpPr/>
          <p:nvPr/>
        </p:nvSpPr>
        <p:spPr>
          <a:xfrm>
            <a:off x="548640" y="128016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Tornaların işleme çevrim süreleri iyileştirilse dahi, hücre içi besleme robotlarının doluluk oranları (utilization) kritik darboğaz oluşturmaktadır.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548640" y="1783080"/>
            <a:ext cx="5349240" cy="4251960"/>
          </a:xfrm>
          <a:prstGeom prst="roundRect">
            <a:avLst>
              <a:gd name="adj" fmla="val 1720"/>
            </a:avLst>
          </a:prstGeom>
          <a:solidFill>
            <a:srgbClr val="1E2761"/>
          </a:solidFill>
          <a:ln/>
        </p:spPr>
      </p:sp>
      <p:sp>
        <p:nvSpPr>
          <p:cNvPr id="8" name="Text 5"/>
          <p:cNvSpPr/>
          <p:nvPr/>
        </p:nvSpPr>
        <p:spPr>
          <a:xfrm>
            <a:off x="822960" y="196596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ROB104 HÜCRESİ (HS PREFORM)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22960" y="228600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EF2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Fiziki Yapı: 2 torna HS Preform, 2 torna FF Preform üretimine ayrılmıştır.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822960" y="278892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EEF2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Robot Doluluk Limiti: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822960" y="30175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B4530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%90</a:t>
            </a:r>
            <a:endParaRPr lang="en-US" sz="2000" dirty="0"/>
          </a:p>
        </p:txBody>
      </p:sp>
      <p:sp>
        <p:nvSpPr>
          <p:cNvPr id="12" name="Text 9"/>
          <p:cNvSpPr/>
          <p:nvPr/>
        </p:nvSpPr>
        <p:spPr>
          <a:xfrm>
            <a:off x="3291840" y="278892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EEF2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Teorik Maksimum Hız: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3291840" y="30175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 parça / saat</a:t>
            </a:r>
            <a:endParaRPr lang="en-US" sz="2000" dirty="0"/>
          </a:p>
        </p:txBody>
      </p:sp>
      <p:sp>
        <p:nvSpPr>
          <p:cNvPr id="14" name="Shape 11"/>
          <p:cNvSpPr/>
          <p:nvPr/>
        </p:nvSpPr>
        <p:spPr>
          <a:xfrm>
            <a:off x="822960" y="3566160"/>
            <a:ext cx="4800600" cy="1463040"/>
          </a:xfrm>
          <a:prstGeom prst="roundRect">
            <a:avLst>
              <a:gd name="adj" fmla="val 3750"/>
            </a:avLst>
          </a:prstGeom>
          <a:solidFill>
            <a:srgbClr val="141B47"/>
          </a:solidFill>
          <a:ln/>
        </p:spPr>
      </p:sp>
      <p:sp>
        <p:nvSpPr>
          <p:cNvPr id="15" name="Text 12"/>
          <p:cNvSpPr/>
          <p:nvPr/>
        </p:nvSpPr>
        <p:spPr>
          <a:xfrm>
            <a:off x="1005840" y="3703320"/>
            <a:ext cx="4389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GÜNLÜK FİİLİ ÜRETİM KAPASİTESİ (OEE DAHİL)</a:t>
            </a:r>
            <a:endParaRPr lang="en-US" sz="950" dirty="0"/>
          </a:p>
        </p:txBody>
      </p:sp>
      <p:sp>
        <p:nvSpPr>
          <p:cNvPr id="16" name="Text 13"/>
          <p:cNvSpPr/>
          <p:nvPr/>
        </p:nvSpPr>
        <p:spPr>
          <a:xfrm>
            <a:off x="1005840" y="3977640"/>
            <a:ext cx="4389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EF2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Teorik Günlük Limit: 216 adet | Mevcut OEE: %71.3 | Hedef OEE: %80</a:t>
            </a:r>
            <a:endParaRPr lang="en-US" sz="950" dirty="0"/>
          </a:p>
        </p:txBody>
      </p:sp>
      <p:sp>
        <p:nvSpPr>
          <p:cNvPr id="17" name="Text 14"/>
          <p:cNvSpPr/>
          <p:nvPr/>
        </p:nvSpPr>
        <p:spPr>
          <a:xfrm>
            <a:off x="1005840" y="4297680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B4530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Gerçek Üretilebilir Adet (Hedef OEE ile): 173 adet / gün</a:t>
            </a:r>
            <a:endParaRPr lang="en-US" sz="1350" dirty="0"/>
          </a:p>
        </p:txBody>
      </p:sp>
      <p:sp>
        <p:nvSpPr>
          <p:cNvPr id="18" name="Text 15"/>
          <p:cNvSpPr/>
          <p:nvPr/>
        </p:nvSpPr>
        <p:spPr>
          <a:xfrm>
            <a:off x="1005840" y="4663440"/>
            <a:ext cx="4389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EEF2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Gerekli Girdi Hedefi (219 adet) karşılanamıyor (Fark: -46 parça).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6291072" y="1783080"/>
            <a:ext cx="5349240" cy="4251960"/>
          </a:xfrm>
          <a:prstGeom prst="roundRect">
            <a:avLst>
              <a:gd name="adj" fmla="val 1720"/>
            </a:avLst>
          </a:prstGeom>
          <a:solidFill>
            <a:srgbClr val="1E2761"/>
          </a:solidFill>
          <a:ln/>
        </p:spPr>
      </p:sp>
      <p:sp>
        <p:nvSpPr>
          <p:cNvPr id="20" name="Text 17"/>
          <p:cNvSpPr/>
          <p:nvPr/>
        </p:nvSpPr>
        <p:spPr>
          <a:xfrm>
            <a:off x="6565392" y="196596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ROB108 HÜCRESİ (FF PREFORM)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6565392" y="228600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EF2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Fiziki Yapı: 4 torna FF Preform üretimine ayrılmıştır.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6565392" y="278892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EEF2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Robot Doluluk Limiti:</a:t>
            </a:r>
            <a:endParaRPr lang="en-US" sz="1050" dirty="0"/>
          </a:p>
        </p:txBody>
      </p:sp>
      <p:sp>
        <p:nvSpPr>
          <p:cNvPr id="23" name="Text 20"/>
          <p:cNvSpPr/>
          <p:nvPr/>
        </p:nvSpPr>
        <p:spPr>
          <a:xfrm>
            <a:off x="6565392" y="30175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B4530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%90</a:t>
            </a:r>
            <a:endParaRPr lang="en-US" sz="2000" dirty="0"/>
          </a:p>
        </p:txBody>
      </p:sp>
      <p:sp>
        <p:nvSpPr>
          <p:cNvPr id="24" name="Text 21"/>
          <p:cNvSpPr/>
          <p:nvPr/>
        </p:nvSpPr>
        <p:spPr>
          <a:xfrm>
            <a:off x="9034272" y="278892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EEF2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Teorik Maksimum Hız:</a:t>
            </a:r>
            <a:endParaRPr lang="en-US" sz="1050" dirty="0"/>
          </a:p>
        </p:txBody>
      </p:sp>
      <p:sp>
        <p:nvSpPr>
          <p:cNvPr id="25" name="Text 22"/>
          <p:cNvSpPr/>
          <p:nvPr/>
        </p:nvSpPr>
        <p:spPr>
          <a:xfrm>
            <a:off x="9034272" y="30175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25 parça / saat</a:t>
            </a:r>
            <a:endParaRPr lang="en-US" sz="2000" dirty="0"/>
          </a:p>
        </p:txBody>
      </p:sp>
      <p:sp>
        <p:nvSpPr>
          <p:cNvPr id="26" name="Shape 23"/>
          <p:cNvSpPr/>
          <p:nvPr/>
        </p:nvSpPr>
        <p:spPr>
          <a:xfrm>
            <a:off x="6565392" y="3566160"/>
            <a:ext cx="4800600" cy="1463040"/>
          </a:xfrm>
          <a:prstGeom prst="roundRect">
            <a:avLst>
              <a:gd name="adj" fmla="val 3750"/>
            </a:avLst>
          </a:prstGeom>
          <a:solidFill>
            <a:srgbClr val="141B47"/>
          </a:solidFill>
          <a:ln/>
        </p:spPr>
      </p:sp>
      <p:sp>
        <p:nvSpPr>
          <p:cNvPr id="27" name="Text 24"/>
          <p:cNvSpPr/>
          <p:nvPr/>
        </p:nvSpPr>
        <p:spPr>
          <a:xfrm>
            <a:off x="6748272" y="3703320"/>
            <a:ext cx="4389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GÜNLÜK FİİLİ ÜRETİM KAPASİTESİ (OEE DAHİL)</a:t>
            </a:r>
            <a:endParaRPr lang="en-US" sz="950" dirty="0"/>
          </a:p>
        </p:txBody>
      </p:sp>
      <p:sp>
        <p:nvSpPr>
          <p:cNvPr id="28" name="Text 25"/>
          <p:cNvSpPr/>
          <p:nvPr/>
        </p:nvSpPr>
        <p:spPr>
          <a:xfrm>
            <a:off x="6748272" y="3977640"/>
            <a:ext cx="4389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EF2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Teorik Günlük Limit: 225 adet | Mevcut OEE: %73.7 | Hedef OEE: %80</a:t>
            </a:r>
            <a:endParaRPr lang="en-US" sz="950" dirty="0"/>
          </a:p>
        </p:txBody>
      </p:sp>
      <p:sp>
        <p:nvSpPr>
          <p:cNvPr id="29" name="Text 26"/>
          <p:cNvSpPr/>
          <p:nvPr/>
        </p:nvSpPr>
        <p:spPr>
          <a:xfrm>
            <a:off x="6748272" y="4297680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B4530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Gerçek Üretilebilir Adet (Hedef OEE ile): 180 adet / gün</a:t>
            </a:r>
            <a:endParaRPr lang="en-US" sz="1350" dirty="0"/>
          </a:p>
        </p:txBody>
      </p:sp>
      <p:sp>
        <p:nvSpPr>
          <p:cNvPr id="30" name="Text 27"/>
          <p:cNvSpPr/>
          <p:nvPr/>
        </p:nvSpPr>
        <p:spPr>
          <a:xfrm>
            <a:off x="6748272" y="4663440"/>
            <a:ext cx="4389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EEF2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Gerekli Girdi Hedefi (227 adet) karşılanamıyor (Fark: -47 parça).</a:t>
            </a:r>
            <a:endParaRPr lang="en-US" sz="1000" dirty="0"/>
          </a:p>
        </p:txBody>
      </p:sp>
      <p:sp>
        <p:nvSpPr>
          <p:cNvPr id="31" name="Text 28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4000 Hedefi İçin Yapılacaklar</a:t>
            </a:r>
            <a:endParaRPr lang="en-US" sz="900" dirty="0"/>
          </a:p>
        </p:txBody>
      </p:sp>
      <p:sp>
        <p:nvSpPr>
          <p:cNvPr id="32" name="Text 29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7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8660" y="662940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4000 HEDEFİ İÇİN YAPILACAKLAR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1280160" y="71323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Talaşlı İmalat: Flowform Eliminasyonu ve Yeni Akış Yol Haritası</a:t>
            </a:r>
            <a:endParaRPr lang="en-US" sz="2600" dirty="0"/>
          </a:p>
        </p:txBody>
      </p:sp>
      <p:sp>
        <p:nvSpPr>
          <p:cNvPr id="6" name="Text 3"/>
          <p:cNvSpPr/>
          <p:nvPr/>
        </p:nvSpPr>
        <p:spPr>
          <a:xfrm>
            <a:off x="548640" y="128016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Kapasite darboğazını aşmak için Flowform prosesinin hattan çıkarılması ve iki hücrenin tek bir ürüne odaklanması.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548640" y="1783080"/>
            <a:ext cx="5349240" cy="4251960"/>
          </a:xfrm>
          <a:prstGeom prst="roundRect">
            <a:avLst>
              <a:gd name="adj" fmla="val 1720"/>
            </a:avLst>
          </a:prstGeom>
          <a:solidFill>
            <a:srgbClr val="1E2761"/>
          </a:solidFill>
          <a:ln/>
        </p:spPr>
      </p:sp>
      <p:sp>
        <p:nvSpPr>
          <p:cNvPr id="8" name="Text 5"/>
          <p:cNvSpPr/>
          <p:nvPr/>
        </p:nvSpPr>
        <p:spPr>
          <a:xfrm>
            <a:off x="822960" y="196596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YENİ AKIŞ KAPASİTE ANALİZİ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22960" y="2286000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400"/>
              </a:lnSpc>
              <a:buNone/>
            </a:pPr>
            <a:r>
              <a:rPr lang="en-US" sz="1100" dirty="0">
                <a:solidFill>
                  <a:srgbClr val="EEF2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Flowform hattan çıkarıldığında ROB104 ve ROB108'deki toplam 8 torna sadece HS Preform üretecektir.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822960" y="2971800"/>
            <a:ext cx="4754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EEF2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Yeni Ortak Saatlik Kapasite: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822960" y="320040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36 parça / saat (Teorik)</a:t>
            </a:r>
            <a:endParaRPr lang="en-US" sz="2200" dirty="0"/>
          </a:p>
        </p:txBody>
      </p:sp>
      <p:sp>
        <p:nvSpPr>
          <p:cNvPr id="12" name="Text 9"/>
          <p:cNvSpPr/>
          <p:nvPr/>
        </p:nvSpPr>
        <p:spPr>
          <a:xfrm>
            <a:off x="822960" y="3794760"/>
            <a:ext cx="4754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EEF2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Yeni Günlük Kapasite (9s):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822960" y="402336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324 adet (Teorik)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822960" y="466344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B4530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Hedef %80 OEE ile Fiili Çıktı: ~259 adet / gün</a:t>
            </a:r>
            <a:endParaRPr lang="en-US" sz="1350" dirty="0"/>
          </a:p>
        </p:txBody>
      </p:sp>
      <p:sp>
        <p:nvSpPr>
          <p:cNvPr id="15" name="Text 12"/>
          <p:cNvSpPr/>
          <p:nvPr/>
        </p:nvSpPr>
        <p:spPr>
          <a:xfrm>
            <a:off x="822960" y="5029200"/>
            <a:ext cx="4754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EEF2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(Mevcut OEE Oranlarıyla Fiili Çıktı: ~235 adet / gün)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822960" y="534924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300"/>
              </a:lnSpc>
              <a:buNone/>
            </a:pPr>
            <a:r>
              <a:rPr lang="en-US" sz="1050" i="1" dirty="0">
                <a:solidFill>
                  <a:srgbClr val="EEF2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Günlük 200 adet sağlam ürün hedefi bu akışla rahatlıkla karşılanmaktadır.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6291072" y="1783080"/>
            <a:ext cx="534924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/>
          <a:effectLst>
            <a:outerShdw blurRad="76200" dist="25400" dir="5400000" algn="bl" rotWithShape="0">
              <a:srgbClr val="1E2761">
                <a:alpha val="8000"/>
              </a:srgbClr>
            </a:outerShdw>
          </a:effectLst>
        </p:spPr>
      </p:sp>
      <p:sp>
        <p:nvSpPr>
          <p:cNvPr id="18" name="Text 15"/>
          <p:cNvSpPr/>
          <p:nvPr/>
        </p:nvSpPr>
        <p:spPr>
          <a:xfrm>
            <a:off x="6565392" y="1965960"/>
            <a:ext cx="4800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PRES KALIPLARI VE PROSES DEĞİŞİKLİĞİ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6565392" y="2240280"/>
            <a:ext cx="4800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4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Preste üretilecek parçanın yeni geometriye uyum sağlaması için pres kalıp tasarımı ve presleme proses adımlarında modifikasyon yapılması.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6291072" y="3246120"/>
            <a:ext cx="534924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/>
          <a:effectLst>
            <a:outerShdw blurRad="76200" dist="25400" dir="5400000" algn="bl" rotWithShape="0">
              <a:srgbClr val="1E2761">
                <a:alpha val="8000"/>
              </a:srgbClr>
            </a:outerShdw>
          </a:effectLst>
        </p:spPr>
      </p:sp>
      <p:sp>
        <p:nvSpPr>
          <p:cNvPr id="21" name="Text 18"/>
          <p:cNvSpPr/>
          <p:nvPr/>
        </p:nvSpPr>
        <p:spPr>
          <a:xfrm>
            <a:off x="6565392" y="3429000"/>
            <a:ext cx="4800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ETM KALIPLARININ REVİZYONU</a:t>
            </a:r>
            <a:endParaRPr lang="en-US" sz="1050" dirty="0"/>
          </a:p>
        </p:txBody>
      </p:sp>
      <p:sp>
        <p:nvSpPr>
          <p:cNvPr id="22" name="Text 19"/>
          <p:cNvSpPr/>
          <p:nvPr/>
        </p:nvSpPr>
        <p:spPr>
          <a:xfrm>
            <a:off x="6565392" y="3703320"/>
            <a:ext cx="4800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4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Parça akış hızının ve deformasyonunun kontrolü amacıyla ETM hücresindeki kalıp setlerinin yeni ürün geometrisine göre revize edilmesi.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6291072" y="4709160"/>
            <a:ext cx="534924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/>
          <a:effectLst>
            <a:outerShdw blurRad="76200" dist="25400" dir="5400000" algn="bl" rotWithShape="0">
              <a:srgbClr val="1E2761">
                <a:alpha val="8000"/>
              </a:srgbClr>
            </a:outerShdw>
          </a:effectLst>
        </p:spPr>
      </p:sp>
      <p:sp>
        <p:nvSpPr>
          <p:cNvPr id="24" name="Text 21"/>
          <p:cNvSpPr/>
          <p:nvPr/>
        </p:nvSpPr>
        <p:spPr>
          <a:xfrm>
            <a:off x="6565392" y="4892040"/>
            <a:ext cx="4800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TORNA SETUPLARININ DEĞİŞTİRİLMESİ</a:t>
            </a:r>
            <a:endParaRPr lang="en-US" sz="1050" dirty="0"/>
          </a:p>
        </p:txBody>
      </p:sp>
      <p:sp>
        <p:nvSpPr>
          <p:cNvPr id="25" name="Text 22"/>
          <p:cNvSpPr/>
          <p:nvPr/>
        </p:nvSpPr>
        <p:spPr>
          <a:xfrm>
            <a:off x="6565392" y="5166360"/>
            <a:ext cx="4800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4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ROB104 ve ROB108'deki toplam 8 tornanın tamamının, yeni akış ve işleme koordinatlarına göre programlanıp setup'larının değiştirilmesi.</a:t>
            </a:r>
            <a:endParaRPr lang="en-US" sz="11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7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8660" y="662940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4000 HEDEFİ İÇİN YAPILACAKLAR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1280160" y="71323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Talaşlı İmalat: Flowform Eliminasyonu Ek Fayda ve Risk Analizi</a:t>
            </a:r>
            <a:endParaRPr lang="en-US" sz="2600" dirty="0"/>
          </a:p>
        </p:txBody>
      </p:sp>
      <p:sp>
        <p:nvSpPr>
          <p:cNvPr id="6" name="Text 3"/>
          <p:cNvSpPr/>
          <p:nvPr/>
        </p:nvSpPr>
        <p:spPr>
          <a:xfrm>
            <a:off x="548640" y="128016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Flowform prosesinin devreden çıkarılması, çevrim süresi kazanımının yanı sıra operasyonel, maddi ve lojistik birçok ek fayda sağlamaktadır.</a:t>
            </a:r>
            <a:endParaRPr lang="en-US" sz="11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45920"/>
          <a:ext cx="11064240" cy="3718560"/>
        </p:xfrm>
        <a:graphic>
          <a:graphicData uri="http://schemas.openxmlformats.org/drawingml/2006/table">
            <a:tbl>
              <a:tblPr/>
              <a:tblGrid>
                <a:gridCol w="37490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315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Fayda / Gelişim Alanı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Beklenen Etki / Kazanım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Hat Üretim Hedefi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FF preform işleme operasyonu kaldırılarak Hot Spinning preform işleme hücre sayısının artırılması, hat geneli talaşlı imalat optimizasyonunun yapılabilmesi ve Flowform hücresinden alınacak robot ile ROB109 hücresinin robotunun rahatlatılması.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Hammadde Tasarrufu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Kütük kütlesinde doğrudan azalma ve hammadde giriş maliyetlerinde kalıcı düşüş.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Kalıp Pastası Tüketimi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Yüksek sarfiyatlı ve maliyetli kalıp pastası kullanımının tamamen sıfırlanması.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Operasyonel Sadeleşme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Tırnaklı parça işleme ve ekstra düzeltme revizyon operasyonlarının ortadan kalkması.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İş Gücü Optimizasyonu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Çevrim süresi düzeltilemeyen Flowform kaynaklı 2 vardiya personel zorunluluğunun bitmesi.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Lojistik ve AGV Akışı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Parça taşıma rotalarının basitleşmesi ve lojistik arıza/duruş ihtimalinin azalması.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Uluslararası Projeler (Pakistan/Hırvatistan)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Yeni hat proses akışlarının önceden denenerek proje risklerinin azaltılması.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B9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Olası Süreç Riski (Pres Kalıp Denemeleri)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B9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Pres hücresindeki yeni geometri kalıp denemeleri nedeniyle geçici aksama/duruş riski mevcuttur.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8" name="Text 4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4000 Hedefi İçin Yapılacaklar</a:t>
            </a:r>
            <a:endParaRPr lang="en-US" sz="900" dirty="0"/>
          </a:p>
        </p:txBody>
      </p:sp>
      <p:sp>
        <p:nvSpPr>
          <p:cNvPr id="9" name="Text 5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7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8660" y="662940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4000 HEDEFİ İÇİN YAPILACAKLAR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1280160" y="71323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Talaşlı İmalat: Darboğaz Analizi (After Hot-Spinning)</a:t>
            </a:r>
            <a:endParaRPr lang="en-US" sz="2600" dirty="0"/>
          </a:p>
        </p:txBody>
      </p:sp>
      <p:sp>
        <p:nvSpPr>
          <p:cNvPr id="6" name="Text 3"/>
          <p:cNvSpPr/>
          <p:nvPr/>
        </p:nvSpPr>
        <p:spPr>
          <a:xfrm>
            <a:off x="548640" y="128016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Robot doluluk oranı en üst limitlere zorlansa dahi, ROB109 hücresi tekil bazda nihai hedefleri karşılamakta yetersiz kalmaktadır.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548640" y="1783080"/>
            <a:ext cx="5349240" cy="4251960"/>
          </a:xfrm>
          <a:prstGeom prst="roundRect">
            <a:avLst>
              <a:gd name="adj" fmla="val 1720"/>
            </a:avLst>
          </a:prstGeom>
          <a:solidFill>
            <a:srgbClr val="1E2761"/>
          </a:solidFill>
          <a:ln/>
        </p:spPr>
      </p:sp>
      <p:sp>
        <p:nvSpPr>
          <p:cNvPr id="8" name="Text 5"/>
          <p:cNvSpPr/>
          <p:nvPr/>
        </p:nvSpPr>
        <p:spPr>
          <a:xfrm>
            <a:off x="822960" y="196596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ROB109 AFTER HOT SPINNING HÜCRESİ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22960" y="228600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EF2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Fiziki Yapı: Hücre içerisinde 2 adet torna bulunmakta ve parça yükleme robotla yapılmaktadır.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822960" y="278892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EEF2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Robot Doluluk Oranı: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822960" y="30175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B4530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%90</a:t>
            </a:r>
            <a:endParaRPr lang="en-US" sz="2000" dirty="0"/>
          </a:p>
        </p:txBody>
      </p:sp>
      <p:sp>
        <p:nvSpPr>
          <p:cNvPr id="12" name="Text 9"/>
          <p:cNvSpPr/>
          <p:nvPr/>
        </p:nvSpPr>
        <p:spPr>
          <a:xfrm>
            <a:off x="3291840" y="278892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EEF2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Teorik Maksimum Hız: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3291840" y="30175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 parça / saat</a:t>
            </a:r>
            <a:endParaRPr lang="en-US" sz="2000" dirty="0"/>
          </a:p>
        </p:txBody>
      </p:sp>
      <p:sp>
        <p:nvSpPr>
          <p:cNvPr id="14" name="Shape 11"/>
          <p:cNvSpPr/>
          <p:nvPr/>
        </p:nvSpPr>
        <p:spPr>
          <a:xfrm>
            <a:off x="822960" y="3566160"/>
            <a:ext cx="4800600" cy="1463040"/>
          </a:xfrm>
          <a:prstGeom prst="roundRect">
            <a:avLst>
              <a:gd name="adj" fmla="val 3750"/>
            </a:avLst>
          </a:prstGeom>
          <a:solidFill>
            <a:srgbClr val="141B47"/>
          </a:solidFill>
          <a:ln/>
        </p:spPr>
      </p:sp>
      <p:sp>
        <p:nvSpPr>
          <p:cNvPr id="15" name="Text 12"/>
          <p:cNvSpPr/>
          <p:nvPr/>
        </p:nvSpPr>
        <p:spPr>
          <a:xfrm>
            <a:off x="1005840" y="3703320"/>
            <a:ext cx="4389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GÜNLÜK FİİLİ ÜRETİM KAPASİTESİ (OEE DAHİL)</a:t>
            </a:r>
            <a:endParaRPr lang="en-US" sz="950" dirty="0"/>
          </a:p>
        </p:txBody>
      </p:sp>
      <p:sp>
        <p:nvSpPr>
          <p:cNvPr id="16" name="Text 13"/>
          <p:cNvSpPr/>
          <p:nvPr/>
        </p:nvSpPr>
        <p:spPr>
          <a:xfrm>
            <a:off x="1005840" y="3977640"/>
            <a:ext cx="4389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EF2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Teorik Günlük Limit: 216 adet | Mevcut OEE: %65.6 | Hedef OEE: %80</a:t>
            </a:r>
            <a:endParaRPr lang="en-US" sz="950" dirty="0"/>
          </a:p>
        </p:txBody>
      </p:sp>
      <p:sp>
        <p:nvSpPr>
          <p:cNvPr id="17" name="Text 14"/>
          <p:cNvSpPr/>
          <p:nvPr/>
        </p:nvSpPr>
        <p:spPr>
          <a:xfrm>
            <a:off x="1005840" y="4297680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B4530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Gerçek Üretilebilir Adet (Hedef OEE ile): 173 adet / gün</a:t>
            </a:r>
            <a:endParaRPr lang="en-US" sz="1350" dirty="0"/>
          </a:p>
        </p:txBody>
      </p:sp>
      <p:sp>
        <p:nvSpPr>
          <p:cNvPr id="18" name="Text 15"/>
          <p:cNvSpPr/>
          <p:nvPr/>
        </p:nvSpPr>
        <p:spPr>
          <a:xfrm>
            <a:off x="1005840" y="4663440"/>
            <a:ext cx="4389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EEF2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Gerekli Girdi Hedefi (217 adet) karşılanamıyor (Fark: -44 parça).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6291072" y="1783080"/>
            <a:ext cx="5349240" cy="4251960"/>
          </a:xfrm>
          <a:prstGeom prst="roundRect">
            <a:avLst>
              <a:gd name="adj" fmla="val 1720"/>
            </a:avLst>
          </a:prstGeom>
          <a:solidFill>
            <a:srgbClr val="1E2761"/>
          </a:solidFill>
          <a:ln/>
        </p:spPr>
      </p:sp>
      <p:sp>
        <p:nvSpPr>
          <p:cNvPr id="20" name="Text 17"/>
          <p:cNvSpPr/>
          <p:nvPr/>
        </p:nvSpPr>
        <p:spPr>
          <a:xfrm>
            <a:off x="6565392" y="196596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KAPASİTE ARTIŞ AKSİYONLARI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6565392" y="233172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Torna İşleme Yükünün Azaltılması</a:t>
            </a:r>
            <a:endParaRPr lang="en-US" sz="2200" dirty="0"/>
          </a:p>
        </p:txBody>
      </p:sp>
      <p:sp>
        <p:nvSpPr>
          <p:cNvPr id="22" name="Text 19"/>
          <p:cNvSpPr/>
          <p:nvPr/>
        </p:nvSpPr>
        <p:spPr>
          <a:xfrm>
            <a:off x="6565392" y="278892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400"/>
              </a:lnSpc>
              <a:buNone/>
            </a:pPr>
            <a:r>
              <a:rPr lang="en-US" sz="1100" dirty="0">
                <a:solidFill>
                  <a:srgbClr val="EEF2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ROB109 torna çevrim süresini düşürmek amacıyla talaşlı imalat iş yükü yeni planlamadaki 8 tornaya (ROB104/108) paylaştırılacaktır.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6565392" y="356616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B4530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Robot Yükünün Hafifletilmesi</a:t>
            </a:r>
            <a:endParaRPr lang="en-US" sz="2000" dirty="0"/>
          </a:p>
        </p:txBody>
      </p:sp>
      <p:sp>
        <p:nvSpPr>
          <p:cNvPr id="24" name="Text 21"/>
          <p:cNvSpPr/>
          <p:nvPr/>
        </p:nvSpPr>
        <p:spPr>
          <a:xfrm>
            <a:off x="6565392" y="4023360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400"/>
              </a:lnSpc>
              <a:buNone/>
            </a:pPr>
            <a:r>
              <a:rPr lang="en-US" sz="1100" dirty="0">
                <a:solidFill>
                  <a:srgbClr val="EEF2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Robotun operasyon sayısını azaltmak için konveyöre mekanik yükleme sistemi kurulmalı veya boşa çıkan Flowform robotu buraya kaydırılmalıdır.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4000 Hedefi İçin Yapılacaklar</a:t>
            </a:r>
            <a:endParaRPr lang="en-US" sz="900" dirty="0"/>
          </a:p>
        </p:txBody>
      </p:sp>
      <p:sp>
        <p:nvSpPr>
          <p:cNvPr id="26" name="Text 23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7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8660" y="662940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4000 HEDEFİ İÇİN YAPILACAKLAR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1280160" y="71323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Isıl İşlem: Quench Hücresi Darboğazı ve Robot Optimizasyonu</a:t>
            </a:r>
            <a:endParaRPr lang="en-US" sz="2600" dirty="0"/>
          </a:p>
        </p:txBody>
      </p:sp>
      <p:sp>
        <p:nvSpPr>
          <p:cNvPr id="6" name="Text 3"/>
          <p:cNvSpPr/>
          <p:nvPr/>
        </p:nvSpPr>
        <p:spPr>
          <a:xfrm>
            <a:off x="548640" y="128016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Fırınların kapasitesi daha yüksek olmasına rağmen, hücre ortasındaki transfer robotunun çevrim süresi tüm hücre performansını sınırlamaktadır.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548640" y="1783080"/>
            <a:ext cx="5349240" cy="4251960"/>
          </a:xfrm>
          <a:prstGeom prst="roundRect">
            <a:avLst>
              <a:gd name="adj" fmla="val 1720"/>
            </a:avLst>
          </a:prstGeom>
          <a:solidFill>
            <a:srgbClr val="1E2761"/>
          </a:solidFill>
          <a:ln/>
        </p:spPr>
      </p:sp>
      <p:sp>
        <p:nvSpPr>
          <p:cNvPr id="8" name="Text 5"/>
          <p:cNvSpPr/>
          <p:nvPr/>
        </p:nvSpPr>
        <p:spPr>
          <a:xfrm>
            <a:off x="822960" y="196596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PROSES AKIŞI VE MEVCUT DARBOĞAZ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822960" y="2331720"/>
            <a:ext cx="4754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EEF2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İlk Fırın Giriş Tasarım Hızı: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22960" y="256032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2.0 dk / parça</a:t>
            </a:r>
            <a:endParaRPr lang="en-US" sz="2200" dirty="0"/>
          </a:p>
        </p:txBody>
      </p:sp>
      <p:sp>
        <p:nvSpPr>
          <p:cNvPr id="11" name="Text 8"/>
          <p:cNvSpPr/>
          <p:nvPr/>
        </p:nvSpPr>
        <p:spPr>
          <a:xfrm>
            <a:off x="822960" y="3154680"/>
            <a:ext cx="4754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EEF2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Robot Aktarma Döngüsü (Mevcut Darboğaz):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822960" y="338328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2.5 dk / parça</a:t>
            </a:r>
            <a:endParaRPr lang="en-US" sz="2200" dirty="0"/>
          </a:p>
        </p:txBody>
      </p:sp>
      <p:sp>
        <p:nvSpPr>
          <p:cNvPr id="13" name="Text 10"/>
          <p:cNvSpPr/>
          <p:nvPr/>
        </p:nvSpPr>
        <p:spPr>
          <a:xfrm>
            <a:off x="822960" y="4069080"/>
            <a:ext cx="4754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EEF2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Zorunlu Çevrim Limiti (Sistemik Etki):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822960" y="429768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B4530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2.5 dk / parça</a:t>
            </a:r>
            <a:endParaRPr lang="en-US" sz="2200" dirty="0"/>
          </a:p>
        </p:txBody>
      </p:sp>
      <p:sp>
        <p:nvSpPr>
          <p:cNvPr id="15" name="Text 12"/>
          <p:cNvSpPr/>
          <p:nvPr/>
        </p:nvSpPr>
        <p:spPr>
          <a:xfrm>
            <a:off x="822960" y="480060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EEF2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Robot hızı sebebiyle öncesi ve sonrasındaki fırınlar da yavaş çalışmaktadır.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6291072" y="1783080"/>
            <a:ext cx="534924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/>
          <a:effectLst>
            <a:outerShdw blurRad="76200" dist="25400" dir="5400000" algn="bl" rotWithShape="0">
              <a:srgbClr val="1E2761">
                <a:alpha val="8000"/>
              </a:srgbClr>
            </a:outerShdw>
          </a:effectLst>
        </p:spPr>
      </p:sp>
      <p:sp>
        <p:nvSpPr>
          <p:cNvPr id="17" name="Text 14"/>
          <p:cNvSpPr/>
          <p:nvPr/>
        </p:nvSpPr>
        <p:spPr>
          <a:xfrm>
            <a:off x="6565392" y="1965960"/>
            <a:ext cx="4800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ROBOT HAREKET VE PROGRAMLAMA OPTİMİZASYONU</a:t>
            </a:r>
            <a:endParaRPr lang="en-US" sz="1050" dirty="0"/>
          </a:p>
        </p:txBody>
      </p:sp>
      <p:sp>
        <p:nvSpPr>
          <p:cNvPr id="18" name="Text 15"/>
          <p:cNvSpPr/>
          <p:nvPr/>
        </p:nvSpPr>
        <p:spPr>
          <a:xfrm>
            <a:off x="6565392" y="2240280"/>
            <a:ext cx="4800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4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Ortadaki transfer robotunun yörünge, hızlanma limitleri ve parça yakalama/bırakma noktaları optimize edilerek aktarma döngüsü 2.0 dakikaya indirilmelidir.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6291072" y="3246120"/>
            <a:ext cx="534924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/>
          <a:effectLst>
            <a:outerShdw blurRad="76200" dist="25400" dir="5400000" algn="bl" rotWithShape="0">
              <a:srgbClr val="1E2761">
                <a:alpha val="8000"/>
              </a:srgbClr>
            </a:outerShdw>
          </a:effectLst>
        </p:spPr>
      </p:sp>
      <p:sp>
        <p:nvSpPr>
          <p:cNvPr id="20" name="Text 17"/>
          <p:cNvSpPr/>
          <p:nvPr/>
        </p:nvSpPr>
        <p:spPr>
          <a:xfrm>
            <a:off x="6565392" y="3429000"/>
            <a:ext cx="4800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FIRINLARIN SENKRONİZASYONU</a:t>
            </a:r>
            <a:endParaRPr lang="en-US" sz="1050" dirty="0"/>
          </a:p>
        </p:txBody>
      </p:sp>
      <p:sp>
        <p:nvSpPr>
          <p:cNvPr id="21" name="Text 18"/>
          <p:cNvSpPr/>
          <p:nvPr/>
        </p:nvSpPr>
        <p:spPr>
          <a:xfrm>
            <a:off x="6565392" y="3703320"/>
            <a:ext cx="4800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4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Robot çevriminin 2.0 dakikaya çekilmesiyle birlikte, giriş ve çıkış fırınları da kendi tasarım hızları olan 2.0 dk tempo ile senkronize çalışabilecektir.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6291072" y="4709160"/>
            <a:ext cx="534924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/>
          <a:effectLst>
            <a:outerShdw blurRad="76200" dist="25400" dir="5400000" algn="bl" rotWithShape="0">
              <a:srgbClr val="1E2761">
                <a:alpha val="8000"/>
              </a:srgbClr>
            </a:outerShdw>
          </a:effectLst>
        </p:spPr>
      </p:sp>
      <p:sp>
        <p:nvSpPr>
          <p:cNvPr id="23" name="Text 20"/>
          <p:cNvSpPr/>
          <p:nvPr/>
        </p:nvSpPr>
        <p:spPr>
          <a:xfrm>
            <a:off x="6565392" y="4892040"/>
            <a:ext cx="4800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KAPASİTE KAZANIM TABLOSU (TEORİK LİMİT)</a:t>
            </a:r>
            <a:endParaRPr lang="en-US" sz="1050" dirty="0"/>
          </a:p>
        </p:txBody>
      </p:sp>
      <p:sp>
        <p:nvSpPr>
          <p:cNvPr id="24" name="Text 21"/>
          <p:cNvSpPr/>
          <p:nvPr/>
        </p:nvSpPr>
        <p:spPr>
          <a:xfrm>
            <a:off x="6565392" y="5166360"/>
            <a:ext cx="4800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4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Mevcut Kapasite (2.5 dk): 24 parça/saat  |  216 parça/gün</a:t>
            </a:r>
            <a:endParaRPr lang="en-US" sz="1100" dirty="0"/>
          </a:p>
          <a:p>
            <a:pPr marL="0" indent="0">
              <a:lnSpc>
                <a:spcPts val="14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Hedef Kapasite (2.0 dk): 30 parça/saat  |  270 parça/gün</a:t>
            </a:r>
            <a:endParaRPr lang="en-US" sz="1100" dirty="0"/>
          </a:p>
          <a:p>
            <a:pPr marL="0" indent="0">
              <a:lnSpc>
                <a:spcPts val="14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Kapasite Artış Potansiyeli: +%25 Net Kapasite Kazanımı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4000 Hedefi İçin Yapılacaklar</a:t>
            </a:r>
            <a:endParaRPr lang="en-US" sz="900" dirty="0"/>
          </a:p>
        </p:txBody>
      </p:sp>
      <p:sp>
        <p:nvSpPr>
          <p:cNvPr id="26" name="Text 23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7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8660" y="662940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4000 HEDEFİ İÇİN YAPILACAKLAR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1280160" y="71323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NCMS Tarafından Yapılacaklar</a:t>
            </a:r>
            <a:endParaRPr lang="en-US" sz="26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5349240" cy="914400"/>
        </p:xfrm>
        <a:graphic>
          <a:graphicData uri="http://schemas.openxmlformats.org/drawingml/2006/table">
            <a:tbl>
              <a:tblPr/>
              <a:tblGrid>
                <a:gridCol w="548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800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2062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Aksiyon Maddesi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Pres eşanjörünün temizlenmesi.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Çalışmayan Doosan tezgahlarının tamir edilmesi ve genel Doosan bakım planlamasının yapılması.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Fabrika için uygun ortam sıcaklığının sağlanması.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Sarf malzemelerinin tedarik edilmesi.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Yedek parça ihtiyaçlarının tedarik edilmesi.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Soğutma kulesi pompa verimliliğinin incelenmesi ve iyileştirilmesi.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İç kumlama (sandblasting) makinesinin bakımı için AİME'nin çağrılması.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Personel sayısının artırılması ve koordinasyonun güçlendirilmesi.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Bakım yönetiminin organize edilmesi, gerekli ekipman ve personel desteğinin sağlanması.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graphicFrame>
        <p:nvGraphicFramePr>
          <p:cNvPr id="5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91072" y="1463040"/>
          <a:ext cx="5349240" cy="914400"/>
        </p:xfrm>
        <a:graphic>
          <a:graphicData uri="http://schemas.openxmlformats.org/drawingml/2006/table">
            <a:tbl>
              <a:tblPr/>
              <a:tblGrid>
                <a:gridCol w="640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7091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2062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Aksiyon Maddesi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Ham madde, çember (band) ve taban kapağı (base cover) tedariki.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CNC takımlarının tedarik edilmesi.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Talaş kovalarının yedeklenmesi ve organize edilmesi.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Yeni pres basınç filtrelerinin sipariş edilmesi.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Yeni quench zincirinin tedarik edilmesi.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Kalıp revizyonları için bir kalıphane kurulması (veya alternatif bir çözüm üretilmesi).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Kalite ölçüm ekipmanlarındaki eksikliklerin giderilmesi.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Bitmiş parçalar için palet tedarik edilmesi.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4000 Hedefi İçin Yapılacaklar</a:t>
            </a:r>
            <a:endParaRPr lang="en-US" sz="900" dirty="0"/>
          </a:p>
        </p:txBody>
      </p:sp>
      <p:sp>
        <p:nvSpPr>
          <p:cNvPr id="9" name="Text 4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7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8660" y="662940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NCMS KADRO ÖNERİSİ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1280160" y="71323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Bölüm Bazlı NCMS Kadro Önerisi</a:t>
            </a:r>
            <a:endParaRPr lang="en-US" sz="26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5029200" cy="914400"/>
        </p:xfrm>
        <a:graphic>
          <a:graphicData uri="http://schemas.openxmlformats.org/drawingml/2006/table">
            <a:tbl>
              <a:tblPr/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85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85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85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858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Bölüm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Vardiya 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Vardiya 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Vardiya 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Toplam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Testere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İndüksiyon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Pres Yanı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Tav Fırını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ETM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Kalite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Taşıma / Lojistik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ROB104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ROB108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F420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N602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</a:tbl>
          </a:graphicData>
        </a:graphic>
      </p:graphicFrame>
      <p:graphicFrame>
        <p:nvGraphicFramePr>
          <p:cNvPr id="5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611112" y="1371600"/>
          <a:ext cx="5029200" cy="914400"/>
        </p:xfrm>
        <a:graphic>
          <a:graphicData uri="http://schemas.openxmlformats.org/drawingml/2006/table">
            <a:tbl>
              <a:tblPr/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85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85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85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858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Bölüm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Vardiya 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Vardiya 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Vardiya 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Toplam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N603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ROB109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Quench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SBU110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ROB110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ROB111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Kalite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PHO101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WPL103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Bakım Ekibi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Spider Operatörler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Toplam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=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NCMS Kadro Önerisi</a:t>
            </a:r>
            <a:endParaRPr lang="en-US" sz="900" dirty="0"/>
          </a:p>
        </p:txBody>
      </p:sp>
      <p:sp>
        <p:nvSpPr>
          <p:cNvPr id="9" name="Text 4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7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8660" y="662940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NCMS KADRO ÖNERİSİ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1280160" y="71323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NCMS Kadro Dağılımının Fabrika Yerleşimi Üzerindeki Görünümü</a:t>
            </a:r>
            <a:endParaRPr lang="en-US" sz="2600" dirty="0"/>
          </a:p>
        </p:txBody>
      </p:sp>
      <p:pic>
        <p:nvPicPr>
          <p:cNvPr id="6" name="Image 1" descr="C:\Users\tvural.REPKON\Desktop\HF901\Serial Production\ManufUI\docs\sunumlar\build\headcount_layou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248" y="1280160"/>
            <a:ext cx="10515600" cy="4919472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NCMS Kadro Önerisi</a:t>
            </a:r>
            <a:endParaRPr lang="en-US" sz="900" dirty="0"/>
          </a:p>
        </p:txBody>
      </p:sp>
      <p:sp>
        <p:nvSpPr>
          <p:cNvPr id="8" name="Text 4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eması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3395</Words>
  <Application>Microsoft Office PowerPoint</Application>
  <PresentationFormat>Geniş ekran</PresentationFormat>
  <Paragraphs>1109</Paragraphs>
  <Slides>28</Slides>
  <Notes>28</Notes>
  <HiddenSlides>0</HiddenSlides>
  <MMClips>0</MMClips>
  <ScaleCrop>false</ScaleCrop>
  <HeadingPairs>
    <vt:vector size="6" baseType="variant">
      <vt:variant>
        <vt:lpstr>Kullanılan Yazı Tipleri</vt:lpstr>
      </vt:variant>
      <vt:variant>
        <vt:i4>3</vt:i4>
      </vt:variant>
      <vt:variant>
        <vt:lpstr>Tema</vt:lpstr>
      </vt:variant>
      <vt:variant>
        <vt:i4>1</vt:i4>
      </vt:variant>
      <vt:variant>
        <vt:lpstr>Slayt Başlıkları</vt:lpstr>
      </vt:variant>
      <vt:variant>
        <vt:i4>28</vt:i4>
      </vt:variant>
    </vt:vector>
  </HeadingPairs>
  <TitlesOfParts>
    <vt:vector size="32" baseType="lpstr">
      <vt:lpstr>Arial</vt:lpstr>
      <vt:lpstr>Calibri</vt:lpstr>
      <vt:lpstr>Cambria</vt:lpstr>
      <vt:lpstr>Office Theme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Repkon HF901 Seri Üretim — Performans Raporu ve Aksiyon Talebi</dc:title>
  <dc:subject>PptxGenJS Presentation</dc:subject>
  <dc:creator>Repkon HF901</dc:creator>
  <cp:lastModifiedBy>Tayfun Vural</cp:lastModifiedBy>
  <cp:revision>1</cp:revision>
  <dcterms:created xsi:type="dcterms:W3CDTF">2026-07-11T13:21:24Z</dcterms:created>
  <dcterms:modified xsi:type="dcterms:W3CDTF">2026-07-11T13:22:18Z</dcterms:modified>
</cp:coreProperties>
</file>