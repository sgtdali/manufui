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Üretim (adet)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ROB110-111</c:v>
                  </c:pt>
                  <c:pt idx="1">
                    <c:v>Quench</c:v>
                  </c:pt>
                  <c:pt idx="2">
                    <c:v>ROB109</c:v>
                  </c:pt>
                  <c:pt idx="3">
                    <c:v>N602-N603</c:v>
                  </c:pt>
                  <c:pt idx="4">
                    <c:v>Flowform</c:v>
                  </c:pt>
                  <c:pt idx="5">
                    <c:v>ROB104</c:v>
                  </c:pt>
                  <c:pt idx="6">
                    <c:v>ROB108</c:v>
                  </c:pt>
                  <c:pt idx="7">
                    <c:v>ETM</c:v>
                  </c:pt>
                  <c:pt idx="8">
                    <c:v>Pres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1151</c:v>
                </c:pt>
                <c:pt idx="1">
                  <c:v>1744</c:v>
                </c:pt>
                <c:pt idx="2">
                  <c:v>1934</c:v>
                </c:pt>
                <c:pt idx="3">
                  <c:v>2031</c:v>
                </c:pt>
                <c:pt idx="4">
                  <c:v>2034</c:v>
                </c:pt>
                <c:pt idx="5">
                  <c:v>2037</c:v>
                </c:pt>
                <c:pt idx="6">
                  <c:v>2038</c:v>
                </c:pt>
                <c:pt idx="7">
                  <c:v>2054</c:v>
                </c:pt>
                <c:pt idx="8">
                  <c:v>2060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adet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Günlük Kayıp Süresi (dk)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14.06</c:v>
                  </c:pt>
                  <c:pt idx="1">
                    <c:v>15.06</c:v>
                  </c:pt>
                  <c:pt idx="2">
                    <c:v>16.06</c:v>
                  </c:pt>
                  <c:pt idx="3">
                    <c:v>17.06</c:v>
                  </c:pt>
                  <c:pt idx="4">
                    <c:v>18.06</c:v>
                  </c:pt>
                  <c:pt idx="5">
                    <c:v>21.06</c:v>
                  </c:pt>
                  <c:pt idx="6">
                    <c:v>22.06</c:v>
                  </c:pt>
                  <c:pt idx="7">
                    <c:v>23.06</c:v>
                  </c:pt>
                  <c:pt idx="8">
                    <c:v>24.06</c:v>
                  </c:pt>
                  <c:pt idx="9">
                    <c:v>25.06</c:v>
                  </c:pt>
                  <c:pt idx="10">
                    <c:v>28.06</c:v>
                  </c:pt>
                  <c:pt idx="11">
                    <c:v>29.06</c:v>
                  </c:pt>
                  <c:pt idx="12">
                    <c:v>30.06</c:v>
                  </c:pt>
                  <c:pt idx="13">
                    <c:v>01.07</c:v>
                  </c:pt>
                  <c:pt idx="14">
                    <c:v>02.07</c:v>
                  </c:pt>
                  <c:pt idx="15">
                    <c:v>04.07</c:v>
                  </c:pt>
                  <c:pt idx="16">
                    <c:v>05.07</c:v>
                  </c:pt>
                  <c:pt idx="17">
                    <c:v>06.07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140</c:v>
                </c:pt>
                <c:pt idx="1">
                  <c:v>739</c:v>
                </c:pt>
                <c:pt idx="2">
                  <c:v>1099</c:v>
                </c:pt>
                <c:pt idx="3">
                  <c:v>1386</c:v>
                </c:pt>
                <c:pt idx="4">
                  <c:v>1558</c:v>
                </c:pt>
                <c:pt idx="5">
                  <c:v>826</c:v>
                </c:pt>
                <c:pt idx="6">
                  <c:v>1011</c:v>
                </c:pt>
                <c:pt idx="7">
                  <c:v>937</c:v>
                </c:pt>
                <c:pt idx="8">
                  <c:v>1060</c:v>
                </c:pt>
                <c:pt idx="9">
                  <c:v>873</c:v>
                </c:pt>
                <c:pt idx="10">
                  <c:v>485</c:v>
                </c:pt>
                <c:pt idx="11">
                  <c:v>1286</c:v>
                </c:pt>
                <c:pt idx="12">
                  <c:v>1056</c:v>
                </c:pt>
                <c:pt idx="13">
                  <c:v>986</c:v>
                </c:pt>
                <c:pt idx="14">
                  <c:v>569</c:v>
                </c:pt>
                <c:pt idx="15">
                  <c:v>372</c:v>
                </c:pt>
                <c:pt idx="16">
                  <c:v>415</c:v>
                </c:pt>
                <c:pt idx="17">
                  <c:v>721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14.06</c:v>
                  </c:pt>
                  <c:pt idx="1">
                    <c:v>15.06</c:v>
                  </c:pt>
                  <c:pt idx="2">
                    <c:v>16.06</c:v>
                  </c:pt>
                  <c:pt idx="3">
                    <c:v>17.06</c:v>
                  </c:pt>
                  <c:pt idx="4">
                    <c:v>18.06</c:v>
                  </c:pt>
                  <c:pt idx="5">
                    <c:v>21.06</c:v>
                  </c:pt>
                  <c:pt idx="6">
                    <c:v>22.06</c:v>
                  </c:pt>
                  <c:pt idx="7">
                    <c:v>23.06</c:v>
                  </c:pt>
                  <c:pt idx="8">
                    <c:v>24.06</c:v>
                  </c:pt>
                  <c:pt idx="9">
                    <c:v>25.06</c:v>
                  </c:pt>
                  <c:pt idx="10">
                    <c:v>28.06</c:v>
                  </c:pt>
                  <c:pt idx="11">
                    <c:v>29.06</c:v>
                  </c:pt>
                  <c:pt idx="12">
                    <c:v>30.06</c:v>
                  </c:pt>
                  <c:pt idx="13">
                    <c:v>01.07</c:v>
                  </c:pt>
                  <c:pt idx="14">
                    <c:v>02.07</c:v>
                  </c:pt>
                  <c:pt idx="15">
                    <c:v>04.07</c:v>
                  </c:pt>
                  <c:pt idx="16">
                    <c:v>05.07</c:v>
                  </c:pt>
                  <c:pt idx="17">
                    <c:v>06.07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1012.4</c:v>
                </c:pt>
                <c:pt idx="1">
                  <c:v>994.7</c:v>
                </c:pt>
                <c:pt idx="2">
                  <c:v>977.1</c:v>
                </c:pt>
                <c:pt idx="3">
                  <c:v>959.4</c:v>
                </c:pt>
                <c:pt idx="4">
                  <c:v>941.7</c:v>
                </c:pt>
                <c:pt idx="5">
                  <c:v>924</c:v>
                </c:pt>
                <c:pt idx="6">
                  <c:v>906.4</c:v>
                </c:pt>
                <c:pt idx="7">
                  <c:v>888.7</c:v>
                </c:pt>
                <c:pt idx="8">
                  <c:v>871</c:v>
                </c:pt>
                <c:pt idx="9">
                  <c:v>853.3</c:v>
                </c:pt>
                <c:pt idx="10">
                  <c:v>835.7</c:v>
                </c:pt>
                <c:pt idx="11">
                  <c:v>818</c:v>
                </c:pt>
                <c:pt idx="12">
                  <c:v>800.3</c:v>
                </c:pt>
                <c:pt idx="13">
                  <c:v>782.6</c:v>
                </c:pt>
                <c:pt idx="14">
                  <c:v>765</c:v>
                </c:pt>
                <c:pt idx="15">
                  <c:v>747.3</c:v>
                </c:pt>
                <c:pt idx="16">
                  <c:v>729.6</c:v>
                </c:pt>
                <c:pt idx="17">
                  <c:v>711.9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dk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Ortalama Üretim (adet/gün)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13.06</c:v>
                  </c:pt>
                  <c:pt idx="1">
                    <c:v>14.06</c:v>
                  </c:pt>
                  <c:pt idx="2">
                    <c:v>15.06</c:v>
                  </c:pt>
                  <c:pt idx="3">
                    <c:v>16.06</c:v>
                  </c:pt>
                  <c:pt idx="4">
                    <c:v>17.06</c:v>
                  </c:pt>
                  <c:pt idx="5">
                    <c:v>18.06</c:v>
                  </c:pt>
                  <c:pt idx="6">
                    <c:v>21.06</c:v>
                  </c:pt>
                  <c:pt idx="7">
                    <c:v>22.06</c:v>
                  </c:pt>
                  <c:pt idx="8">
                    <c:v>23.06</c:v>
                  </c:pt>
                  <c:pt idx="9">
                    <c:v>24.06</c:v>
                  </c:pt>
                  <c:pt idx="10">
                    <c:v>25.06</c:v>
                  </c:pt>
                  <c:pt idx="11">
                    <c:v>26.06</c:v>
                  </c:pt>
                  <c:pt idx="12">
                    <c:v>28.06</c:v>
                  </c:pt>
                  <c:pt idx="13">
                    <c:v>29.06</c:v>
                  </c:pt>
                  <c:pt idx="14">
                    <c:v>30.06</c:v>
                  </c:pt>
                  <c:pt idx="15">
                    <c:v>01.07</c:v>
                  </c:pt>
                  <c:pt idx="16">
                    <c:v>02.07</c:v>
                  </c:pt>
                  <c:pt idx="17">
                    <c:v>04.07</c:v>
                  </c:pt>
                  <c:pt idx="18">
                    <c:v>05.07</c:v>
                  </c:pt>
                  <c:pt idx="19">
                    <c:v>06.07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80</c:v>
                </c:pt>
                <c:pt idx="1">
                  <c:v>112.7</c:v>
                </c:pt>
                <c:pt idx="2">
                  <c:v>72.8</c:v>
                </c:pt>
                <c:pt idx="3">
                  <c:v>85.1</c:v>
                </c:pt>
                <c:pt idx="4">
                  <c:v>80.4</c:v>
                </c:pt>
                <c:pt idx="5">
                  <c:v>125.4</c:v>
                </c:pt>
                <c:pt idx="6">
                  <c:v>114.4</c:v>
                </c:pt>
                <c:pt idx="7">
                  <c:v>119.4</c:v>
                </c:pt>
                <c:pt idx="8">
                  <c:v>98.5</c:v>
                </c:pt>
                <c:pt idx="9">
                  <c:v>107.8</c:v>
                </c:pt>
                <c:pt idx="10">
                  <c:v>117.1</c:v>
                </c:pt>
                <c:pt idx="11">
                  <c:v>107</c:v>
                </c:pt>
                <c:pt idx="12">
                  <c:v>126.4</c:v>
                </c:pt>
                <c:pt idx="13">
                  <c:v>108.6</c:v>
                </c:pt>
                <c:pt idx="14">
                  <c:v>115.9</c:v>
                </c:pt>
                <c:pt idx="15">
                  <c:v>117.8</c:v>
                </c:pt>
                <c:pt idx="16">
                  <c:v>130.8</c:v>
                </c:pt>
                <c:pt idx="17">
                  <c:v>93</c:v>
                </c:pt>
                <c:pt idx="18">
                  <c:v>116.6</c:v>
                </c:pt>
                <c:pt idx="19">
                  <c:v>123.1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13.06</c:v>
                  </c:pt>
                  <c:pt idx="1">
                    <c:v>14.06</c:v>
                  </c:pt>
                  <c:pt idx="2">
                    <c:v>15.06</c:v>
                  </c:pt>
                  <c:pt idx="3">
                    <c:v>16.06</c:v>
                  </c:pt>
                  <c:pt idx="4">
                    <c:v>17.06</c:v>
                  </c:pt>
                  <c:pt idx="5">
                    <c:v>18.06</c:v>
                  </c:pt>
                  <c:pt idx="6">
                    <c:v>21.06</c:v>
                  </c:pt>
                  <c:pt idx="7">
                    <c:v>22.06</c:v>
                  </c:pt>
                  <c:pt idx="8">
                    <c:v>23.06</c:v>
                  </c:pt>
                  <c:pt idx="9">
                    <c:v>24.06</c:v>
                  </c:pt>
                  <c:pt idx="10">
                    <c:v>25.06</c:v>
                  </c:pt>
                  <c:pt idx="11">
                    <c:v>26.06</c:v>
                  </c:pt>
                  <c:pt idx="12">
                    <c:v>28.06</c:v>
                  </c:pt>
                  <c:pt idx="13">
                    <c:v>29.06</c:v>
                  </c:pt>
                  <c:pt idx="14">
                    <c:v>30.06</c:v>
                  </c:pt>
                  <c:pt idx="15">
                    <c:v>01.07</c:v>
                  </c:pt>
                  <c:pt idx="16">
                    <c:v>02.07</c:v>
                  </c:pt>
                  <c:pt idx="17">
                    <c:v>04.07</c:v>
                  </c:pt>
                  <c:pt idx="18">
                    <c:v>05.07</c:v>
                  </c:pt>
                  <c:pt idx="19">
                    <c:v>06.07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92.4</c:v>
                </c:pt>
                <c:pt idx="1">
                  <c:v>94</c:v>
                </c:pt>
                <c:pt idx="2">
                  <c:v>95.6</c:v>
                </c:pt>
                <c:pt idx="3">
                  <c:v>97.2</c:v>
                </c:pt>
                <c:pt idx="4">
                  <c:v>98.8</c:v>
                </c:pt>
                <c:pt idx="5">
                  <c:v>100.4</c:v>
                </c:pt>
                <c:pt idx="6">
                  <c:v>102</c:v>
                </c:pt>
                <c:pt idx="7">
                  <c:v>103.6</c:v>
                </c:pt>
                <c:pt idx="8">
                  <c:v>105.2</c:v>
                </c:pt>
                <c:pt idx="9">
                  <c:v>106.8</c:v>
                </c:pt>
                <c:pt idx="10">
                  <c:v>108.4</c:v>
                </c:pt>
                <c:pt idx="11">
                  <c:v>110.1</c:v>
                </c:pt>
                <c:pt idx="12">
                  <c:v>111.7</c:v>
                </c:pt>
                <c:pt idx="13">
                  <c:v>113.3</c:v>
                </c:pt>
                <c:pt idx="14">
                  <c:v>114.9</c:v>
                </c:pt>
                <c:pt idx="15">
                  <c:v>116.5</c:v>
                </c:pt>
                <c:pt idx="16">
                  <c:v>118.1</c:v>
                </c:pt>
                <c:pt idx="17">
                  <c:v>119.7</c:v>
                </c:pt>
                <c:pt idx="18">
                  <c:v>121.3</c:v>
                </c:pt>
                <c:pt idx="19">
                  <c:v>122.9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adet/gün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Kalite Durumu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5803D"/>
              </a:solidFill>
              <a:effectLst/>
            </c:spPr>
          </c:dPt>
          <c:dPt>
            <c:idx val="1"/>
            <c:bubble3D val="0"/>
            <c:spPr>
              <a:solidFill>
                <a:srgbClr val="B45309"/>
              </a:solidFill>
              <a:effectLst/>
            </c:spPr>
          </c:dPt>
          <c:dPt>
            <c:idx val="2"/>
            <c:bubble3D val="0"/>
            <c:spPr>
              <a:solidFill>
                <a:srgbClr val="B91C1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Uygun</c:v>
                </c:pt>
                <c:pt idx="1">
                  <c:v>Rework</c:v>
                </c:pt>
                <c:pt idx="2">
                  <c:v>Ret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783</c:v>
                </c:pt>
                <c:pt idx="1">
                  <c:v>212</c:v>
                </c:pt>
                <c:pt idx="2">
                  <c:v>120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Uygunluk (Okey + Rework) Oranı %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17.06</c:v>
                  </c:pt>
                  <c:pt idx="1">
                    <c:v>21.06</c:v>
                  </c:pt>
                  <c:pt idx="2">
                    <c:v>25.06</c:v>
                  </c:pt>
                  <c:pt idx="3">
                    <c:v>26.06</c:v>
                  </c:pt>
                  <c:pt idx="4">
                    <c:v>27.06</c:v>
                  </c:pt>
                  <c:pt idx="5">
                    <c:v>28.06</c:v>
                  </c:pt>
                  <c:pt idx="6">
                    <c:v>29.06</c:v>
                  </c:pt>
                  <c:pt idx="7">
                    <c:v>30.06</c:v>
                  </c:pt>
                  <c:pt idx="8">
                    <c:v>01.07</c:v>
                  </c:pt>
                  <c:pt idx="9">
                    <c:v>02.07</c:v>
                  </c:pt>
                  <c:pt idx="10">
                    <c:v>04.07</c:v>
                  </c:pt>
                  <c:pt idx="11">
                    <c:v>05.07</c:v>
                  </c:pt>
                  <c:pt idx="12">
                    <c:v>06.07</c:v>
                  </c:pt>
                  <c:pt idx="13">
                    <c:v>07.07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71.4</c:v>
                </c:pt>
                <c:pt idx="1">
                  <c:v>81.8</c:v>
                </c:pt>
                <c:pt idx="2">
                  <c:v>91.2</c:v>
                </c:pt>
                <c:pt idx="3">
                  <c:v>92</c:v>
                </c:pt>
                <c:pt idx="4">
                  <c:v>76</c:v>
                </c:pt>
                <c:pt idx="5">
                  <c:v>50.5</c:v>
                </c:pt>
                <c:pt idx="6">
                  <c:v>93.5</c:v>
                </c:pt>
                <c:pt idx="7">
                  <c:v>93.3</c:v>
                </c:pt>
                <c:pt idx="8">
                  <c:v>87.7</c:v>
                </c:pt>
                <c:pt idx="9">
                  <c:v>94.7</c:v>
                </c:pt>
                <c:pt idx="10">
                  <c:v>95</c:v>
                </c:pt>
                <c:pt idx="11">
                  <c:v>95.3</c:v>
                </c:pt>
                <c:pt idx="12">
                  <c:v>97.1</c:v>
                </c:pt>
                <c:pt idx="13">
                  <c:v>98.1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17.06</c:v>
                  </c:pt>
                  <c:pt idx="1">
                    <c:v>21.06</c:v>
                  </c:pt>
                  <c:pt idx="2">
                    <c:v>25.06</c:v>
                  </c:pt>
                  <c:pt idx="3">
                    <c:v>26.06</c:v>
                  </c:pt>
                  <c:pt idx="4">
                    <c:v>27.06</c:v>
                  </c:pt>
                  <c:pt idx="5">
                    <c:v>28.06</c:v>
                  </c:pt>
                  <c:pt idx="6">
                    <c:v>29.06</c:v>
                  </c:pt>
                  <c:pt idx="7">
                    <c:v>30.06</c:v>
                  </c:pt>
                  <c:pt idx="8">
                    <c:v>01.07</c:v>
                  </c:pt>
                  <c:pt idx="9">
                    <c:v>02.07</c:v>
                  </c:pt>
                  <c:pt idx="10">
                    <c:v>04.07</c:v>
                  </c:pt>
                  <c:pt idx="11">
                    <c:v>05.07</c:v>
                  </c:pt>
                  <c:pt idx="12">
                    <c:v>06.07</c:v>
                  </c:pt>
                  <c:pt idx="13">
                    <c:v>07.07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75.9</c:v>
                </c:pt>
                <c:pt idx="1">
                  <c:v>77.6</c:v>
                </c:pt>
                <c:pt idx="2">
                  <c:v>79.3</c:v>
                </c:pt>
                <c:pt idx="3">
                  <c:v>81</c:v>
                </c:pt>
                <c:pt idx="4">
                  <c:v>82.7</c:v>
                </c:pt>
                <c:pt idx="5">
                  <c:v>84.4</c:v>
                </c:pt>
                <c:pt idx="6">
                  <c:v>86.1</c:v>
                </c:pt>
                <c:pt idx="7">
                  <c:v>87.8</c:v>
                </c:pt>
                <c:pt idx="8">
                  <c:v>89.5</c:v>
                </c:pt>
                <c:pt idx="9">
                  <c:v>91.2</c:v>
                </c:pt>
                <c:pt idx="10">
                  <c:v>93</c:v>
                </c:pt>
                <c:pt idx="11">
                  <c:v>94.7</c:v>
                </c:pt>
                <c:pt idx="12">
                  <c:v>96.4</c:v>
                </c:pt>
                <c:pt idx="13">
                  <c:v>98.1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8590A6"/>
                    </a:solidFill>
                    <a:latin typeface="Arial"/>
                  </a:rPr>
                  <a:t>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Duruş Süresi (dk)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Pres</c:v>
                  </c:pt>
                  <c:pt idx="1">
                    <c:v>N602</c:v>
                  </c:pt>
                  <c:pt idx="2">
                    <c:v>Flowform</c:v>
                  </c:pt>
                  <c:pt idx="3">
                    <c:v>ROB110-111</c:v>
                  </c:pt>
                  <c:pt idx="4">
                    <c:v>ROB108</c:v>
                  </c:pt>
                  <c:pt idx="5">
                    <c:v>ROB104</c:v>
                  </c:pt>
                  <c:pt idx="6">
                    <c:v>Quench</c:v>
                  </c:pt>
                  <c:pt idx="7">
                    <c:v>ROB109</c:v>
                  </c:pt>
                  <c:pt idx="8">
                    <c:v>ETM</c:v>
                  </c:pt>
                  <c:pt idx="9">
                    <c:v>N603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2829</c:v>
                </c:pt>
                <c:pt idx="1">
                  <c:v>2655</c:v>
                </c:pt>
                <c:pt idx="2">
                  <c:v>2519</c:v>
                </c:pt>
                <c:pt idx="3">
                  <c:v>2268</c:v>
                </c:pt>
                <c:pt idx="4">
                  <c:v>2021</c:v>
                </c:pt>
                <c:pt idx="5">
                  <c:v>1804</c:v>
                </c:pt>
                <c:pt idx="6">
                  <c:v>1680</c:v>
                </c:pt>
                <c:pt idx="7">
                  <c:v>1434</c:v>
                </c:pt>
                <c:pt idx="8">
                  <c:v>622</c:v>
                </c:pt>
                <c:pt idx="9">
                  <c:v>559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Olay Sayısı</c:v>
                </c:pt>
              </c:strCache>
            </c:strRef>
          </c:tx>
          <c:spPr>
            <a:solidFill>
              <a:srgbClr val="B45309"/>
            </a:solidFill>
            <a:ln w="2540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Pres</c:v>
                  </c:pt>
                  <c:pt idx="1">
                    <c:v>N602</c:v>
                  </c:pt>
                  <c:pt idx="2">
                    <c:v>Flowform</c:v>
                  </c:pt>
                  <c:pt idx="3">
                    <c:v>ROB110-111</c:v>
                  </c:pt>
                  <c:pt idx="4">
                    <c:v>ROB108</c:v>
                  </c:pt>
                  <c:pt idx="5">
                    <c:v>ROB104</c:v>
                  </c:pt>
                  <c:pt idx="6">
                    <c:v>Quench</c:v>
                  </c:pt>
                  <c:pt idx="7">
                    <c:v>ROB109</c:v>
                  </c:pt>
                  <c:pt idx="8">
                    <c:v>ETM</c:v>
                  </c:pt>
                  <c:pt idx="9">
                    <c:v>N603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86</c:v>
                </c:pt>
                <c:pt idx="1">
                  <c:v>106</c:v>
                </c:pt>
                <c:pt idx="2">
                  <c:v>91</c:v>
                </c:pt>
                <c:pt idx="3">
                  <c:v>80</c:v>
                </c:pt>
                <c:pt idx="4">
                  <c:v>84</c:v>
                </c:pt>
                <c:pt idx="5">
                  <c:v>73</c:v>
                </c:pt>
                <c:pt idx="6">
                  <c:v>6</c:v>
                </c:pt>
                <c:pt idx="7">
                  <c:v>127</c:v>
                </c:pt>
                <c:pt idx="8">
                  <c:v>40</c:v>
                </c:pt>
                <c:pt idx="9">
                  <c:v>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Duruş Süresi (dk)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Olay Sayısı (Adet)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45309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Açık</c:v>
                </c:pt>
                <c:pt idx="1">
                  <c:v>Tamamlandı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69</c:v>
                </c:pt>
                <c:pt idx="1">
                  <c:v>111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4572000" cy="45720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22960" cy="822960"/>
          </a:xfrm>
          <a:prstGeom prst="ellipse">
            <a:avLst/>
          </a:prstGeom>
          <a:solidFill>
            <a:srgbClr val="CADCFC">
              <a:alpha val="9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115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REPKON HF901 · SERİ ÜRETİM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5146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Performans Raporu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822960" y="48920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Üretim Adetleri (Haziran–Temmuz)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110642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Ortalama Üretim Adedi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10424160" y="3529584"/>
            <a:ext cx="109728" cy="10972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Text 4"/>
          <p:cNvSpPr/>
          <p:nvPr/>
        </p:nvSpPr>
        <p:spPr>
          <a:xfrm>
            <a:off x="10607040" y="34747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Nisan–Mayıs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0424160" y="3849624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10607040" y="37947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Haziran–Temmuz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424160" y="4169664"/>
            <a:ext cx="109728" cy="10972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1" name="Text 8"/>
          <p:cNvSpPr/>
          <p:nvPr/>
        </p:nvSpPr>
        <p:spPr>
          <a:xfrm>
            <a:off x="10607040" y="41148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(Günlük 200)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743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377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577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0919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72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06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8867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5209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9601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869680" y="5623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adet/gün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48640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537835" y="1828800"/>
            <a:ext cx="1553337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91172" y="1828800"/>
            <a:ext cx="2510028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73827" y="176479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Shape 23"/>
          <p:cNvSpPr/>
          <p:nvPr/>
        </p:nvSpPr>
        <p:spPr>
          <a:xfrm>
            <a:off x="7027164" y="176479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Shape 24"/>
          <p:cNvSpPr/>
          <p:nvPr/>
        </p:nvSpPr>
        <p:spPr>
          <a:xfrm>
            <a:off x="9537192" y="1764792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8" name="Text 25"/>
          <p:cNvSpPr/>
          <p:nvPr/>
        </p:nvSpPr>
        <p:spPr>
          <a:xfrm>
            <a:off x="5080635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633972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126.8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857304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+56%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888986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+%58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48640" y="20665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ETM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505706" y="2176272"/>
            <a:ext cx="284264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348347" y="2176272"/>
            <a:ext cx="2252853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41698" y="211226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6" name="Shape 33"/>
          <p:cNvSpPr/>
          <p:nvPr/>
        </p:nvSpPr>
        <p:spPr>
          <a:xfrm>
            <a:off x="7284339" y="211226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7" name="Shape 34"/>
          <p:cNvSpPr/>
          <p:nvPr/>
        </p:nvSpPr>
        <p:spPr>
          <a:xfrm>
            <a:off x="9537192" y="2112264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38" name="Text 35"/>
          <p:cNvSpPr/>
          <p:nvPr/>
        </p:nvSpPr>
        <p:spPr>
          <a:xfrm>
            <a:off x="4048506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6891147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134.3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5469827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+161%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8017574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+%49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548640" y="24140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ROB108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4265676" y="2523744"/>
            <a:ext cx="229743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563106" y="2523744"/>
            <a:ext cx="3038094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201668" y="245973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6" name="Shape 43"/>
          <p:cNvSpPr/>
          <p:nvPr/>
        </p:nvSpPr>
        <p:spPr>
          <a:xfrm>
            <a:off x="6499098" y="245973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7" name="Shape 44"/>
          <p:cNvSpPr/>
          <p:nvPr/>
        </p:nvSpPr>
        <p:spPr>
          <a:xfrm>
            <a:off x="9537192" y="2459736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48" name="Text 45"/>
          <p:cNvSpPr/>
          <p:nvPr/>
        </p:nvSpPr>
        <p:spPr>
          <a:xfrm>
            <a:off x="3808476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44.4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6105906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111.4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4957191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7624953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+%80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48640" y="2761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Flowform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4310253" y="2871216"/>
            <a:ext cx="222542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535674" y="2871216"/>
            <a:ext cx="3065526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246245" y="280720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1666" y="280720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7" name="Shape 54"/>
          <p:cNvSpPr/>
          <p:nvPr/>
        </p:nvSpPr>
        <p:spPr>
          <a:xfrm>
            <a:off x="9537192" y="2807208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58" name="Text 55"/>
          <p:cNvSpPr/>
          <p:nvPr/>
        </p:nvSpPr>
        <p:spPr>
          <a:xfrm>
            <a:off x="3853053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45.7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6078474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110.6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4965763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+142%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7611237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+%81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5486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4248531" y="3218688"/>
            <a:ext cx="2132838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381369" y="3218688"/>
            <a:ext cx="3219831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184523" y="3154680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6" name="Shape 63"/>
          <p:cNvSpPr/>
          <p:nvPr/>
        </p:nvSpPr>
        <p:spPr>
          <a:xfrm>
            <a:off x="6317361" y="315468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7" name="Shape 64"/>
          <p:cNvSpPr/>
          <p:nvPr/>
        </p:nvSpPr>
        <p:spPr>
          <a:xfrm>
            <a:off x="9537192" y="3154680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68" name="Text 65"/>
          <p:cNvSpPr/>
          <p:nvPr/>
        </p:nvSpPr>
        <p:spPr>
          <a:xfrm>
            <a:off x="3791331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43.9</a:t>
            </a:r>
            <a:endParaRPr lang="en-US" sz="850" dirty="0"/>
          </a:p>
        </p:txBody>
      </p:sp>
      <p:sp>
        <p:nvSpPr>
          <p:cNvPr id="69" name="Text 66"/>
          <p:cNvSpPr/>
          <p:nvPr/>
        </p:nvSpPr>
        <p:spPr>
          <a:xfrm>
            <a:off x="5924169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106.1</a:t>
            </a:r>
            <a:endParaRPr lang="en-US" sz="850" dirty="0"/>
          </a:p>
        </p:txBody>
      </p:sp>
      <p:sp>
        <p:nvSpPr>
          <p:cNvPr id="70" name="Text 67"/>
          <p:cNvSpPr/>
          <p:nvPr/>
        </p:nvSpPr>
        <p:spPr>
          <a:xfrm>
            <a:off x="4857750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+142%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7534084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+%89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548640" y="34564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N602-603</a:t>
            </a:r>
            <a:endParaRPr lang="en-US" sz="1200" dirty="0"/>
          </a:p>
        </p:txBody>
      </p:sp>
      <p:sp>
        <p:nvSpPr>
          <p:cNvPr id="73" name="Shape 70"/>
          <p:cNvSpPr/>
          <p:nvPr/>
        </p:nvSpPr>
        <p:spPr>
          <a:xfrm>
            <a:off x="4197096" y="3566160"/>
            <a:ext cx="201968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216777" y="3566160"/>
            <a:ext cx="3384423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4133088" y="350215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6" name="Shape 73"/>
          <p:cNvSpPr/>
          <p:nvPr/>
        </p:nvSpPr>
        <p:spPr>
          <a:xfrm>
            <a:off x="6152769" y="350215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7" name="Shape 74"/>
          <p:cNvSpPr/>
          <p:nvPr/>
        </p:nvSpPr>
        <p:spPr>
          <a:xfrm>
            <a:off x="9537192" y="3502152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78" name="Text 75"/>
          <p:cNvSpPr/>
          <p:nvPr/>
        </p:nvSpPr>
        <p:spPr>
          <a:xfrm>
            <a:off x="3739896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42.4</a:t>
            </a:r>
            <a:endParaRPr lang="en-US" sz="850" dirty="0"/>
          </a:p>
        </p:txBody>
      </p:sp>
      <p:sp>
        <p:nvSpPr>
          <p:cNvPr id="79" name="Text 76"/>
          <p:cNvSpPr/>
          <p:nvPr/>
        </p:nvSpPr>
        <p:spPr>
          <a:xfrm>
            <a:off x="5759577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101.3</a:t>
            </a:r>
            <a:endParaRPr lang="en-US" sz="850" dirty="0"/>
          </a:p>
        </p:txBody>
      </p:sp>
      <p:sp>
        <p:nvSpPr>
          <p:cNvPr id="80" name="Text 77"/>
          <p:cNvSpPr/>
          <p:nvPr/>
        </p:nvSpPr>
        <p:spPr>
          <a:xfrm>
            <a:off x="4749737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+139%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7451788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+%97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548640" y="38039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ROB109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4077081" y="3913632"/>
            <a:ext cx="2232279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309360" y="3913632"/>
            <a:ext cx="32918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4013073" y="384962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86" name="Shape 83"/>
          <p:cNvSpPr/>
          <p:nvPr/>
        </p:nvSpPr>
        <p:spPr>
          <a:xfrm>
            <a:off x="6245352" y="384962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7" name="Shape 84"/>
          <p:cNvSpPr/>
          <p:nvPr/>
        </p:nvSpPr>
        <p:spPr>
          <a:xfrm>
            <a:off x="9537192" y="3849624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88" name="Text 85"/>
          <p:cNvSpPr/>
          <p:nvPr/>
        </p:nvSpPr>
        <p:spPr>
          <a:xfrm>
            <a:off x="3619881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38.9</a:t>
            </a:r>
            <a:endParaRPr lang="en-US" sz="850" dirty="0"/>
          </a:p>
        </p:txBody>
      </p:sp>
      <p:sp>
        <p:nvSpPr>
          <p:cNvPr id="89" name="Text 86"/>
          <p:cNvSpPr/>
          <p:nvPr/>
        </p:nvSpPr>
        <p:spPr>
          <a:xfrm>
            <a:off x="5852160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104.0</a:t>
            </a:r>
            <a:endParaRPr lang="en-US" sz="850" dirty="0"/>
          </a:p>
        </p:txBody>
      </p:sp>
      <p:sp>
        <p:nvSpPr>
          <p:cNvPr id="90" name="Text 87"/>
          <p:cNvSpPr/>
          <p:nvPr/>
        </p:nvSpPr>
        <p:spPr>
          <a:xfrm>
            <a:off x="4736021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+167%</a:t>
            </a:r>
            <a:endParaRPr lang="en-US" sz="900" dirty="0"/>
          </a:p>
        </p:txBody>
      </p:sp>
      <p:sp>
        <p:nvSpPr>
          <p:cNvPr id="91" name="Text 88"/>
          <p:cNvSpPr/>
          <p:nvPr/>
        </p:nvSpPr>
        <p:spPr>
          <a:xfrm>
            <a:off x="7498080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+%92</a:t>
            </a:r>
            <a:endParaRPr lang="en-US" sz="900" dirty="0"/>
          </a:p>
        </p:txBody>
      </p:sp>
      <p:sp>
        <p:nvSpPr>
          <p:cNvPr id="92" name="Text 89"/>
          <p:cNvSpPr/>
          <p:nvPr/>
        </p:nvSpPr>
        <p:spPr>
          <a:xfrm>
            <a:off x="548640" y="41513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Quench</a:t>
            </a:r>
            <a:endParaRPr lang="en-US" sz="1200" dirty="0"/>
          </a:p>
        </p:txBody>
      </p:sp>
      <p:sp>
        <p:nvSpPr>
          <p:cNvPr id="93" name="Shape 90"/>
          <p:cNvSpPr/>
          <p:nvPr/>
        </p:nvSpPr>
        <p:spPr>
          <a:xfrm>
            <a:off x="4186809" y="4261104"/>
            <a:ext cx="2074545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261354" y="4261104"/>
            <a:ext cx="3339846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4122801" y="419709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6" name="Shape 93"/>
          <p:cNvSpPr/>
          <p:nvPr/>
        </p:nvSpPr>
        <p:spPr>
          <a:xfrm>
            <a:off x="6197346" y="419709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7" name="Shape 94"/>
          <p:cNvSpPr/>
          <p:nvPr/>
        </p:nvSpPr>
        <p:spPr>
          <a:xfrm>
            <a:off x="9537192" y="4197096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98" name="Text 95"/>
          <p:cNvSpPr/>
          <p:nvPr/>
        </p:nvSpPr>
        <p:spPr>
          <a:xfrm>
            <a:off x="3729609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42.1</a:t>
            </a:r>
            <a:endParaRPr lang="en-US" sz="850" dirty="0"/>
          </a:p>
        </p:txBody>
      </p:sp>
      <p:sp>
        <p:nvSpPr>
          <p:cNvPr id="99" name="Text 96"/>
          <p:cNvSpPr/>
          <p:nvPr/>
        </p:nvSpPr>
        <p:spPr>
          <a:xfrm>
            <a:off x="5804154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102.6</a:t>
            </a:r>
            <a:endParaRPr lang="en-US" sz="850" dirty="0"/>
          </a:p>
        </p:txBody>
      </p:sp>
      <p:sp>
        <p:nvSpPr>
          <p:cNvPr id="100" name="Text 97"/>
          <p:cNvSpPr/>
          <p:nvPr/>
        </p:nvSpPr>
        <p:spPr>
          <a:xfrm>
            <a:off x="4766882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+144%</a:t>
            </a:r>
            <a:endParaRPr lang="en-US" sz="900" dirty="0"/>
          </a:p>
        </p:txBody>
      </p:sp>
      <p:sp>
        <p:nvSpPr>
          <p:cNvPr id="101" name="Text 98"/>
          <p:cNvSpPr/>
          <p:nvPr/>
        </p:nvSpPr>
        <p:spPr>
          <a:xfrm>
            <a:off x="7474077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+%95</a:t>
            </a:r>
            <a:endParaRPr lang="en-US" sz="900" dirty="0"/>
          </a:p>
        </p:txBody>
      </p:sp>
      <p:sp>
        <p:nvSpPr>
          <p:cNvPr id="102" name="Text 99"/>
          <p:cNvSpPr/>
          <p:nvPr/>
        </p:nvSpPr>
        <p:spPr>
          <a:xfrm>
            <a:off x="54864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ROB110-111</a:t>
            </a:r>
            <a:endParaRPr lang="en-US" sz="1200" dirty="0"/>
          </a:p>
        </p:txBody>
      </p:sp>
      <p:sp>
        <p:nvSpPr>
          <p:cNvPr id="103" name="Shape 100"/>
          <p:cNvSpPr/>
          <p:nvPr/>
        </p:nvSpPr>
        <p:spPr>
          <a:xfrm>
            <a:off x="3994785" y="4608576"/>
            <a:ext cx="2342007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6336792" y="4608576"/>
            <a:ext cx="3264408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3930777" y="454456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6272784" y="454456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7" name="Shape 104"/>
          <p:cNvSpPr/>
          <p:nvPr/>
        </p:nvSpPr>
        <p:spPr>
          <a:xfrm>
            <a:off x="9537192" y="4544568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08" name="Text 105"/>
          <p:cNvSpPr/>
          <p:nvPr/>
        </p:nvSpPr>
        <p:spPr>
          <a:xfrm>
            <a:off x="3537585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</a:t>
            </a:r>
            <a:endParaRPr lang="en-US" sz="850" dirty="0"/>
          </a:p>
        </p:txBody>
      </p:sp>
      <p:sp>
        <p:nvSpPr>
          <p:cNvPr id="109" name="Text 106"/>
          <p:cNvSpPr/>
          <p:nvPr/>
        </p:nvSpPr>
        <p:spPr>
          <a:xfrm>
            <a:off x="5879592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104.8</a:t>
            </a:r>
            <a:endParaRPr lang="en-US" sz="850" dirty="0"/>
          </a:p>
        </p:txBody>
      </p:sp>
      <p:sp>
        <p:nvSpPr>
          <p:cNvPr id="110" name="Text 107"/>
          <p:cNvSpPr/>
          <p:nvPr/>
        </p:nvSpPr>
        <p:spPr>
          <a:xfrm>
            <a:off x="4708589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+187%</a:t>
            </a:r>
            <a:endParaRPr lang="en-US" sz="900" dirty="0"/>
          </a:p>
        </p:txBody>
      </p:sp>
      <p:sp>
        <p:nvSpPr>
          <p:cNvPr id="111" name="Text 108"/>
          <p:cNvSpPr/>
          <p:nvPr/>
        </p:nvSpPr>
        <p:spPr>
          <a:xfrm>
            <a:off x="7511796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+%91</a:t>
            </a:r>
            <a:endParaRPr lang="en-US" sz="900" dirty="0"/>
          </a:p>
        </p:txBody>
      </p:sp>
      <p:sp>
        <p:nvSpPr>
          <p:cNvPr id="112" name="Text 10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13" name="Text 1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Azalışı ile Üretim Artışı İlişkisi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5720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TOPLAM KAYIP TRENDİ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Yüksek: 1558 dk  ·  Günlük Ort: 862 dk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30936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ORTALAMA ÜRETİM TRENDİ</a:t>
            </a:r>
            <a:endParaRPr lang="en-US" sz="13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30936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630936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Ort: 130.8  ·  Dönem Ort: 107.6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OEE — Ekipman Etkinliği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 (Ekipman Etkinlik Oranı); kullanılabilirlik (Availability), performans (Performance) ve kalite (Quality) bileşenlerini birleştirerek hattın net verimliliğini ölçer.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07899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Kullanılabilirlik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 ORTALAMASI (Zincirleme)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MTBF ve MTTR — Arıza Bazlı Güvenilirlik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MTBF, ekipmanın iki arıza arasında ortalama ne kadar süre durmaksızın çalıştığını gösteren güvenilirlik metriğidir. MTTR ise meydana gelen bir arızanın giderilmesi için geçen ortalama tamir süresini ifade eder.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377440"/>
                <a:gridCol w="23774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MTBF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MTTR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Arıza Kaydı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1086.8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KALİTE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Ölçüm Sonrası Kalite Durumu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880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1.115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EDİLEN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463040"/>
                <a:gridCol w="91440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Tür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Hata Tanımı / Detayı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Hata Kaynağı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Dış Geçer Taraf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Angle at rear of rotating band relief groove 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Borrelet Çapı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%3.77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Kalınlığı İnce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%2.24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Dip İşlenmemiş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Kalınlığı Dağılımı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Kırılması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Ogive İşlenmemiş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Spinning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Kalınlığı İnce + Dağılımı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 Sebepler (5 başlık)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Çeşitli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Kalite Analizi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KALİTE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Zamana Bağlı Uygunluk (Okey + Rework) Oranı Değişimi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110642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Kalite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(Pareto)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11064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Grafik: Pareto duruş süresi (bar, sol eksen) ve Duruş sıklığı (turuncu çizgi, sağ eksen), ilk 3 neden vurgulu. İlk 3 neden toplam duruş süresinin %44'ini oluşturmaktadır. Veriler 13.06.2026 sonrası seçili hücrelerin kategorize edilmiş duruş verileridir.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 (Sayfa 1/6)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Kalıp Montaj/Demontaj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Hazırlık (IHU rejim, Kalıp Isınma)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 İyileştirme Çalışmaları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Ironing Çıkış Konveyörü Kaynaklı Duruşlar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 düzeltmeler yapılmış sorunlar giderilmiştir.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Hidrolik Yağ Sıcaklığı Alarmı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Oransal Valf Kaynaklı Duruşlar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Oransal valf değişimi yapılarak sorun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WJS Kaynaklı Duruş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WJS emniyet valfi tamir edilmiştir.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Gripper Sensör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Sensör yenisi ile değiştirilmiştir.Sorun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 - Parça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 (Sayfa 2/6)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 İyileştirme Çalışmaları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Değişimi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Değişimi / Kontrolü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Fabrika Elektrik Kesintisi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Talaş Kovaları Boşaltma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Talaş arabaları fence dışarısına alınarak hücrenin durma sorunu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Değişikliği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flowform preform'a uygun program revizyonu yapılmıştır.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 Yağı Eksikliği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 Sigorta atma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Kısa devre yapan elektrik hattı bulunup kablo değiştirilmiştir. Sorun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 Arızaları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 (Sayfa 3/6)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Tırnaklı Değişim/Salgı Kontrolleri/Offset Ayarlama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Lubrication Kaynaklı Sorunlar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Hatalı sensör değişimi/ braket eklenmesi ve dağıtıcı blok değişimi yapılmıştır. Sorunlar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Consumables/Utility Bekleme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 Arızaları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Değişimi / Kontrolü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Utility Eksikliği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Talaş Kovaları Boşaltma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Talaş arabaları fence dışarısına alınarak hücrenin durma sorunu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 Yağı Eksikliği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 (Sayfa 4/6)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 Sigorta atma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Kısa devre yapan elektrik hattı bulunup kablo değiştirilmiştir. Sorun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Otomasyon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Değişikliği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flowform preform'a uygun program revizyonu yapılmıştır.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Değişimi / Kontrolü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Otomasyon Arızası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 Yağı Eksikliği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Hidrolik Yağ Sıcaklığı Alarmı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Çıkış Konveyörü Dolu Olması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 (Sayfa 5/6)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Utility Eksikliği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İndüksiyon Clamp Arızası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 Gripper Sensör yenisi ile değiştirilerek arıza giderilmiştir.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Soğutma Kulesi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Aktüatörlü valf contası kesilmesi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 yenisi ile değiştirilmiştir.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Parçanın fırın çıkışından zamanında alınmaması sebebiyle zincirler zarar görmüşür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Zincirin hasarlı bölümü yenisi ile değiştirilmiştir.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Haberleşme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Ezilen kablo tespit edilerek yenisi ile değiştirilmiştir. Sorun kalıcı olarak giderilmiştir.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 Makinesi Kaynaklı Duruş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Parça yükleme ve kumlama yapamama sorunlar yapılan ayarlar sonrasında giderilmiştir.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 Kaynak Makinesi Kaynaklı Duruş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Kaynak yapmama sorunu çözümü için kart siparişi verildi. Sahaya ulaşması akabinde değişim ve testler yapılacaktır.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Değişimi / Kontrolü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 (Sayfa 6/6)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Shuttle Konveyör Motor Arızası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yenisi ile değiştirilmiş, hata tekrarlanmaması adına shuttle yavaşlama otomasyonu güncellenmiştir.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Consumables/Utility Bekleme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 - Parça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 Time İyileştirme Çalışmaları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Lance 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Talaş Kovaları Boşaltma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Aksiyonlar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37160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7889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MADDE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Tamamlandı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029200" y="5285232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 döneminde tamamlanan madde sayısı sıfırdı; 111 maddenin tamamı Haziran-Temmuz'da kapatıldı.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Çevrim Süreleri (Cycle Time)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34640" y="1463040"/>
          <a:ext cx="6492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30175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Ulaşılmış En İyi Çevrim Süresi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30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15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dk 00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dk 58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30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00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dk 00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00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dk 10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Nihai Hedef (200 Parça/Gün) Kapasite Analizi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0789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828800"/>
                <a:gridCol w="1828800"/>
                <a:gridCol w="210312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Mevcut OEE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Saat Kapasite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Gerekli Hedef**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Gerekli 9s Kapasite*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Kapasite Farkı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-98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302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-166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-129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325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-155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Gerekli 9s Kapasite: Mevcut OEE seviyesiyle gerekli günlük parça hedefini (Gerekli Hedef) yakalayabilmek için hücrenin sahip olması gereken teorik 9 saatlik kapasitedir.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 Gerekli Hedef: En sondaki ROB110-111 hücresinden günlük 200 adet sağlam parça çıkabilmesi için, her hücrenin kendi kalitesine (ıskarta payına) göre üretmesi gereken minimum parça adedidir.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 Hücresi: 2.0 Dk Çevrim Süresi ve Teknik Engeller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4114800" cy="4389120"/>
          </a:xfrm>
          <a:prstGeom prst="roundRect">
            <a:avLst>
              <a:gd name="adj" fmla="val 1778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920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ÇEVRİM SÜRESİ HEDEFİ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2960" y="22860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Mevcut Çevrim Süresi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5603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 dk / parça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22960" y="31089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Test Değeri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3383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 dk / parça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22960" y="3931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Nihai Çalışma Hedefi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22960" y="4206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2.0 dk / parça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822960" y="48463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Üretim kapasitesini artırmak için çevrim süresinin 2.0 dakikaya düşürülmesi hedeflenmektedir.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120640" y="1645920"/>
            <a:ext cx="6492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394960" y="18288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YÜKSEK TONAJ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394960" y="210312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Çevrim süresi 3 dakikadan 2 dakikaya çekildiğinde preslerin aşırı yüksek tonaj (yük) çekmeye başlaması ve sistem kapasite limitlerini zorlaması.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120640" y="3108960"/>
            <a:ext cx="6492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394960" y="329184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HIP PRESİ TİTREŞİM PROBLEMİ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394960" y="356616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Hızlı çevrim çalışmalarında, HIP presinin üst üste 3-4 parça bastıktan sonra titremeye başlaması.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120640" y="4572000"/>
            <a:ext cx="6492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39496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KALIP YAĞLAMA SİSTEMİ YETERSİZLİĞİ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394960" y="502920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Artan hız temposu ile birlikte, mevcut kalıp yağlama (lubrication) çevrim süresi ve miktarının soğutma/yağlama için yetersiz kalması.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 Hücresi: Hız Parametreleri ve Kalıp Ömrü Analizi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34747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18288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 dk / parça Çevrim Hızı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1.200 Adet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73152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Mevcut standart hızda (3.0 dk) HFP dişi kalıbının gözlemlenen ortalama ömrü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3400" y="1645920"/>
            <a:ext cx="34747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526280" y="18288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dk / parça Çevrim Hızı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26280" y="2103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850 Adet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52628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Çevrim süresi 2.5 dakikaya indirildiğinde yapılan test çalışmalarında kalıp ömrü %30 azalarak erken kırılma göstermiştir.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38160" y="1645920"/>
            <a:ext cx="3474720" cy="2560320"/>
          </a:xfrm>
          <a:prstGeom prst="roundRect">
            <a:avLst>
              <a:gd name="adj" fmla="val 2857"/>
            </a:avLst>
          </a:prstGeom>
          <a:solidFill>
            <a:srgbClr val="EEF2FC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321040" y="18288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 dk / parça Çevrim Hızı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321040" y="2103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Kritik Aşınma / Risk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832104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dk testlerindeki dramatik ömür kaybı göz önüne alındığında, 2.0 dk hızında kalıp ömürlerinin daha da düşük seviyelere inme riski gözden geçirilmelidir.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48056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47091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KALIP ÖMÜRLERİNİN İYİLEŞTİRİLMESİ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Kalıp ömürlerinin sadece çalışma hızına (çevrim süresine) bağlanmaksızın; malzeme seçimi, ısıl işlem kalitesi, yüzey kaplamaları ve tasarımsal optimizasyonlar ile kökten ve yüksek oranda artırılması hedeflenmelidir.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Talaşlı İmalat: Darboğaz Analizi (FF Preform, HS preform)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Tornaların işleme çevrim süreleri iyileştirilse dahi, hücre içi besleme robotlarının doluluk oranları (utilization) kritik darboğaz oluşturmaktadır.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 HÜCRESİ (HS PREFORM)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2860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Fiziki Yapı: 2 torna HS Preform, 2 torna FF Preform üretimine ayrılmıştır.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Doluluk Limiti: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2960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%90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291840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Maksimum Hız: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291840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parça / saat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3566160"/>
            <a:ext cx="4800600" cy="1463040"/>
          </a:xfrm>
          <a:prstGeom prst="roundRect">
            <a:avLst>
              <a:gd name="adj" fmla="val 3750"/>
            </a:avLst>
          </a:prstGeom>
          <a:solidFill>
            <a:srgbClr val="141B47"/>
          </a:solidFill>
          <a:ln/>
        </p:spPr>
      </p:sp>
      <p:sp>
        <p:nvSpPr>
          <p:cNvPr id="15" name="Text 12"/>
          <p:cNvSpPr/>
          <p:nvPr/>
        </p:nvSpPr>
        <p:spPr>
          <a:xfrm>
            <a:off x="1005840" y="3703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FİİLİ ÜRETİM KAPASİTESİ (OEE DAHİL)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05840" y="39776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Günlük Limit: 216 adet | Mevcut OEE: %71.3 | Hedef OEE: %80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005840" y="42976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Gerçek Üretilebilir Adet (Hedef OEE ile): 173 adet / gün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1005840" y="46634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 Girdi Hedefi (204 adet) karşılanamıyor </a:t>
            </a:r>
            <a:pPr indent="0" marL="0">
              <a:buNone/>
            </a:pPr>
            <a:r>
              <a:rPr lang="en-US" sz="1000" b="1" i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(Fark: -31 parça).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291072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/>
          <p:nvPr/>
        </p:nvSpPr>
        <p:spPr>
          <a:xfrm>
            <a:off x="6565392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 HÜCRESİ (FF PREFORM)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565392" y="22860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Fiziki Yapı: 4 torna FF Preform üretimine ayrılmıştır.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565392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Doluluk Limiti: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565392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%90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9034272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Maksimum Hız: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9034272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parça / saat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6565392" y="3566160"/>
            <a:ext cx="4800600" cy="1463040"/>
          </a:xfrm>
          <a:prstGeom prst="roundRect">
            <a:avLst>
              <a:gd name="adj" fmla="val 3750"/>
            </a:avLst>
          </a:prstGeom>
          <a:solidFill>
            <a:srgbClr val="141B47"/>
          </a:solidFill>
          <a:ln/>
        </p:spPr>
      </p:sp>
      <p:sp>
        <p:nvSpPr>
          <p:cNvPr id="27" name="Text 24"/>
          <p:cNvSpPr/>
          <p:nvPr/>
        </p:nvSpPr>
        <p:spPr>
          <a:xfrm>
            <a:off x="6748272" y="3703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FİİLİ ÜRETİM KAPASİTESİ (OEE DAHİL)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748272" y="39776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Günlük Limit: 225 adet | Mevcut OEE: %73.7 | Hedef OEE: %80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6748272" y="42976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Gerçek Üretilebilir Adet (Hedef OEE ile): 180 adet / gün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6748272" y="46634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 Girdi Hedefi (205 adet) karşılanamıyor </a:t>
            </a:r>
            <a:pPr indent="0" marL="0">
              <a:buNone/>
            </a:pPr>
            <a:r>
              <a:rPr lang="en-US" sz="1000" b="1" i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(Fark: -25 parça).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Talaşlı İmalat: Flowform Eliminasyonu ve Yeni Akış Yol Haritası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Kapasite darboğazını aşmak için Flowform prosesinin hattan çıkarılması ve iki hücrenin tek bir ürüne odaklanması.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YENİ AKIŞ KAPASİTE ANALİZİ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2860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 hattan çıkarıldığında ROB104 ve ROB108'deki toplam 8 torna sadece HS Preform üretecektir.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97180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Ortak Saatlik Kapasite: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2960" y="3200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 parça / saat (Teorik)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22960" y="37947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Günlük Kapasite (9s):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324 adet (Teorik)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22960" y="4663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Hedef %80 OEE ile Fiili Çıktı: ~259 adet / gün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822960" y="502920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(Mevcut OEE Oranlarıyla Fiili Çıktı: ~235 adet / gün)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2960" y="5349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200 adet sağlam ürün hedefi bu akışla rahatlıkla karşılanmaktadır.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91072" y="178308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565392" y="196596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PRES KALIPLARI VE PROSES DEĞİŞİKLİĞİ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565392" y="22402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Preste üretilecek parçanın yeni geometriye uyum sağlaması için pres kalıp tasarımı ve presleme proses adımlarında modifikasyon yapılması.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91072" y="324612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565392" y="342900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ETM KALIPLARININ REVİZYONU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565392" y="37033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Parça akış hızının ve deformasyonunun kontrolü amacıyla ETM hücresindeki kalıp setlerinin yeni ürün geometrisine göre revize edilmesi.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91072" y="470916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565392" y="489204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TORNA SETUPLARININ DEĞİŞTİRİLMESİ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565392" y="51663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 ve ROB108'deki toplam 8 tornanın tamamının, yeni akış ve işleme koordinatlarına göre programlanıp setup'larının değiştirilmesi.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Talaşlı İmalat: Flowform Eliminasyonu Faydaları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 prosesinin devreden çıkarılması, çevrim süresi kazanımının yanı sıra operasyonel, maddi ve lojistik birçok ek fayda sağlamaktadır.</a:t>
            </a:r>
            <a:endParaRPr lang="en-US" sz="11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3152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Fayda / Gelişim Alanı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Beklenen Etki / Kazanım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 Üretim Hedefi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 preform işleme operasyonu kaldırılarak Hot Spinning preform işleme hücre sayısının artırılması, hat geneli talaşlı imalat optimizasyonunun yapılabilmesi ve Flowform hücresinden alınacak robot ile ROB109 hücresinin robotunun rahatlatılması.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Hammadde Tasarrufu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öncesi kütük kütlesinde doğrudan azalma ve hammadde giriş maliyetlerinde kalıcı düşüş.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Lojistik ve AGV Akışı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Parça taşıma rotalarının sadeleşmesi ve AGV arıza/duruş ihtimalinin azalması.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Operasyonel Sadeleşme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Tırnaklı parça işleme, mandrel değişimi gibi düzenli maliyet kalemlerinin ortadan kalkması.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İş Gücü Optimizasyonu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Çevrim süresi düzeltilemeyen Flowform kaynaklı 2 vardiya personel zorunluluğunun bitmesi.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Kalıp Pastası Tüketimi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Yüksek sarfiyatlı ve maliyetli kalıp pastası kullanımının tamamen sıfırlanması.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Projelere Etki (Pakistan/Hırvatistan)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hat proses akışlarının önceden denenerek proje risklerinin azaltılması.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1206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Süreç Riski (Pres Kalıp Denemeleri): </a:t>
            </a:r>
            <a:pPr indent="0" marL="0">
              <a:buNone/>
            </a:pPr>
            <a:r>
              <a:rPr lang="en-US" sz="9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 hücresindeki yeni geometri kalıp denemeleri nedeniyle geçici aksama/duruş riski mevcuttur.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Talaşlı İmalat: Darboğaz Analizi (After Hot-Spinning)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doluluk oranı en üst limitlere zorlansa dahi, ROB109 hücresi tekil bazda nihai hedefleri karşılamakta yetersiz kalmaktadır.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 AFTER HOT SPINNING HÜCRESİ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286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Fiziki Yapı: Hücre içerisinde 2 adet torna bulunmakta ve parça yükleme robotla yapılmaktadır.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Doluluk Oranı: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2960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%90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291840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Maksimum Hız: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291840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parça / saat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3566160"/>
            <a:ext cx="4800600" cy="1463040"/>
          </a:xfrm>
          <a:prstGeom prst="roundRect">
            <a:avLst>
              <a:gd name="adj" fmla="val 3750"/>
            </a:avLst>
          </a:prstGeom>
          <a:solidFill>
            <a:srgbClr val="141B47"/>
          </a:solidFill>
          <a:ln/>
        </p:spPr>
      </p:sp>
      <p:sp>
        <p:nvSpPr>
          <p:cNvPr id="15" name="Text 12"/>
          <p:cNvSpPr/>
          <p:nvPr/>
        </p:nvSpPr>
        <p:spPr>
          <a:xfrm>
            <a:off x="1005840" y="3703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FİİLİ ÜRETİM KAPASİTESİ (OEE DAHİL)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05840" y="39776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Günlük Limit: 216 adet | Mevcut OEE: %65.6 | Hedef OEE: %80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005840" y="42976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Gerçek Üretilebilir Adet (Hedef OEE ile): 173 adet / gün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1005840" y="46634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 Girdi Hedefi (203 adet) karşılanamıyor </a:t>
            </a:r>
            <a:pPr indent="0" marL="0">
              <a:buNone/>
            </a:pPr>
            <a:r>
              <a:rPr lang="en-US" sz="1000" b="1" i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(Fark: -30 parça).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291072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/>
          <p:nvPr/>
        </p:nvSpPr>
        <p:spPr>
          <a:xfrm>
            <a:off x="6565392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KAPASİTE ARTIŞ AKSİYONLARI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65392" y="2331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 İşleme Yükünün Azaltılması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6565392" y="2788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 torna çevrim süresini düşürmek amacıyla talaşlı imalat iş yükü yeni planlamadaki 8 tornaya (ROB104/108) paylaştırılacaktır.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565392" y="3566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Robot Yükünün Hafifletilmesi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6565392" y="40233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Robotun operasyon sayısını azaltmak için konveyöre mekanik yükleme sistemi kurulmalı veya boşa çıkan Flowform robotu buraya kaydırılmalıdır.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Isıl İşlem: Quench Hücresi Darboğazı ve Robot Optimizasyonu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Fırınların kapasitesi daha yüksek olmasına rağmen, hücre ortasındaki transfer robotunun çevrim süresi tüm hücre performansını sınırlamaktadır.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 AKIŞI VE MEVCUT DARBOĞAZ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233172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Fırın Giriş Tasarım Hızı: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2560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2.0 dk / parça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22960" y="315468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Aktarma Döngüsü (Mevcut Darboğaz):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22960" y="3383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 dk / parça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822960" y="406908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Zorunlu Çevrim Limiti (Sistemik Etki):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 dk / parça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22960" y="48006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hızı sebebiyle öncesi ve sonrasındaki fırınlar da yavaş çalışmaktadır.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91072" y="178308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565392" y="196596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ROBOT HAREKET VE PROGRAMLAMA OPTİMİZASYONU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565392" y="22402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Ortadaki transfer robotunun yörünge, hızlanma limitleri ve parça yakalama/bırakma noktaları optimize edilerek aktarma döngüsü 2.0 dakikaya indirilmelidir.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91072" y="324612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65392" y="342900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FIRINLARIN SENKRONİZASYONU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565392" y="37033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çevriminin 2.0 dakikaya çekilmesiyle birlikte, giriş ve çıkış fırınları da kendi tasarım hızları olan 2.0 dk tempo ile senkronize çalışabilecektir.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91072" y="470916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565392" y="489204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KAPASİTE KAZANIM TABLOSU (TEORİK LİMİT)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565392" y="51663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Mevcut Kapasite (2.5 dk): 24 parça/saat  |  216 parça/gün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Hedef Kapasite (2.0 dk): 30 parça/saat  |  270 parça/gün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Kapasite Artış Potansiyeli: +%25 Net Kapasite Kazanımı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Talaşlı İmalat: Darboğaz Analizi (Final Hücre)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hücrede ROB110 robotunun yüksek doluluğu ve ROB111'deki punta kaynak makinesinin çevrim süresi tüm hattın çıktı hızını sınırlandırmaktadır.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 FİNAL HÜCRESİ MEVCUT DURUM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286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Fiziki Yapı: ROB110 (1 robot, 3 torna) ve ROB111 (1 robot, Rotating Band, 2 torna, Punta Kaynak) hücrelerinden oluşur.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 Robot Doluluk: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2960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%97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291840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Maksimum Hız: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291840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parça / saat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3566160"/>
            <a:ext cx="4800600" cy="1463040"/>
          </a:xfrm>
          <a:prstGeom prst="roundRect">
            <a:avLst>
              <a:gd name="adj" fmla="val 3750"/>
            </a:avLst>
          </a:prstGeom>
          <a:solidFill>
            <a:srgbClr val="141B47"/>
          </a:solidFill>
          <a:ln/>
        </p:spPr>
      </p:sp>
      <p:sp>
        <p:nvSpPr>
          <p:cNvPr id="15" name="Text 12"/>
          <p:cNvSpPr/>
          <p:nvPr/>
        </p:nvSpPr>
        <p:spPr>
          <a:xfrm>
            <a:off x="1005840" y="3703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FİİLİ ÜRETİM KAPASİTESİ (OEE DAHİL)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05840" y="39776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Günlük Limit: 198 adet | Mevcut OEE: %61.9 | Hedef OEE: %80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005840" y="42976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Gerçek Üretilebilir Adet (Hedef OEE ile): 158 adet / gün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1005840" y="46634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 Girdi Hedefi (201 adet) karşılanamıyor </a:t>
            </a:r>
            <a:pPr indent="0" marL="0">
              <a:buNone/>
            </a:pPr>
            <a:r>
              <a:rPr lang="en-US" sz="1000" b="1" i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(Fark: -43 parça).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291072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/>
          <p:nvPr/>
        </p:nvSpPr>
        <p:spPr>
          <a:xfrm>
            <a:off x="6565392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ROB111 PUNTA KAYNAK MEVCUT DURUM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565392" y="2286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Fiziki Yapı: ROB111 (1 robot, Rotating Band, 2 torna, Punta Kaynak) hücresinden oluşur.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565392" y="278892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 Kaynak Hızı: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565392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parça / saat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6565392" y="3566160"/>
            <a:ext cx="4800600" cy="1463040"/>
          </a:xfrm>
          <a:prstGeom prst="roundRect">
            <a:avLst>
              <a:gd name="adj" fmla="val 3750"/>
            </a:avLst>
          </a:prstGeom>
          <a:solidFill>
            <a:srgbClr val="141B47"/>
          </a:solidFill>
          <a:ln/>
        </p:spPr>
      </p:sp>
      <p:sp>
        <p:nvSpPr>
          <p:cNvPr id="25" name="Text 22"/>
          <p:cNvSpPr/>
          <p:nvPr/>
        </p:nvSpPr>
        <p:spPr>
          <a:xfrm>
            <a:off x="6748272" y="3703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FİİLİ ÜRETİM KAPASİTESİ (OEE DAHİL)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6748272" y="39776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Günlük Limit: 225 adet | Mevcut OEE: %61.9 | Hedef OEE: %80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6748272" y="42976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Gerçek Üretilebilir Adet (Hedef OEE ile): 180 adet / gün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6748272" y="46634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 Girdi Hedefi (201 adet) karşılanamıyor </a:t>
            </a:r>
            <a:pPr indent="0" marL="0">
              <a:buNone/>
            </a:pPr>
            <a:r>
              <a:rPr lang="en-US" sz="1000" b="1" i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(Fark: -21 parça).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Talaşlı İmalat: ROB110 &amp; Torna-1 Optimizasyon Planı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 robotunun doluluk oranını düşürmek için Torna-1 hücresinin hattan ayrılması ve bağımsız hücre haline getirilmesi.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YENİ AKIŞ VE ROBOT DOLULUK ANALİZİ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2860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Torna-1'in ayrılmasıyla birlikte ROB110 robotunun torna yükleme/boşaltma ve transfer çevrim süreleri hafifleyecektir.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97180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Mevcut Robot Doluluk Oranı: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2960" y="3200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%97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22960" y="37947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Robot Doluluk Oranı (Simüle):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&lt;%60 (Güvenli Alan)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22960" y="46634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 robotunun torna besleme iş yükünün %40'ı yeni hücreye transfer edilmektedir.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291072" y="178308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65392" y="196596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TORNA-1'İN AYRILMASI VE TAŞINMASI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565392" y="22402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Torna-1 makinesi ROB110 hücresinden fiziksel olarak ayrılacak ve giriş tarafındaki iç kumlama makinesinin yanına taşınacaktır.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91072" y="324612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565392" y="342900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SWAGING ROBOTUNUN YENİ HÜCREYE KURULMASI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565392" y="37033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Fabrika içerisindeki Swaging makinesinde yer alan robot sökülerek Kumlama + Torna-1 ikilisinden oluşan yeni hücrenin parça yükleme/boşaltması için kurulacaktır.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291072" y="470916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565392" y="489204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ROB110 HÜCRE GİRİŞ AKIŞININ DÜZENLENMENİ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565392" y="51663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kurulan kumlama/torna hücresinden çıkan önceden işlenmiş parçalar, doğrudan ROB110 hücresine (Torna 2-3 besleme) aktarılacaktır.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Talaşlı İmalat: ROB111 &amp; Punta Kaynak Optimizasyon Planı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 Kaynak makinesinin hattan ayrılıp HTU hücresine taşınması, 45 adetlik buffer alanı yönetimi ve vardiya sonu 2 saatlik ek çalışma.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BUFFER YÖNETİMİ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2860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 Kaynak makinesinin yavaşlığı hat temposunu düşürdüğü için, biriktirme ve ek mesai ile eritme stratejisi uygulanacaktır.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97180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HTU Hücresi Buffer Kapasitesi: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2960" y="3200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adet parça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22960" y="37947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HTU Punta Kaynak Ek Mesai Süresi: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 saat / gün (Vardiya Sonu)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22960" y="46634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 boyu biriken 21 parça, otomasyon akışı bozulmadan vardiya bitiminde eritilecektir.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291072" y="178308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65392" y="196596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PUNTA KAYNAK MAKİNESİNİN HTU'YA TAŞINMASI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565392" y="22402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 Kaynak makinesi ROB111 hücresinden ayrılarak HTU hücresine kurulacaktır. ROB111 robotu rotatig band shrinker ve 2 adet torna beslemesine odaklanacaktır.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91072" y="324612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565392" y="342900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HTU HÜCRE ROBOTU İLE ENTEGRASYON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565392" y="37033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Taşınan Punta Kaynak makinesinin yükleme-boşaltma işlemleri, HTU hücresinde hali hazırda bulunan robot tarafından otomatik olarak gerçekleştirilecektir.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291072" y="470916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565392" y="489204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EK MESAİ VE OTOMASYON AKIŞI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565392" y="51663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 içinde oluşan 21 parçalık buffer, vardiya sonundaki 2 saatlik ek çalışma süresinde punta kaynak işlemi yapılarak eritilecek ve günlük 201 adet hedefine ulaşılacaktır.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NCMS Tarafından Yapılacaklar</a:t>
            </a:r>
            <a:endParaRPr lang="en-US" sz="2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5349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8006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 Maddesi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eşanjörünün temizlenmesi.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Çalışmayan Doosan tezgahlarının tamir edilmesi ve genel Doosan bakım planlamasının yapılması.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Fabrika için uygun ortam sıcaklığının sağlanması.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Sarf malzemelerinin tedarik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Yedek parça ihtiyaçlarının tedarik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Soğutma kulesi pompa verimliliğinin incelenmesi ve iyileştirilmesi.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 (sandblasting) makinesinin bakımı için AİME'nin çağrılması.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Personel sayısının artırılması ve koordinasyonun güçlendirilmesi.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Bakım yönetiminin organize edilmesi, gerekli ekipman ve personel desteğinin sağlanması.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072" y="1463040"/>
          <a:ext cx="5349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7091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 Maddesi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 madde, çember (band) ve taban kapağı (base cover) tedariki.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CNC takımlarının tedarik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Talaş kovalarının yedeklenmesi ve organize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pres basınç filtrelerinin sipariş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quench zincirinin tedarik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Kalıp revizyonları için bir kalıphane kurulması (veya alternatif bir çözüm üretilmesi).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 ölçüm ekipmanlarındaki eksikliklerin giderilmesi.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Bitmiş parçalar için palet tedarik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NCMS KADRO ÖNERİSİ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Bölüm Bazlı NCMS Kadro Önerisi</a:t>
            </a:r>
            <a:endParaRPr lang="en-US" sz="2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85800"/>
                <a:gridCol w="685800"/>
                <a:gridCol w="685800"/>
                <a:gridCol w="6858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Bölüm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Vardiya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Vardiya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Vardiya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İndüksiyon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Yanı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Tav Fırını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Taşıma / Lojistik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F420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137160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85800"/>
                <a:gridCol w="685800"/>
                <a:gridCol w="685800"/>
                <a:gridCol w="6858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Bölüm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Vardiya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Vardiya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Vardiya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SBU110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PHO101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WPL103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Bakım Ekibi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Spider Operatörler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NCMS Kadro Önerisi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NCMS KADRO ÖNERİSİ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NCMS Kadro Dağılımının Fabrika Yerleşimi Üzerindeki Görünümü</a:t>
            </a:r>
            <a:endParaRPr lang="en-US" sz="2600" dirty="0"/>
          </a:p>
        </p:txBody>
      </p:sp>
      <p:pic>
        <p:nvPicPr>
          <p:cNvPr id="6" name="Image 1" descr="C:\Users\tvural.REPKON\Desktop\HF901\Serial Production\ManufUI\docs\sunumlar\build\headcount_layo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280160"/>
            <a:ext cx="10515600" cy="491947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NCMS Kadro Önerisi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KİCKOFF &amp; ZAMAN PLANI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Yol Haritası ve Zaman Planı (4000 Adet Üretim Hedefi)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Hedeflenen 4000 parça üretimi için hazırlık, sahaya gidiş ve seri üretim aşamalarını içeren zaman çizelgesi.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3657600"/>
            <a:ext cx="11064240" cy="0"/>
          </a:xfrm>
          <a:prstGeom prst="line">
            <a:avLst/>
          </a:prstGeom>
          <a:noFill/>
          <a:ln w="38100">
            <a:solidFill>
              <a:srgbClr val="D8DE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1783080"/>
            <a:ext cx="3474720" cy="38862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196596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1: HAZIRLIK DÖNEMİ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31520" y="22402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Bugün – 5 Ekim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" y="265176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Kritik Hazırlık Maddeleri: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Sarf malzemeleri ve kritik yedek parçaların şimdiden sipariş edilmesi (filtreler, quench zinciri vb.).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NCMS tarafında 43 kişilik kadro organizasyonunun ve onaylarının tamamlanması.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Kalıphane kurulumu/revizyon planının netleştirilmesi.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Haftalık ilerleme takip toplantılarının yapılması ve ekiplere görevler atanıp izlenmesi.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357116" y="1783080"/>
            <a:ext cx="3474720" cy="38862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539996" y="196596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2: ÖN HAZIRLIK &amp; SAHA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39996" y="22402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Ekim – 15 Ekim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539996" y="265176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Günlük Saha Hazırlığı: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Ekiplerin sahaya mobilizasyonu ve görev dağılımının yapılması.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Pres eşanjör temizliği ve soğutma kuleleri bakımlarının yapılması.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Doosan tezgahlarının bakımı ve test üretimleri ile hattın ısındırılması.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Personelin saha ve hat oryantasyon süreçlerinin tamamlanması.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165592" y="1783080"/>
            <a:ext cx="3474720" cy="38862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348472" y="196596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3: SERİ ÜRETİM FAZI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348472" y="22402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Ekim – 15 Kasım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348472" y="265176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Günlük Seri Üretim: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vardiyalı tam kapasite çalışma düzenine geçilmesi.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Anlık OEE takibi ve duruşlara hızlı bakım müdahaleleri.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Kalite kontrol sıklığının artırılması ve fire oranlarının takibi.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Günlük üretim adetlerinin ve hedeflerin yakından izlenmesi.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&amp; Zaman Planı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KİCKOFF &amp; ZAMAN PLANI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Kickoff Toplantısı ve Proje Takip Yapısı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Hazırlık döneminden seri üretim sonuna kadar uygulanacak olan koordinasyon ve takip yapısı.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196596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HAFTALIK TAKİP TOPLANTILARI VE KOORDİNASYON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228600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Kickoff Toplantısı: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Repkon ve NCMS ekiplerinin katılımıyla hedeflerin resmi kickoff toplantısı ile paylaşılması.
</a:t>
            </a:r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Haftalık Hazırlık Toplantıları: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5 Ekim'e kadar her hafta düzenli durum değerlendirme toplantısı yapılması. Kritik tedarik süreçleri ve kadro aşamaları gözden geçirilecektir.
</a:t>
            </a:r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Görev ve Sorumluluk Atamaları: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Her aksiyon maddesinin bir sorumluya atanması ve ManufUI üzerindeki Aksiyon Takip modülünden ilerlemenin anlık olarak izlenmesi.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91072" y="1783080"/>
            <a:ext cx="5349240" cy="3886200"/>
          </a:xfrm>
          <a:prstGeom prst="roundRect">
            <a:avLst>
              <a:gd name="adj" fmla="val 1882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565392" y="196596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KRİTİK BAŞARI FAKTÖRLERİ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565392" y="228600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Şimdiden Sipariş Edilmesi Gerekenler: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 filtreleri, quench zinciri, soğutma kulesi yedekleri gibi uzun tedarik süreli kritik malzemelerin siparişlerinin şimdiden geçilmesi.
</a:t>
            </a:r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NCMS Kadro Netliği: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kişilik önerilen kadro planının NCMS yönetimiyle şimdiden mutabakata varılarak netleştirilmesi ve onay süreçlerinin yürütülmesi.
</a:t>
            </a:r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Aksiyonların Zamanında Kapatılması: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Hazırlık dönemindeki tüm Repkon ve NCMS aksiyonlarının 5 Ekim'e kadar eksiksiz kapatılması seri üretim başarısı için kritik öneme sahiptir.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&amp; Zaman Planı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Repkon HF901 Seri Üretim — Performans Raporu ve Aksiyon Talebi</dc:title>
  <dc:subject>PptxGenJS Presentation</dc:subject>
  <dc:creator>Repkon HF901</dc:creator>
  <cp:lastModifiedBy>Repkon HF901</cp:lastModifiedBy>
  <cp:revision>1</cp:revision>
  <dcterms:created xsi:type="dcterms:W3CDTF">2026-07-21T11:58:46Z</dcterms:created>
  <dcterms:modified xsi:type="dcterms:W3CDTF">2026-07-21T11:58:46Z</dcterms:modified>
</cp:coreProperties>
</file>